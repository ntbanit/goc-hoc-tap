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4" r:id="rId3"/>
    <p:sldId id="309" r:id="rId5"/>
    <p:sldId id="338" r:id="rId6"/>
    <p:sldId id="265" r:id="rId7"/>
    <p:sldId id="297" r:id="rId8"/>
    <p:sldId id="266" r:id="rId9"/>
    <p:sldId id="298" r:id="rId10"/>
    <p:sldId id="296" r:id="rId11"/>
    <p:sldId id="257" r:id="rId12"/>
    <p:sldId id="258" r:id="rId13"/>
    <p:sldId id="314" r:id="rId14"/>
    <p:sldId id="269" r:id="rId15"/>
    <p:sldId id="310" r:id="rId16"/>
    <p:sldId id="267" r:id="rId17"/>
    <p:sldId id="282" r:id="rId18"/>
    <p:sldId id="316" r:id="rId19"/>
    <p:sldId id="317" r:id="rId20"/>
    <p:sldId id="318" r:id="rId21"/>
    <p:sldId id="319" r:id="rId22"/>
    <p:sldId id="280" r:id="rId23"/>
    <p:sldId id="289" r:id="rId24"/>
    <p:sldId id="329" r:id="rId25"/>
    <p:sldId id="279" r:id="rId26"/>
    <p:sldId id="259" r:id="rId27"/>
    <p:sldId id="320" r:id="rId28"/>
    <p:sldId id="260" r:id="rId29"/>
    <p:sldId id="283" r:id="rId30"/>
    <p:sldId id="302" r:id="rId31"/>
    <p:sldId id="322" r:id="rId32"/>
    <p:sldId id="323" r:id="rId33"/>
    <p:sldId id="328" r:id="rId34"/>
    <p:sldId id="325" r:id="rId35"/>
    <p:sldId id="326" r:id="rId36"/>
    <p:sldId id="315" r:id="rId37"/>
    <p:sldId id="327" r:id="rId38"/>
    <p:sldId id="299" r:id="rId39"/>
    <p:sldId id="311" r:id="rId40"/>
    <p:sldId id="312" r:id="rId41"/>
    <p:sldId id="321" r:id="rId42"/>
    <p:sldId id="324" r:id="rId43"/>
    <p:sldId id="281" r:id="rId44"/>
    <p:sldId id="300" r:id="rId45"/>
    <p:sldId id="272" r:id="rId46"/>
    <p:sldId id="301" r:id="rId47"/>
    <p:sldId id="330" r:id="rId48"/>
    <p:sldId id="331" r:id="rId49"/>
    <p:sldId id="332" r:id="rId50"/>
    <p:sldId id="333" r:id="rId51"/>
    <p:sldId id="335" r:id="rId52"/>
    <p:sldId id="334" r:id="rId53"/>
    <p:sldId id="336" r:id="rId54"/>
    <p:sldId id="337" r:id="rId55"/>
    <p:sldId id="363" r:id="rId56"/>
    <p:sldId id="364" r:id="rId57"/>
    <p:sldId id="365" r:id="rId58"/>
    <p:sldId id="354" r:id="rId59"/>
    <p:sldId id="355" r:id="rId60"/>
    <p:sldId id="356" r:id="rId61"/>
    <p:sldId id="357" r:id="rId62"/>
    <p:sldId id="305" r:id="rId63"/>
    <p:sldId id="290" r:id="rId64"/>
    <p:sldId id="340" r:id="rId65"/>
    <p:sldId id="341" r:id="rId66"/>
    <p:sldId id="342" r:id="rId67"/>
    <p:sldId id="344" r:id="rId68"/>
    <p:sldId id="343" r:id="rId69"/>
    <p:sldId id="349" r:id="rId70"/>
    <p:sldId id="291" r:id="rId71"/>
    <p:sldId id="358" r:id="rId72"/>
    <p:sldId id="307" r:id="rId73"/>
    <p:sldId id="306" r:id="rId74"/>
    <p:sldId id="360" r:id="rId75"/>
    <p:sldId id="303" r:id="rId76"/>
    <p:sldId id="350" r:id="rId77"/>
    <p:sldId id="351" r:id="rId78"/>
    <p:sldId id="352" r:id="rId79"/>
    <p:sldId id="353" r:id="rId80"/>
    <p:sldId id="304" r:id="rId81"/>
    <p:sldId id="295" r:id="rId82"/>
    <p:sldId id="294" r:id="rId83"/>
    <p:sldId id="293" r:id="rId84"/>
    <p:sldId id="359" r:id="rId85"/>
    <p:sldId id="308" r:id="rId86"/>
    <p:sldId id="361" r:id="rId8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eader" id="{39E9597D-6AEF-47D8-AF58-67FBCC787EC5}">
          <p14:sldIdLst>
            <p14:sldId id="264"/>
            <p14:sldId id="309"/>
          </p14:sldIdLst>
        </p14:section>
        <p14:section name="#1: Introduction" id="{488F0864-3CC6-4D2C-B680-F9FE6ABCB403}">
          <p14:sldIdLst>
            <p14:sldId id="338"/>
            <p14:sldId id="265"/>
            <p14:sldId id="297"/>
            <p14:sldId id="266"/>
            <p14:sldId id="298"/>
          </p14:sldIdLst>
        </p14:section>
        <p14:section name="#2: CPU Scheduling" id="{43DF0C68-9695-41AB-BBEE-732F2396B5CB}">
          <p14:sldIdLst>
            <p14:sldId id="296"/>
            <p14:sldId id="257"/>
            <p14:sldId id="258"/>
            <p14:sldId id="314"/>
            <p14:sldId id="269"/>
            <p14:sldId id="310"/>
            <p14:sldId id="267"/>
            <p14:sldId id="282"/>
            <p14:sldId id="316"/>
            <p14:sldId id="317"/>
            <p14:sldId id="318"/>
            <p14:sldId id="319"/>
            <p14:sldId id="280"/>
            <p14:sldId id="289"/>
            <p14:sldId id="329"/>
            <p14:sldId id="279"/>
            <p14:sldId id="259"/>
            <p14:sldId id="320"/>
            <p14:sldId id="260"/>
            <p14:sldId id="283"/>
            <p14:sldId id="302"/>
            <p14:sldId id="322"/>
            <p14:sldId id="323"/>
            <p14:sldId id="328"/>
            <p14:sldId id="325"/>
            <p14:sldId id="326"/>
            <p14:sldId id="315"/>
            <p14:sldId id="327"/>
          </p14:sldIdLst>
        </p14:section>
        <p14:section name="#3: Memory Management" id="{1881D19B-0475-486E-B6D4-9F8EBC2172ED}">
          <p14:sldIdLst>
            <p14:sldId id="299"/>
            <p14:sldId id="311"/>
            <p14:sldId id="312"/>
            <p14:sldId id="321"/>
            <p14:sldId id="324"/>
            <p14:sldId id="281"/>
            <p14:sldId id="300"/>
            <p14:sldId id="272"/>
            <p14:sldId id="301"/>
            <p14:sldId id="330"/>
            <p14:sldId id="331"/>
          </p14:sldIdLst>
        </p14:section>
        <p14:section name="#4: File System" id="{FFF2F9B3-8B46-4553-92D3-1463C175D2B0}">
          <p14:sldIdLst>
            <p14:sldId id="332"/>
            <p14:sldId id="333"/>
            <p14:sldId id="335"/>
            <p14:sldId id="334"/>
            <p14:sldId id="336"/>
            <p14:sldId id="337"/>
            <p14:sldId id="363"/>
            <p14:sldId id="364"/>
            <p14:sldId id="365"/>
            <p14:sldId id="354"/>
            <p14:sldId id="355"/>
            <p14:sldId id="356"/>
            <p14:sldId id="357"/>
          </p14:sldIdLst>
        </p14:section>
        <p14:section name="#5: Socket &amp; Networking" id="{41176E63-BACC-4FC8-9587-190680F79C46}">
          <p14:sldIdLst>
            <p14:sldId id="305"/>
            <p14:sldId id="290"/>
            <p14:sldId id="340"/>
            <p14:sldId id="341"/>
            <p14:sldId id="342"/>
          </p14:sldIdLst>
        </p14:section>
        <p14:section name="#6: Environment Configuration" id="{0BFF0753-523B-4FDE-8A85-67063AC570A2}">
          <p14:sldIdLst>
            <p14:sldId id="344"/>
            <p14:sldId id="343"/>
            <p14:sldId id="349"/>
            <p14:sldId id="291"/>
            <p14:sldId id="358"/>
          </p14:sldIdLst>
        </p14:section>
        <p14:section name="#7: Practical Examples" id="{8CDD333E-D132-48DE-BE16-072595C86F34}">
          <p14:sldIdLst>
            <p14:sldId id="307"/>
            <p14:sldId id="306"/>
            <p14:sldId id="360"/>
            <p14:sldId id="303"/>
            <p14:sldId id="350"/>
            <p14:sldId id="351"/>
            <p14:sldId id="352"/>
            <p14:sldId id="353"/>
            <p14:sldId id="304"/>
            <p14:sldId id="295"/>
            <p14:sldId id="294"/>
            <p14:sldId id="293"/>
          </p14:sldIdLst>
        </p14:section>
        <p14:section name="Summary" id="{BE4D50D5-0BAA-42AB-B951-0420FD7C8EE7}">
          <p14:sldIdLst>
            <p14:sldId id="359"/>
            <p14:sldId id="308"/>
            <p14:sldId id="361"/>
          </p14:sldIdLst>
        </p14:section>
      </p14:sectionLst>
    </p:ex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175" autoAdjust="0"/>
    <p:restoredTop sz="94660"/>
  </p:normalViewPr>
  <p:slideViewPr>
    <p:cSldViewPr snapToGrid="0" snapToObjects="1" showGuides="1">
      <p:cViewPr varScale="1">
        <p:scale>
          <a:sx n="96" d="100"/>
          <a:sy n="96" d="100"/>
        </p:scale>
        <p:origin x="132" y="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0" Type="http://schemas.openxmlformats.org/officeDocument/2006/relationships/tableStyles" Target="tableStyles.xml"/><Relationship Id="rId9" Type="http://schemas.openxmlformats.org/officeDocument/2006/relationships/slide" Target="slides/slide6.xml"/><Relationship Id="rId89" Type="http://schemas.openxmlformats.org/officeDocument/2006/relationships/viewProps" Target="viewProps.xml"/><Relationship Id="rId88" Type="http://schemas.openxmlformats.org/officeDocument/2006/relationships/presProps" Target="presProps.xml"/><Relationship Id="rId87" Type="http://schemas.openxmlformats.org/officeDocument/2006/relationships/slide" Target="slides/slide84.xml"/><Relationship Id="rId86" Type="http://schemas.openxmlformats.org/officeDocument/2006/relationships/slide" Target="slides/slide83.xml"/><Relationship Id="rId85" Type="http://schemas.openxmlformats.org/officeDocument/2006/relationships/slide" Target="slides/slide82.xml"/><Relationship Id="rId84" Type="http://schemas.openxmlformats.org/officeDocument/2006/relationships/slide" Target="slides/slide81.xml"/><Relationship Id="rId83" Type="http://schemas.openxmlformats.org/officeDocument/2006/relationships/slide" Target="slides/slide80.xml"/><Relationship Id="rId82" Type="http://schemas.openxmlformats.org/officeDocument/2006/relationships/slide" Target="slides/slide79.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5.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FD5BE57B-C423-4981-8E2D-C2D55B26181D}" type="doc">
      <dgm:prSet loTypeId="urn:microsoft.com/office/officeart/2005/8/layout/hChevron3" loCatId="process" qsTypeId="urn:microsoft.com/office/officeart/2005/8/quickstyle/simple1" qsCatId="simple" csTypeId="urn:microsoft.com/office/officeart/2005/8/colors/colorful1" csCatId="colorful"/>
      <dgm:spPr/>
      <dgm:t>
        <a:bodyPr/>
        <a:lstStyle/>
        <a:p>
          <a:endParaRPr lang="en-US"/>
        </a:p>
      </dgm:t>
    </dgm:pt>
    <dgm:pt modelId="{9EA52586-E9FC-4E5F-AB13-E4A7D62D578B}">
      <dgm:prSet custT="1"/>
      <dgm:spPr/>
      <dgm:t>
        <a:bodyPr/>
        <a:lstStyle/>
        <a:p>
          <a:r>
            <a:rPr lang="en-US" sz="2000" b="1" dirty="0">
              <a:latin typeface="Urbanist" panose="020B0A04040200000203" pitchFamily="34" charset="0"/>
              <a:ea typeface="Urbanist" panose="020B0A04040200000203" pitchFamily="34" charset="0"/>
              <a:cs typeface="Urbanist" panose="020B0A04040200000203" pitchFamily="34" charset="0"/>
            </a:rPr>
            <a:t>Mutual Exclusion: </a:t>
          </a:r>
          <a:r>
            <a:rPr lang="en-US" sz="1700" dirty="0">
              <a:latin typeface="Urbanist" panose="020B0A04040200000203" pitchFamily="34" charset="0"/>
              <a:ea typeface="Urbanist" panose="020B0A04040200000203" pitchFamily="34" charset="0"/>
              <a:cs typeface="Urbanist" panose="020B0A04040200000203" pitchFamily="34" charset="0"/>
            </a:rPr>
            <a:t/>
          </a:r>
          <a:br>
            <a:rPr lang="en-US" sz="1700" dirty="0">
              <a:latin typeface="Urbanist" panose="020B0A04040200000203" pitchFamily="34" charset="0"/>
              <a:ea typeface="Urbanist" panose="020B0A04040200000203" pitchFamily="34" charset="0"/>
              <a:cs typeface="Urbanist" panose="020B0A04040200000203" pitchFamily="34" charset="0"/>
            </a:rPr>
          </a:br>
          <a:r>
            <a:rPr lang="en-US" sz="1700" dirty="0">
              <a:latin typeface="Urbanist" panose="020B0A04040200000203" pitchFamily="34" charset="0"/>
              <a:ea typeface="Urbanist" panose="020B0A04040200000203" pitchFamily="34" charset="0"/>
              <a:cs typeface="Urbanist" panose="020B0A04040200000203" pitchFamily="34" charset="0"/>
            </a:rPr>
            <a:t>Only one process/ thread can be executing inside a critical section at a time </a:t>
          </a:r>
        </a:p>
      </dgm:t>
    </dgm:pt>
    <dgm:pt modelId="{0C063069-149E-45E9-A022-400BCAA4FEF9}" cxnId="{9BF6C787-8F55-47AE-A4AF-E52D21CF8031}" type="parTrans">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C8496037-C0D4-4D28-B1F1-D12A928B512D}" cxnId="{9BF6C787-8F55-47AE-A4AF-E52D21CF8031}" type="sibTrans">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CB069585-5E85-4F45-B833-9CE75679E1FB}">
      <dgm:prSet custT="1"/>
      <dgm:spPr/>
      <dgm:t>
        <a:bodyPr/>
        <a:lstStyle/>
        <a:p>
          <a:r>
            <a:rPr lang="en-US" sz="2000" b="1" dirty="0">
              <a:latin typeface="Urbanist" panose="020B0A04040200000203" pitchFamily="34" charset="0"/>
              <a:ea typeface="Urbanist" panose="020B0A04040200000203" pitchFamily="34" charset="0"/>
              <a:cs typeface="Urbanist" panose="020B0A04040200000203" pitchFamily="34" charset="0"/>
            </a:rPr>
            <a:t>Progress:</a:t>
          </a:r>
          <a:r>
            <a:rPr lang="en-US" sz="1700" dirty="0">
              <a:latin typeface="Urbanist" panose="020B0A04040200000203" pitchFamily="34" charset="0"/>
              <a:ea typeface="Urbanist" panose="020B0A04040200000203" pitchFamily="34" charset="0"/>
              <a:cs typeface="Urbanist" panose="020B0A04040200000203" pitchFamily="34" charset="0"/>
            </a:rPr>
            <a:t/>
          </a:r>
          <a:br>
            <a:rPr lang="en-US" sz="1700" dirty="0">
              <a:latin typeface="Urbanist" panose="020B0A04040200000203" pitchFamily="34" charset="0"/>
              <a:ea typeface="Urbanist" panose="020B0A04040200000203" pitchFamily="34" charset="0"/>
              <a:cs typeface="Urbanist" panose="020B0A04040200000203" pitchFamily="34" charset="0"/>
            </a:rPr>
          </a:br>
          <a:r>
            <a:rPr lang="en-US" sz="1700" dirty="0">
              <a:latin typeface="Urbanist" panose="020B0A04040200000203" pitchFamily="34" charset="0"/>
              <a:ea typeface="Urbanist" panose="020B0A04040200000203" pitchFamily="34" charset="0"/>
              <a:cs typeface="Urbanist" panose="020B0A04040200000203" pitchFamily="34" charset="0"/>
            </a:rPr>
            <a:t>A process/thread outside a critical section can not block others to enter this critical section</a:t>
          </a:r>
        </a:p>
      </dgm:t>
    </dgm:pt>
    <dgm:pt modelId="{191733F7-729B-4E07-A6CA-63D6F849873C}" cxnId="{290EA60C-251B-4159-BE11-4AFF11B3BBDA}" type="parTrans">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CA63180E-0F46-4899-9EBE-91AB48BFBFA2}" cxnId="{290EA60C-251B-4159-BE11-4AFF11B3BBDA}" type="sibTrans">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106A1E20-EDCD-4409-A0BE-722EA900A0AF}">
      <dgm:prSet custT="1"/>
      <dgm:spPr/>
      <dgm:t>
        <a:bodyPr/>
        <a:lstStyle/>
        <a:p>
          <a:r>
            <a:rPr lang="en-US" sz="2000" b="1" dirty="0">
              <a:latin typeface="Urbanist" panose="020B0A04040200000203" pitchFamily="34" charset="0"/>
              <a:ea typeface="Urbanist" panose="020B0A04040200000203" pitchFamily="34" charset="0"/>
              <a:cs typeface="Urbanist" panose="020B0A04040200000203" pitchFamily="34" charset="0"/>
            </a:rPr>
            <a:t>Bounded Waiting:</a:t>
          </a:r>
          <a:br>
            <a:rPr lang="en-US" sz="2000" b="1" dirty="0">
              <a:latin typeface="Urbanist" panose="020B0A04040200000203" pitchFamily="34" charset="0"/>
              <a:ea typeface="Urbanist" panose="020B0A04040200000203" pitchFamily="34" charset="0"/>
              <a:cs typeface="Urbanist" panose="020B0A04040200000203" pitchFamily="34" charset="0"/>
            </a:rPr>
          </a:br>
          <a:r>
            <a:rPr lang="en-US" sz="1700" dirty="0">
              <a:latin typeface="Urbanist" panose="020B0A04040200000203" pitchFamily="34" charset="0"/>
              <a:ea typeface="Urbanist" panose="020B0A04040200000203" pitchFamily="34" charset="0"/>
              <a:cs typeface="Urbanist" panose="020B0A04040200000203" pitchFamily="34" charset="0"/>
            </a:rPr>
            <a:t>Processes/threads should not wait infinitely for entering a critical section</a:t>
          </a:r>
        </a:p>
      </dgm:t>
    </dgm:pt>
    <dgm:pt modelId="{E7358F5C-0D2F-4E6A-B250-D6E3F03484CE}" cxnId="{C0378294-014C-4714-97AC-39D76C32F307}" type="parTrans">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92598996-D671-4BC9-825E-6048DD27458D}" cxnId="{C0378294-014C-4714-97AC-39D76C32F307}" type="sibTrans">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A0D9C88F-3DF6-4994-942A-597BD24E1451}" type="pres">
      <dgm:prSet presAssocID="{FD5BE57B-C423-4981-8E2D-C2D55B26181D}" presName="Name0" presStyleCnt="0">
        <dgm:presLayoutVars>
          <dgm:dir/>
          <dgm:resizeHandles val="exact"/>
        </dgm:presLayoutVars>
      </dgm:prSet>
      <dgm:spPr/>
      <dgm:t>
        <a:bodyPr/>
        <a:lstStyle/>
        <a:p>
          <a:endParaRPr lang="en-US"/>
        </a:p>
      </dgm:t>
    </dgm:pt>
    <dgm:pt modelId="{97A233F7-DD95-4C01-BC4D-41352FF58292}" type="pres">
      <dgm:prSet presAssocID="{9EA52586-E9FC-4E5F-AB13-E4A7D62D578B}" presName="parTxOnly" presStyleLbl="node1" presStyleIdx="0" presStyleCnt="3">
        <dgm:presLayoutVars>
          <dgm:bulletEnabled val="1"/>
        </dgm:presLayoutVars>
      </dgm:prSet>
      <dgm:spPr/>
      <dgm:t>
        <a:bodyPr/>
        <a:lstStyle/>
        <a:p>
          <a:endParaRPr lang="en-US"/>
        </a:p>
      </dgm:t>
    </dgm:pt>
    <dgm:pt modelId="{3B3BC5C9-B849-4B25-AFE1-28937B990378}" type="pres">
      <dgm:prSet presAssocID="{C8496037-C0D4-4D28-B1F1-D12A928B512D}" presName="parSpace" presStyleCnt="0"/>
      <dgm:spPr/>
    </dgm:pt>
    <dgm:pt modelId="{E6FDFC47-1A86-49CC-A31E-FA5E90C065D4}" type="pres">
      <dgm:prSet presAssocID="{CB069585-5E85-4F45-B833-9CE75679E1FB}" presName="parTxOnly" presStyleLbl="node1" presStyleIdx="1" presStyleCnt="3">
        <dgm:presLayoutVars>
          <dgm:bulletEnabled val="1"/>
        </dgm:presLayoutVars>
      </dgm:prSet>
      <dgm:spPr/>
      <dgm:t>
        <a:bodyPr/>
        <a:lstStyle/>
        <a:p>
          <a:endParaRPr lang="en-US"/>
        </a:p>
      </dgm:t>
    </dgm:pt>
    <dgm:pt modelId="{C1EF75F9-4163-4138-A0BA-009E59F586AE}" type="pres">
      <dgm:prSet presAssocID="{CA63180E-0F46-4899-9EBE-91AB48BFBFA2}" presName="parSpace" presStyleCnt="0"/>
      <dgm:spPr/>
    </dgm:pt>
    <dgm:pt modelId="{A1253748-A892-4001-A47B-832D587F0C32}" type="pres">
      <dgm:prSet presAssocID="{106A1E20-EDCD-4409-A0BE-722EA900A0AF}" presName="parTxOnly" presStyleLbl="node1" presStyleIdx="2" presStyleCnt="3">
        <dgm:presLayoutVars>
          <dgm:bulletEnabled val="1"/>
        </dgm:presLayoutVars>
      </dgm:prSet>
      <dgm:spPr/>
      <dgm:t>
        <a:bodyPr/>
        <a:lstStyle/>
        <a:p>
          <a:endParaRPr lang="en-US"/>
        </a:p>
      </dgm:t>
    </dgm:pt>
  </dgm:ptLst>
  <dgm:cxnLst>
    <dgm:cxn modelId="{290EA60C-251B-4159-BE11-4AFF11B3BBDA}" srcId="{FD5BE57B-C423-4981-8E2D-C2D55B26181D}" destId="{CB069585-5E85-4F45-B833-9CE75679E1FB}" srcOrd="1" destOrd="0" parTransId="{191733F7-729B-4E07-A6CA-63D6F849873C}" sibTransId="{CA63180E-0F46-4899-9EBE-91AB48BFBFA2}"/>
    <dgm:cxn modelId="{4EAF37E9-9EF4-4B34-82DC-6172ABD3B1AB}" type="presOf" srcId="{FD5BE57B-C423-4981-8E2D-C2D55B26181D}" destId="{A0D9C88F-3DF6-4994-942A-597BD24E1451}" srcOrd="0" destOrd="0" presId="urn:microsoft.com/office/officeart/2005/8/layout/hChevron3"/>
    <dgm:cxn modelId="{9BF6C787-8F55-47AE-A4AF-E52D21CF8031}" srcId="{FD5BE57B-C423-4981-8E2D-C2D55B26181D}" destId="{9EA52586-E9FC-4E5F-AB13-E4A7D62D578B}" srcOrd="0" destOrd="0" parTransId="{0C063069-149E-45E9-A022-400BCAA4FEF9}" sibTransId="{C8496037-C0D4-4D28-B1F1-D12A928B512D}"/>
    <dgm:cxn modelId="{288E58F6-9B3E-48A6-8D36-65AFE1BB3825}" type="presOf" srcId="{CB069585-5E85-4F45-B833-9CE75679E1FB}" destId="{E6FDFC47-1A86-49CC-A31E-FA5E90C065D4}" srcOrd="0" destOrd="0" presId="urn:microsoft.com/office/officeart/2005/8/layout/hChevron3"/>
    <dgm:cxn modelId="{75DC3184-0762-4DA8-B318-2019C39454B1}" type="presOf" srcId="{9EA52586-E9FC-4E5F-AB13-E4A7D62D578B}" destId="{97A233F7-DD95-4C01-BC4D-41352FF58292}" srcOrd="0" destOrd="0" presId="urn:microsoft.com/office/officeart/2005/8/layout/hChevron3"/>
    <dgm:cxn modelId="{C0378294-014C-4714-97AC-39D76C32F307}" srcId="{FD5BE57B-C423-4981-8E2D-C2D55B26181D}" destId="{106A1E20-EDCD-4409-A0BE-722EA900A0AF}" srcOrd="2" destOrd="0" parTransId="{E7358F5C-0D2F-4E6A-B250-D6E3F03484CE}" sibTransId="{92598996-D671-4BC9-825E-6048DD27458D}"/>
    <dgm:cxn modelId="{8BE46369-92A8-4084-AA69-3FBAE4B74B4A}" type="presOf" srcId="{106A1E20-EDCD-4409-A0BE-722EA900A0AF}" destId="{A1253748-A892-4001-A47B-832D587F0C32}" srcOrd="0" destOrd="0" presId="urn:microsoft.com/office/officeart/2005/8/layout/hChevron3"/>
    <dgm:cxn modelId="{2E8BD15C-50DE-4FA9-881E-8054F158243D}" type="presParOf" srcId="{A0D9C88F-3DF6-4994-942A-597BD24E1451}" destId="{97A233F7-DD95-4C01-BC4D-41352FF58292}" srcOrd="0" destOrd="0" presId="urn:microsoft.com/office/officeart/2005/8/layout/hChevron3"/>
    <dgm:cxn modelId="{33548E74-C417-4A98-AE73-C442CDE6A50B}" type="presParOf" srcId="{A0D9C88F-3DF6-4994-942A-597BD24E1451}" destId="{3B3BC5C9-B849-4B25-AFE1-28937B990378}" srcOrd="1" destOrd="0" presId="urn:microsoft.com/office/officeart/2005/8/layout/hChevron3"/>
    <dgm:cxn modelId="{14F3C362-AF53-4D7A-AD8C-7E798204029D}" type="presParOf" srcId="{A0D9C88F-3DF6-4994-942A-597BD24E1451}" destId="{E6FDFC47-1A86-49CC-A31E-FA5E90C065D4}" srcOrd="2" destOrd="0" presId="urn:microsoft.com/office/officeart/2005/8/layout/hChevron3"/>
    <dgm:cxn modelId="{DBEAFD36-981F-48DD-B2E5-78608816F2CC}" type="presParOf" srcId="{A0D9C88F-3DF6-4994-942A-597BD24E1451}" destId="{C1EF75F9-4163-4138-A0BA-009E59F586AE}" srcOrd="3" destOrd="0" presId="urn:microsoft.com/office/officeart/2005/8/layout/hChevron3"/>
    <dgm:cxn modelId="{648A1F41-CD7C-430C-9C39-6A0AFF4D2F8C}" type="presParOf" srcId="{A0D9C88F-3DF6-4994-942A-597BD24E1451}" destId="{A1253748-A892-4001-A47B-832D587F0C32}" srcOrd="4" destOrd="0" presId="urn:microsoft.com/office/officeart/2005/8/layout/hChevron3"/>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AE515E1-30F2-478F-8280-1C3B4707DDB1}"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5B8F603E-08F2-4826-9415-7B3A8E370EFE}">
      <dgm:prSet/>
      <dgm:spPr/>
      <dgm:t>
        <a:bodyPr/>
        <a:lstStyle/>
        <a:p>
          <a:r>
            <a:rPr lang="en-US" dirty="0">
              <a:latin typeface="Urbanist" panose="020B0A04040200000203" pitchFamily="34" charset="0"/>
              <a:ea typeface="Urbanist" panose="020B0A04040200000203" pitchFamily="34" charset="0"/>
              <a:cs typeface="Urbanist" panose="020B0A04040200000203" pitchFamily="34" charset="0"/>
            </a:rPr>
            <a:t>Semaphore</a:t>
          </a:r>
        </a:p>
      </dgm:t>
    </dgm:pt>
    <dgm:pt modelId="{D5FC3B07-44FA-4A5A-9A01-2C9E6975E015}" cxnId="{DA683F7D-94D9-4D63-9E1B-E446E24EDB73}" type="parTrans">
      <dgm:prSet/>
      <dgm:spPr/>
      <dgm:t>
        <a:bodyPr/>
        <a:lstStyle/>
        <a:p>
          <a:endParaRPr lang="en-US" sz="4000">
            <a:latin typeface="Urbanist" panose="020B0A04040200000203" pitchFamily="34" charset="0"/>
            <a:ea typeface="Urbanist" panose="020B0A04040200000203" pitchFamily="34" charset="0"/>
            <a:cs typeface="Urbanist" panose="020B0A04040200000203" pitchFamily="34" charset="0"/>
          </a:endParaRPr>
        </a:p>
      </dgm:t>
    </dgm:pt>
    <dgm:pt modelId="{E0EE826F-09FB-4E1C-8865-D85074C410A5}" cxnId="{DA683F7D-94D9-4D63-9E1B-E446E24EDB73}" type="sibTrans">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79D0DB96-C1DE-476A-B5C4-71D1C1C0F931}">
      <dgm:prSet/>
      <dgm:spPr/>
      <dgm:t>
        <a:bodyPr/>
        <a:lstStyle/>
        <a:p>
          <a:r>
            <a:rPr lang="en-US" dirty="0">
              <a:latin typeface="Urbanist" panose="020B0A04040200000203" pitchFamily="34" charset="0"/>
              <a:ea typeface="Urbanist" panose="020B0A04040200000203" pitchFamily="34" charset="0"/>
              <a:cs typeface="Urbanist" panose="020B0A04040200000203" pitchFamily="34" charset="0"/>
            </a:rPr>
            <a:t>Monitor </a:t>
          </a:r>
        </a:p>
        <a:p>
          <a:r>
            <a:rPr lang="en-US" dirty="0">
              <a:latin typeface="Urbanist" panose="020B0A04040200000203" pitchFamily="34" charset="0"/>
              <a:ea typeface="Urbanist" panose="020B0A04040200000203" pitchFamily="34" charset="0"/>
              <a:cs typeface="Urbanist" panose="020B0A04040200000203" pitchFamily="34" charset="0"/>
            </a:rPr>
            <a:t>(thread-safe)</a:t>
          </a:r>
        </a:p>
      </dgm:t>
    </dgm:pt>
    <dgm:pt modelId="{B2FF4CED-CDA9-4BB4-9BFA-AD3674AC8AED}" cxnId="{5E0C54B9-18EE-40C1-95FF-A5BB1E88EA33}" type="parTrans">
      <dgm:prSet/>
      <dgm:spPr/>
      <dgm:t>
        <a:bodyPr/>
        <a:lstStyle/>
        <a:p>
          <a:endParaRPr lang="en-US" sz="4000">
            <a:latin typeface="Urbanist" panose="020B0A04040200000203" pitchFamily="34" charset="0"/>
            <a:ea typeface="Urbanist" panose="020B0A04040200000203" pitchFamily="34" charset="0"/>
            <a:cs typeface="Urbanist" panose="020B0A04040200000203" pitchFamily="34" charset="0"/>
          </a:endParaRPr>
        </a:p>
      </dgm:t>
    </dgm:pt>
    <dgm:pt modelId="{E08100E9-618C-47C6-8599-741DDA41E130}" cxnId="{5E0C54B9-18EE-40C1-95FF-A5BB1E88EA33}" type="sibTrans">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0DDC3030-9B95-4E3E-9581-37F42B85130B}" type="pres">
      <dgm:prSet presAssocID="{7AE515E1-30F2-478F-8280-1C3B4707DDB1}" presName="hierChild1" presStyleCnt="0">
        <dgm:presLayoutVars>
          <dgm:chPref val="1"/>
          <dgm:dir/>
          <dgm:animOne val="branch"/>
          <dgm:animLvl val="lvl"/>
          <dgm:resizeHandles/>
        </dgm:presLayoutVars>
      </dgm:prSet>
      <dgm:spPr/>
      <dgm:t>
        <a:bodyPr/>
        <a:lstStyle/>
        <a:p>
          <a:endParaRPr lang="en-US"/>
        </a:p>
      </dgm:t>
    </dgm:pt>
    <dgm:pt modelId="{A9358F86-AB04-4AB3-9A6F-AEB8CDF890E4}" type="pres">
      <dgm:prSet presAssocID="{5B8F603E-08F2-4826-9415-7B3A8E370EFE}" presName="hierRoot1" presStyleCnt="0"/>
      <dgm:spPr/>
    </dgm:pt>
    <dgm:pt modelId="{9D0CD0B3-7B45-4BF8-9E80-094906CC7C16}" type="pres">
      <dgm:prSet presAssocID="{5B8F603E-08F2-4826-9415-7B3A8E370EFE}" presName="composite" presStyleCnt="0"/>
      <dgm:spPr/>
    </dgm:pt>
    <dgm:pt modelId="{81563AE7-5356-4CC5-A379-57DFAD4DB6BC}" type="pres">
      <dgm:prSet presAssocID="{5B8F603E-08F2-4826-9415-7B3A8E370EFE}" presName="background" presStyleLbl="node0" presStyleIdx="0" presStyleCnt="2"/>
      <dgm:spPr/>
    </dgm:pt>
    <dgm:pt modelId="{AA9244DC-2F91-4A74-9054-738BD369730F}" type="pres">
      <dgm:prSet presAssocID="{5B8F603E-08F2-4826-9415-7B3A8E370EFE}" presName="text" presStyleLbl="fgAcc0" presStyleIdx="0" presStyleCnt="2">
        <dgm:presLayoutVars>
          <dgm:chPref val="3"/>
        </dgm:presLayoutVars>
      </dgm:prSet>
      <dgm:spPr/>
      <dgm:t>
        <a:bodyPr/>
        <a:lstStyle/>
        <a:p>
          <a:endParaRPr lang="en-US"/>
        </a:p>
      </dgm:t>
    </dgm:pt>
    <dgm:pt modelId="{BF927BD7-3CB9-4C36-A0B5-78EA42AB7DA2}" type="pres">
      <dgm:prSet presAssocID="{5B8F603E-08F2-4826-9415-7B3A8E370EFE}" presName="hierChild2" presStyleCnt="0"/>
      <dgm:spPr/>
    </dgm:pt>
    <dgm:pt modelId="{7B921A77-B2F9-47CC-A068-B7D1C6BAC299}" type="pres">
      <dgm:prSet presAssocID="{79D0DB96-C1DE-476A-B5C4-71D1C1C0F931}" presName="hierRoot1" presStyleCnt="0"/>
      <dgm:spPr/>
    </dgm:pt>
    <dgm:pt modelId="{DB07BA6F-94EA-4A86-ACA1-79F2AF8BBA44}" type="pres">
      <dgm:prSet presAssocID="{79D0DB96-C1DE-476A-B5C4-71D1C1C0F931}" presName="composite" presStyleCnt="0"/>
      <dgm:spPr/>
    </dgm:pt>
    <dgm:pt modelId="{F36654E7-28E4-405B-999D-487ACD1CACB0}" type="pres">
      <dgm:prSet presAssocID="{79D0DB96-C1DE-476A-B5C4-71D1C1C0F931}" presName="background" presStyleLbl="node0" presStyleIdx="1" presStyleCnt="2"/>
      <dgm:spPr/>
    </dgm:pt>
    <dgm:pt modelId="{12A195D9-53D5-4DF5-A35D-D50120A4C804}" type="pres">
      <dgm:prSet presAssocID="{79D0DB96-C1DE-476A-B5C4-71D1C1C0F931}" presName="text" presStyleLbl="fgAcc0" presStyleIdx="1" presStyleCnt="2">
        <dgm:presLayoutVars>
          <dgm:chPref val="3"/>
        </dgm:presLayoutVars>
      </dgm:prSet>
      <dgm:spPr/>
      <dgm:t>
        <a:bodyPr/>
        <a:lstStyle/>
        <a:p>
          <a:endParaRPr lang="en-US"/>
        </a:p>
      </dgm:t>
    </dgm:pt>
    <dgm:pt modelId="{8CE77DAE-11E7-40E4-A1ED-83A1A3D01494}" type="pres">
      <dgm:prSet presAssocID="{79D0DB96-C1DE-476A-B5C4-71D1C1C0F931}" presName="hierChild2" presStyleCnt="0"/>
      <dgm:spPr/>
    </dgm:pt>
  </dgm:ptLst>
  <dgm:cxnLst>
    <dgm:cxn modelId="{5E0C54B9-18EE-40C1-95FF-A5BB1E88EA33}" srcId="{7AE515E1-30F2-478F-8280-1C3B4707DDB1}" destId="{79D0DB96-C1DE-476A-B5C4-71D1C1C0F931}" srcOrd="1" destOrd="0" parTransId="{B2FF4CED-CDA9-4BB4-9BFA-AD3674AC8AED}" sibTransId="{E08100E9-618C-47C6-8599-741DDA41E130}"/>
    <dgm:cxn modelId="{DA683F7D-94D9-4D63-9E1B-E446E24EDB73}" srcId="{7AE515E1-30F2-478F-8280-1C3B4707DDB1}" destId="{5B8F603E-08F2-4826-9415-7B3A8E370EFE}" srcOrd="0" destOrd="0" parTransId="{D5FC3B07-44FA-4A5A-9A01-2C9E6975E015}" sibTransId="{E0EE826F-09FB-4E1C-8865-D85074C410A5}"/>
    <dgm:cxn modelId="{E631B5D1-C911-44C9-B2FA-772BA7DE2754}" type="presOf" srcId="{79D0DB96-C1DE-476A-B5C4-71D1C1C0F931}" destId="{12A195D9-53D5-4DF5-A35D-D50120A4C804}" srcOrd="0" destOrd="0" presId="urn:microsoft.com/office/officeart/2005/8/layout/hierarchy1"/>
    <dgm:cxn modelId="{1436FA21-F1AA-4D4F-B7EC-A4D32ED8F65E}" type="presOf" srcId="{5B8F603E-08F2-4826-9415-7B3A8E370EFE}" destId="{AA9244DC-2F91-4A74-9054-738BD369730F}" srcOrd="0" destOrd="0" presId="urn:microsoft.com/office/officeart/2005/8/layout/hierarchy1"/>
    <dgm:cxn modelId="{9BBEDAB7-0C9F-496F-A905-738A13B0B116}" type="presOf" srcId="{7AE515E1-30F2-478F-8280-1C3B4707DDB1}" destId="{0DDC3030-9B95-4E3E-9581-37F42B85130B}" srcOrd="0" destOrd="0" presId="urn:microsoft.com/office/officeart/2005/8/layout/hierarchy1"/>
    <dgm:cxn modelId="{C0C6EB48-3DB0-493A-995C-95F5259C80EB}" type="presParOf" srcId="{0DDC3030-9B95-4E3E-9581-37F42B85130B}" destId="{A9358F86-AB04-4AB3-9A6F-AEB8CDF890E4}" srcOrd="0" destOrd="0" presId="urn:microsoft.com/office/officeart/2005/8/layout/hierarchy1"/>
    <dgm:cxn modelId="{7DA7ED23-25A6-4E65-B203-8C2B39503851}" type="presParOf" srcId="{A9358F86-AB04-4AB3-9A6F-AEB8CDF890E4}" destId="{9D0CD0B3-7B45-4BF8-9E80-094906CC7C16}" srcOrd="0" destOrd="0" presId="urn:microsoft.com/office/officeart/2005/8/layout/hierarchy1"/>
    <dgm:cxn modelId="{32DB52D8-C679-4DE7-91CD-F2C8C3FB7378}" type="presParOf" srcId="{9D0CD0B3-7B45-4BF8-9E80-094906CC7C16}" destId="{81563AE7-5356-4CC5-A379-57DFAD4DB6BC}" srcOrd="0" destOrd="0" presId="urn:microsoft.com/office/officeart/2005/8/layout/hierarchy1"/>
    <dgm:cxn modelId="{FA4B702A-80E7-4779-B307-32F64C36633F}" type="presParOf" srcId="{9D0CD0B3-7B45-4BF8-9E80-094906CC7C16}" destId="{AA9244DC-2F91-4A74-9054-738BD369730F}" srcOrd="1" destOrd="0" presId="urn:microsoft.com/office/officeart/2005/8/layout/hierarchy1"/>
    <dgm:cxn modelId="{680B4D80-5EA0-4404-B76F-4C391ECAF654}" type="presParOf" srcId="{A9358F86-AB04-4AB3-9A6F-AEB8CDF890E4}" destId="{BF927BD7-3CB9-4C36-A0B5-78EA42AB7DA2}" srcOrd="1" destOrd="0" presId="urn:microsoft.com/office/officeart/2005/8/layout/hierarchy1"/>
    <dgm:cxn modelId="{EC50C1B0-C168-43BC-8AB2-B02C78087243}" type="presParOf" srcId="{0DDC3030-9B95-4E3E-9581-37F42B85130B}" destId="{7B921A77-B2F9-47CC-A068-B7D1C6BAC299}" srcOrd="1" destOrd="0" presId="urn:microsoft.com/office/officeart/2005/8/layout/hierarchy1"/>
    <dgm:cxn modelId="{455727A5-9424-4B3C-A08C-6388AF208FDB}" type="presParOf" srcId="{7B921A77-B2F9-47CC-A068-B7D1C6BAC299}" destId="{DB07BA6F-94EA-4A86-ACA1-79F2AF8BBA44}" srcOrd="0" destOrd="0" presId="urn:microsoft.com/office/officeart/2005/8/layout/hierarchy1"/>
    <dgm:cxn modelId="{CCC25CB2-D55B-4579-9696-A176E0CD0CAD}" type="presParOf" srcId="{DB07BA6F-94EA-4A86-ACA1-79F2AF8BBA44}" destId="{F36654E7-28E4-405B-999D-487ACD1CACB0}" srcOrd="0" destOrd="0" presId="urn:microsoft.com/office/officeart/2005/8/layout/hierarchy1"/>
    <dgm:cxn modelId="{8BAA0875-731A-4121-8E6D-5402AF6E9C40}" type="presParOf" srcId="{DB07BA6F-94EA-4A86-ACA1-79F2AF8BBA44}" destId="{12A195D9-53D5-4DF5-A35D-D50120A4C804}" srcOrd="1" destOrd="0" presId="urn:microsoft.com/office/officeart/2005/8/layout/hierarchy1"/>
    <dgm:cxn modelId="{43DB01DB-4155-48B6-8104-F5F9F386D919}" type="presParOf" srcId="{7B921A77-B2F9-47CC-A068-B7D1C6BAC299}" destId="{8CE77DAE-11E7-40E4-A1ED-83A1A3D01494}" srcOrd="1" destOrd="0" presId="urn:microsoft.com/office/officeart/2005/8/layout/hierarchy1"/>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AE515E1-30F2-478F-8280-1C3B4707DDB1}"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5B8F603E-08F2-4826-9415-7B3A8E370EFE}">
      <dgm:prSet custT="1"/>
      <dgm:spPr/>
      <dgm:t>
        <a:bodyPr/>
        <a:lstStyle/>
        <a:p>
          <a:r>
            <a:rPr lang="en-US" sz="4800" dirty="0">
              <a:latin typeface="Urbanist" panose="020B0A04040200000203" pitchFamily="34" charset="0"/>
              <a:ea typeface="Urbanist" panose="020B0A04040200000203" pitchFamily="34" charset="0"/>
              <a:cs typeface="Urbanist" panose="020B0A04040200000203" pitchFamily="34" charset="0"/>
            </a:rPr>
            <a:t>Deadlock</a:t>
          </a:r>
        </a:p>
      </dgm:t>
    </dgm:pt>
    <dgm:pt modelId="{D5FC3B07-44FA-4A5A-9A01-2C9E6975E015}" cxnId="{DA683F7D-94D9-4D63-9E1B-E446E24EDB73}" type="parTrans">
      <dgm:prSet/>
      <dgm:spPr/>
      <dgm:t>
        <a:bodyPr/>
        <a:lstStyle/>
        <a:p>
          <a:endParaRPr lang="en-US" sz="4800">
            <a:latin typeface="Urbanist" panose="020B0A04040200000203" pitchFamily="34" charset="0"/>
            <a:ea typeface="Urbanist" panose="020B0A04040200000203" pitchFamily="34" charset="0"/>
            <a:cs typeface="Urbanist" panose="020B0A04040200000203" pitchFamily="34" charset="0"/>
          </a:endParaRPr>
        </a:p>
      </dgm:t>
    </dgm:pt>
    <dgm:pt modelId="{E0EE826F-09FB-4E1C-8865-D85074C410A5}" cxnId="{DA683F7D-94D9-4D63-9E1B-E446E24EDB73}" type="sibTrans">
      <dgm:prSet/>
      <dgm:spPr/>
      <dgm:t>
        <a:bodyPr/>
        <a:lstStyle/>
        <a:p>
          <a:endParaRPr lang="en-US" sz="4800">
            <a:latin typeface="Urbanist" panose="020B0A04040200000203" pitchFamily="34" charset="0"/>
            <a:ea typeface="Urbanist" panose="020B0A04040200000203" pitchFamily="34" charset="0"/>
            <a:cs typeface="Urbanist" panose="020B0A04040200000203" pitchFamily="34" charset="0"/>
          </a:endParaRPr>
        </a:p>
      </dgm:t>
    </dgm:pt>
    <dgm:pt modelId="{79D0DB96-C1DE-476A-B5C4-71D1C1C0F931}">
      <dgm:prSet custT="1"/>
      <dgm:spPr/>
      <dgm:t>
        <a:bodyPr/>
        <a:lstStyle/>
        <a:p>
          <a:r>
            <a:rPr lang="en-US" sz="4800" dirty="0">
              <a:latin typeface="Urbanist" panose="020B0A04040200000203" pitchFamily="34" charset="0"/>
              <a:ea typeface="Urbanist" panose="020B0A04040200000203" pitchFamily="34" charset="0"/>
              <a:cs typeface="Urbanist" panose="020B0A04040200000203" pitchFamily="34" charset="0"/>
            </a:rPr>
            <a:t>No deadlock</a:t>
          </a:r>
        </a:p>
      </dgm:t>
    </dgm:pt>
    <dgm:pt modelId="{B2FF4CED-CDA9-4BB4-9BFA-AD3674AC8AED}" cxnId="{5E0C54B9-18EE-40C1-95FF-A5BB1E88EA33}" type="parTrans">
      <dgm:prSet/>
      <dgm:spPr/>
      <dgm:t>
        <a:bodyPr/>
        <a:lstStyle/>
        <a:p>
          <a:endParaRPr lang="en-US" sz="4800">
            <a:latin typeface="Urbanist" panose="020B0A04040200000203" pitchFamily="34" charset="0"/>
            <a:ea typeface="Urbanist" panose="020B0A04040200000203" pitchFamily="34" charset="0"/>
            <a:cs typeface="Urbanist" panose="020B0A04040200000203" pitchFamily="34" charset="0"/>
          </a:endParaRPr>
        </a:p>
      </dgm:t>
    </dgm:pt>
    <dgm:pt modelId="{E08100E9-618C-47C6-8599-741DDA41E130}" cxnId="{5E0C54B9-18EE-40C1-95FF-A5BB1E88EA33}" type="sibTrans">
      <dgm:prSet/>
      <dgm:spPr/>
      <dgm:t>
        <a:bodyPr/>
        <a:lstStyle/>
        <a:p>
          <a:endParaRPr lang="en-US" sz="4800">
            <a:latin typeface="Urbanist" panose="020B0A04040200000203" pitchFamily="34" charset="0"/>
            <a:ea typeface="Urbanist" panose="020B0A04040200000203" pitchFamily="34" charset="0"/>
            <a:cs typeface="Urbanist" panose="020B0A04040200000203" pitchFamily="34" charset="0"/>
          </a:endParaRPr>
        </a:p>
      </dgm:t>
    </dgm:pt>
    <dgm:pt modelId="{0DDC3030-9B95-4E3E-9581-37F42B85130B}" type="pres">
      <dgm:prSet presAssocID="{7AE515E1-30F2-478F-8280-1C3B4707DDB1}" presName="hierChild1" presStyleCnt="0">
        <dgm:presLayoutVars>
          <dgm:chPref val="1"/>
          <dgm:dir/>
          <dgm:animOne val="branch"/>
          <dgm:animLvl val="lvl"/>
          <dgm:resizeHandles/>
        </dgm:presLayoutVars>
      </dgm:prSet>
      <dgm:spPr/>
      <dgm:t>
        <a:bodyPr/>
        <a:lstStyle/>
        <a:p>
          <a:endParaRPr lang="en-US"/>
        </a:p>
      </dgm:t>
    </dgm:pt>
    <dgm:pt modelId="{A9358F86-AB04-4AB3-9A6F-AEB8CDF890E4}" type="pres">
      <dgm:prSet presAssocID="{5B8F603E-08F2-4826-9415-7B3A8E370EFE}" presName="hierRoot1" presStyleCnt="0"/>
      <dgm:spPr/>
    </dgm:pt>
    <dgm:pt modelId="{9D0CD0B3-7B45-4BF8-9E80-094906CC7C16}" type="pres">
      <dgm:prSet presAssocID="{5B8F603E-08F2-4826-9415-7B3A8E370EFE}" presName="composite" presStyleCnt="0"/>
      <dgm:spPr/>
    </dgm:pt>
    <dgm:pt modelId="{81563AE7-5356-4CC5-A379-57DFAD4DB6BC}" type="pres">
      <dgm:prSet presAssocID="{5B8F603E-08F2-4826-9415-7B3A8E370EFE}" presName="background" presStyleLbl="node0" presStyleIdx="0" presStyleCnt="2"/>
      <dgm:spPr/>
    </dgm:pt>
    <dgm:pt modelId="{AA9244DC-2F91-4A74-9054-738BD369730F}" type="pres">
      <dgm:prSet presAssocID="{5B8F603E-08F2-4826-9415-7B3A8E370EFE}" presName="text" presStyleLbl="fgAcc0" presStyleIdx="0" presStyleCnt="2">
        <dgm:presLayoutVars>
          <dgm:chPref val="3"/>
        </dgm:presLayoutVars>
      </dgm:prSet>
      <dgm:spPr/>
      <dgm:t>
        <a:bodyPr/>
        <a:lstStyle/>
        <a:p>
          <a:endParaRPr lang="en-US"/>
        </a:p>
      </dgm:t>
    </dgm:pt>
    <dgm:pt modelId="{BF927BD7-3CB9-4C36-A0B5-78EA42AB7DA2}" type="pres">
      <dgm:prSet presAssocID="{5B8F603E-08F2-4826-9415-7B3A8E370EFE}" presName="hierChild2" presStyleCnt="0"/>
      <dgm:spPr/>
    </dgm:pt>
    <dgm:pt modelId="{7B921A77-B2F9-47CC-A068-B7D1C6BAC299}" type="pres">
      <dgm:prSet presAssocID="{79D0DB96-C1DE-476A-B5C4-71D1C1C0F931}" presName="hierRoot1" presStyleCnt="0"/>
      <dgm:spPr/>
    </dgm:pt>
    <dgm:pt modelId="{DB07BA6F-94EA-4A86-ACA1-79F2AF8BBA44}" type="pres">
      <dgm:prSet presAssocID="{79D0DB96-C1DE-476A-B5C4-71D1C1C0F931}" presName="composite" presStyleCnt="0"/>
      <dgm:spPr/>
    </dgm:pt>
    <dgm:pt modelId="{F36654E7-28E4-405B-999D-487ACD1CACB0}" type="pres">
      <dgm:prSet presAssocID="{79D0DB96-C1DE-476A-B5C4-71D1C1C0F931}" presName="background" presStyleLbl="node0" presStyleIdx="1" presStyleCnt="2"/>
      <dgm:spPr/>
    </dgm:pt>
    <dgm:pt modelId="{12A195D9-53D5-4DF5-A35D-D50120A4C804}" type="pres">
      <dgm:prSet presAssocID="{79D0DB96-C1DE-476A-B5C4-71D1C1C0F931}" presName="text" presStyleLbl="fgAcc0" presStyleIdx="1" presStyleCnt="2">
        <dgm:presLayoutVars>
          <dgm:chPref val="3"/>
        </dgm:presLayoutVars>
      </dgm:prSet>
      <dgm:spPr/>
      <dgm:t>
        <a:bodyPr/>
        <a:lstStyle/>
        <a:p>
          <a:endParaRPr lang="en-US"/>
        </a:p>
      </dgm:t>
    </dgm:pt>
    <dgm:pt modelId="{8CE77DAE-11E7-40E4-A1ED-83A1A3D01494}" type="pres">
      <dgm:prSet presAssocID="{79D0DB96-C1DE-476A-B5C4-71D1C1C0F931}" presName="hierChild2" presStyleCnt="0"/>
      <dgm:spPr/>
    </dgm:pt>
  </dgm:ptLst>
  <dgm:cxnLst>
    <dgm:cxn modelId="{5E0C54B9-18EE-40C1-95FF-A5BB1E88EA33}" srcId="{7AE515E1-30F2-478F-8280-1C3B4707DDB1}" destId="{79D0DB96-C1DE-476A-B5C4-71D1C1C0F931}" srcOrd="1" destOrd="0" parTransId="{B2FF4CED-CDA9-4BB4-9BFA-AD3674AC8AED}" sibTransId="{E08100E9-618C-47C6-8599-741DDA41E130}"/>
    <dgm:cxn modelId="{DA683F7D-94D9-4D63-9E1B-E446E24EDB73}" srcId="{7AE515E1-30F2-478F-8280-1C3B4707DDB1}" destId="{5B8F603E-08F2-4826-9415-7B3A8E370EFE}" srcOrd="0" destOrd="0" parTransId="{D5FC3B07-44FA-4A5A-9A01-2C9E6975E015}" sibTransId="{E0EE826F-09FB-4E1C-8865-D85074C410A5}"/>
    <dgm:cxn modelId="{E631B5D1-C911-44C9-B2FA-772BA7DE2754}" type="presOf" srcId="{79D0DB96-C1DE-476A-B5C4-71D1C1C0F931}" destId="{12A195D9-53D5-4DF5-A35D-D50120A4C804}" srcOrd="0" destOrd="0" presId="urn:microsoft.com/office/officeart/2005/8/layout/hierarchy1"/>
    <dgm:cxn modelId="{1436FA21-F1AA-4D4F-B7EC-A4D32ED8F65E}" type="presOf" srcId="{5B8F603E-08F2-4826-9415-7B3A8E370EFE}" destId="{AA9244DC-2F91-4A74-9054-738BD369730F}" srcOrd="0" destOrd="0" presId="urn:microsoft.com/office/officeart/2005/8/layout/hierarchy1"/>
    <dgm:cxn modelId="{9BBEDAB7-0C9F-496F-A905-738A13B0B116}" type="presOf" srcId="{7AE515E1-30F2-478F-8280-1C3B4707DDB1}" destId="{0DDC3030-9B95-4E3E-9581-37F42B85130B}" srcOrd="0" destOrd="0" presId="urn:microsoft.com/office/officeart/2005/8/layout/hierarchy1"/>
    <dgm:cxn modelId="{C0C6EB48-3DB0-493A-995C-95F5259C80EB}" type="presParOf" srcId="{0DDC3030-9B95-4E3E-9581-37F42B85130B}" destId="{A9358F86-AB04-4AB3-9A6F-AEB8CDF890E4}" srcOrd="0" destOrd="0" presId="urn:microsoft.com/office/officeart/2005/8/layout/hierarchy1"/>
    <dgm:cxn modelId="{7DA7ED23-25A6-4E65-B203-8C2B39503851}" type="presParOf" srcId="{A9358F86-AB04-4AB3-9A6F-AEB8CDF890E4}" destId="{9D0CD0B3-7B45-4BF8-9E80-094906CC7C16}" srcOrd="0" destOrd="0" presId="urn:microsoft.com/office/officeart/2005/8/layout/hierarchy1"/>
    <dgm:cxn modelId="{32DB52D8-C679-4DE7-91CD-F2C8C3FB7378}" type="presParOf" srcId="{9D0CD0B3-7B45-4BF8-9E80-094906CC7C16}" destId="{81563AE7-5356-4CC5-A379-57DFAD4DB6BC}" srcOrd="0" destOrd="0" presId="urn:microsoft.com/office/officeart/2005/8/layout/hierarchy1"/>
    <dgm:cxn modelId="{FA4B702A-80E7-4779-B307-32F64C36633F}" type="presParOf" srcId="{9D0CD0B3-7B45-4BF8-9E80-094906CC7C16}" destId="{AA9244DC-2F91-4A74-9054-738BD369730F}" srcOrd="1" destOrd="0" presId="urn:microsoft.com/office/officeart/2005/8/layout/hierarchy1"/>
    <dgm:cxn modelId="{680B4D80-5EA0-4404-B76F-4C391ECAF654}" type="presParOf" srcId="{A9358F86-AB04-4AB3-9A6F-AEB8CDF890E4}" destId="{BF927BD7-3CB9-4C36-A0B5-78EA42AB7DA2}" srcOrd="1" destOrd="0" presId="urn:microsoft.com/office/officeart/2005/8/layout/hierarchy1"/>
    <dgm:cxn modelId="{EC50C1B0-C168-43BC-8AB2-B02C78087243}" type="presParOf" srcId="{0DDC3030-9B95-4E3E-9581-37F42B85130B}" destId="{7B921A77-B2F9-47CC-A068-B7D1C6BAC299}" srcOrd="1" destOrd="0" presId="urn:microsoft.com/office/officeart/2005/8/layout/hierarchy1"/>
    <dgm:cxn modelId="{455727A5-9424-4B3C-A08C-6388AF208FDB}" type="presParOf" srcId="{7B921A77-B2F9-47CC-A068-B7D1C6BAC299}" destId="{DB07BA6F-94EA-4A86-ACA1-79F2AF8BBA44}" srcOrd="0" destOrd="0" presId="urn:microsoft.com/office/officeart/2005/8/layout/hierarchy1"/>
    <dgm:cxn modelId="{CCC25CB2-D55B-4579-9696-A176E0CD0CAD}" type="presParOf" srcId="{DB07BA6F-94EA-4A86-ACA1-79F2AF8BBA44}" destId="{F36654E7-28E4-405B-999D-487ACD1CACB0}" srcOrd="0" destOrd="0" presId="urn:microsoft.com/office/officeart/2005/8/layout/hierarchy1"/>
    <dgm:cxn modelId="{8BAA0875-731A-4121-8E6D-5402AF6E9C40}" type="presParOf" srcId="{DB07BA6F-94EA-4A86-ACA1-79F2AF8BBA44}" destId="{12A195D9-53D5-4DF5-A35D-D50120A4C804}" srcOrd="1" destOrd="0" presId="urn:microsoft.com/office/officeart/2005/8/layout/hierarchy1"/>
    <dgm:cxn modelId="{43DB01DB-4155-48B6-8104-F5F9F386D919}" type="presParOf" srcId="{7B921A77-B2F9-47CC-A068-B7D1C6BAC299}" destId="{8CE77DAE-11E7-40E4-A1ED-83A1A3D01494}" srcOrd="1" destOrd="0" presId="urn:microsoft.com/office/officeart/2005/8/layout/hierarchy1"/>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10260106" cy="3371571"/>
        <a:chOff x="0" y="0"/>
        <a:chExt cx="10260106" cy="3371571"/>
      </a:xfrm>
    </dsp:grpSpPr>
    <dsp:sp modelId="{97A233F7-DD95-4C01-BC4D-41352FF58292}">
      <dsp:nvSpPr>
        <dsp:cNvPr id="3" name="Pentagon 2"/>
        <dsp:cNvSpPr/>
      </dsp:nvSpPr>
      <dsp:spPr bwMode="white">
        <a:xfrm>
          <a:off x="0" y="896547"/>
          <a:ext cx="3946195" cy="1578478"/>
        </a:xfrm>
        <a:prstGeom prst="homePlate">
          <a:avLst/>
        </a:prstGeom>
      </dsp:spPr>
      <dsp:style>
        <a:lnRef idx="2">
          <a:schemeClr val="lt1"/>
        </a:lnRef>
        <a:fillRef idx="1">
          <a:schemeClr val="accent2"/>
        </a:fillRef>
        <a:effectRef idx="0">
          <a:scrgbClr r="0" g="0" b="0"/>
        </a:effectRef>
        <a:fontRef idx="minor">
          <a:schemeClr val="lt1"/>
        </a:fontRef>
      </dsp:style>
      <dsp:txBody>
        <a:bodyPr lIns="106680" tIns="53340" rIns="26670" bIns="5334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en-US" sz="2000" b="1" dirty="0">
              <a:latin typeface="Urbanist" panose="020B0A04040200000203" pitchFamily="34" charset="0"/>
              <a:ea typeface="Urbanist" panose="020B0A04040200000203" pitchFamily="34" charset="0"/>
              <a:cs typeface="Urbanist" panose="020B0A04040200000203" pitchFamily="34" charset="0"/>
            </a:rPr>
            <a:t>Mutual Exclusion: </a:t>
          </a:r>
          <a:br>
            <a:rPr lang="en-US" sz="1700" dirty="0">
              <a:latin typeface="Urbanist" panose="020B0A04040200000203" pitchFamily="34" charset="0"/>
              <a:ea typeface="Urbanist" panose="020B0A04040200000203" pitchFamily="34" charset="0"/>
              <a:cs typeface="Urbanist" panose="020B0A04040200000203" pitchFamily="34" charset="0"/>
            </a:rPr>
          </a:br>
          <a:r>
            <a:rPr lang="en-US" sz="1700" dirty="0">
              <a:latin typeface="Urbanist" panose="020B0A04040200000203" pitchFamily="34" charset="0"/>
              <a:ea typeface="Urbanist" panose="020B0A04040200000203" pitchFamily="34" charset="0"/>
              <a:cs typeface="Urbanist" panose="020B0A04040200000203" pitchFamily="34" charset="0"/>
            </a:rPr>
            <a:t>Only one process/ thread can be executing inside a critical section at a time </a:t>
          </a:r>
        </a:p>
      </dsp:txBody>
      <dsp:txXfrm>
        <a:off x="0" y="896547"/>
        <a:ext cx="3946195" cy="1578478"/>
      </dsp:txXfrm>
    </dsp:sp>
    <dsp:sp modelId="{E6FDFC47-1A86-49CC-A31E-FA5E90C065D4}">
      <dsp:nvSpPr>
        <dsp:cNvPr id="4" name="Chevron 3"/>
        <dsp:cNvSpPr/>
      </dsp:nvSpPr>
      <dsp:spPr bwMode="white">
        <a:xfrm>
          <a:off x="3156956" y="896547"/>
          <a:ext cx="3946195" cy="1578478"/>
        </a:xfrm>
        <a:prstGeom prst="chevron">
          <a:avLst/>
        </a:prstGeom>
      </dsp:spPr>
      <dsp:style>
        <a:lnRef idx="2">
          <a:schemeClr val="lt1"/>
        </a:lnRef>
        <a:fillRef idx="1">
          <a:schemeClr val="accent3"/>
        </a:fillRef>
        <a:effectRef idx="0">
          <a:scrgbClr r="0" g="0" b="0"/>
        </a:effectRef>
        <a:fontRef idx="minor">
          <a:schemeClr val="lt1"/>
        </a:fontRef>
      </dsp:style>
      <dsp:txBody>
        <a:bodyPr lIns="80010" tIns="53340" rIns="26670" bIns="5334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en-US" sz="2000" b="1" dirty="0">
              <a:latin typeface="Urbanist" panose="020B0A04040200000203" pitchFamily="34" charset="0"/>
              <a:ea typeface="Urbanist" panose="020B0A04040200000203" pitchFamily="34" charset="0"/>
              <a:cs typeface="Urbanist" panose="020B0A04040200000203" pitchFamily="34" charset="0"/>
            </a:rPr>
            <a:t>Progress:</a:t>
          </a:r>
          <a:br>
            <a:rPr lang="en-US" sz="1700" dirty="0">
              <a:latin typeface="Urbanist" panose="020B0A04040200000203" pitchFamily="34" charset="0"/>
              <a:ea typeface="Urbanist" panose="020B0A04040200000203" pitchFamily="34" charset="0"/>
              <a:cs typeface="Urbanist" panose="020B0A04040200000203" pitchFamily="34" charset="0"/>
            </a:rPr>
          </a:br>
          <a:r>
            <a:rPr lang="en-US" sz="1700" dirty="0">
              <a:latin typeface="Urbanist" panose="020B0A04040200000203" pitchFamily="34" charset="0"/>
              <a:ea typeface="Urbanist" panose="020B0A04040200000203" pitchFamily="34" charset="0"/>
              <a:cs typeface="Urbanist" panose="020B0A04040200000203" pitchFamily="34" charset="0"/>
            </a:rPr>
            <a:t>A process/thread outside a critical section can not block others to enter this critical section</a:t>
          </a:r>
        </a:p>
      </dsp:txBody>
      <dsp:txXfrm>
        <a:off x="3156956" y="896547"/>
        <a:ext cx="3946195" cy="1578478"/>
      </dsp:txXfrm>
    </dsp:sp>
    <dsp:sp modelId="{A1253748-A892-4001-A47B-832D587F0C32}">
      <dsp:nvSpPr>
        <dsp:cNvPr id="5" name="Chevron 4"/>
        <dsp:cNvSpPr/>
      </dsp:nvSpPr>
      <dsp:spPr bwMode="white">
        <a:xfrm>
          <a:off x="6313911" y="896547"/>
          <a:ext cx="3946195" cy="1578478"/>
        </a:xfrm>
        <a:prstGeom prst="chevron">
          <a:avLst/>
        </a:prstGeom>
      </dsp:spPr>
      <dsp:style>
        <a:lnRef idx="2">
          <a:schemeClr val="lt1"/>
        </a:lnRef>
        <a:fillRef idx="1">
          <a:schemeClr val="accent4"/>
        </a:fillRef>
        <a:effectRef idx="0">
          <a:scrgbClr r="0" g="0" b="0"/>
        </a:effectRef>
        <a:fontRef idx="minor">
          <a:schemeClr val="lt1"/>
        </a:fontRef>
      </dsp:style>
      <dsp:txBody>
        <a:bodyPr lIns="80010" tIns="53340" rIns="26670" bIns="5334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en-US" sz="2000" b="1" dirty="0">
              <a:latin typeface="Urbanist" panose="020B0A04040200000203" pitchFamily="34" charset="0"/>
              <a:ea typeface="Urbanist" panose="020B0A04040200000203" pitchFamily="34" charset="0"/>
              <a:cs typeface="Urbanist" panose="020B0A04040200000203" pitchFamily="34" charset="0"/>
            </a:rPr>
            <a:t>Bounded Waiting:</a:t>
          </a:r>
          <a:br>
            <a:rPr lang="en-US" sz="2000" b="1" dirty="0">
              <a:latin typeface="Urbanist" panose="020B0A04040200000203" pitchFamily="34" charset="0"/>
              <a:ea typeface="Urbanist" panose="020B0A04040200000203" pitchFamily="34" charset="0"/>
              <a:cs typeface="Urbanist" panose="020B0A04040200000203" pitchFamily="34" charset="0"/>
            </a:rPr>
          </a:br>
          <a:r>
            <a:rPr lang="en-US" sz="1700" dirty="0">
              <a:latin typeface="Urbanist" panose="020B0A04040200000203" pitchFamily="34" charset="0"/>
              <a:ea typeface="Urbanist" panose="020B0A04040200000203" pitchFamily="34" charset="0"/>
              <a:cs typeface="Urbanist" panose="020B0A04040200000203" pitchFamily="34" charset="0"/>
            </a:rPr>
            <a:t>Processes/threads should not wait infinitely for entering a critical section</a:t>
          </a:r>
        </a:p>
      </dsp:txBody>
      <dsp:txXfrm>
        <a:off x="6313911" y="896547"/>
        <a:ext cx="3946195" cy="1578478"/>
      </dsp:txXfrm>
    </dsp:sp>
  </dsp:spTree>
</dsp:drawing>
</file>

<file path=ppt/diagrams/drawing2.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7817590" cy="4921412"/>
        <a:chOff x="0" y="0"/>
        <a:chExt cx="7817590" cy="4921412"/>
      </a:xfrm>
    </dsp:grpSpPr>
    <dsp:sp modelId="{81563AE7-5356-4CC5-A379-57DFAD4DB6BC}">
      <dsp:nvSpPr>
        <dsp:cNvPr id="3" name="Rounded Rectangle 2"/>
        <dsp:cNvSpPr/>
      </dsp:nvSpPr>
      <dsp:spPr bwMode="white">
        <a:xfrm>
          <a:off x="0" y="1220129"/>
          <a:ext cx="3350396" cy="2127501"/>
        </a:xfrm>
        <a:prstGeom prst="roundRect">
          <a:avLst>
            <a:gd name="adj" fmla="val 10000"/>
          </a:avLst>
        </a:prstGeom>
      </dsp:spPr>
      <dsp:style>
        <a:lnRef idx="0">
          <a:schemeClr val="lt1"/>
        </a:lnRef>
        <a:fillRef idx="3">
          <a:schemeClr val="accent1"/>
        </a:fillRef>
        <a:effectRef idx="2">
          <a:scrgbClr r="0" g="0" b="0"/>
        </a:effectRef>
        <a:fontRef idx="minor">
          <a:schemeClr val="lt1"/>
        </a:fontRef>
      </dsp:style>
      <dsp:txXfrm>
        <a:off x="0" y="1220129"/>
        <a:ext cx="3350396" cy="2127501"/>
      </dsp:txXfrm>
    </dsp:sp>
    <dsp:sp modelId="{AA9244DC-2F91-4A74-9054-738BD369730F}">
      <dsp:nvSpPr>
        <dsp:cNvPr id="4" name="Rounded Rectangle 3"/>
        <dsp:cNvSpPr/>
      </dsp:nvSpPr>
      <dsp:spPr bwMode="white">
        <a:xfrm>
          <a:off x="372266" y="1573782"/>
          <a:ext cx="3350396" cy="2127501"/>
        </a:xfrm>
        <a:prstGeom prst="roundRect">
          <a:avLst>
            <a:gd name="adj" fmla="val 10000"/>
          </a:avLst>
        </a:prstGeom>
      </dsp:spPr>
      <dsp:style>
        <a:lnRef idx="1">
          <a:schemeClr val="accent1"/>
        </a:lnRef>
        <a:fillRef idx="1">
          <a:schemeClr val="lt1">
            <a:alpha val="90000"/>
          </a:schemeClr>
        </a:fillRef>
        <a:effectRef idx="0">
          <a:scrgbClr r="0" g="0" b="0"/>
        </a:effectRef>
        <a:fontRef idx="minor"/>
      </dsp:style>
      <dsp:txBody>
        <a:bodyPr lIns="144780" tIns="144780" rIns="144780" bIns="144780" anchor="ctr"/>
        <a:lstStyle>
          <a:lvl1pPr algn="ctr">
            <a:defRPr sz="3800"/>
          </a:lvl1pPr>
          <a:lvl2pPr marL="285750" indent="-285750" algn="ctr">
            <a:defRPr sz="2900"/>
          </a:lvl2pPr>
          <a:lvl3pPr marL="571500" indent="-285750" algn="ctr">
            <a:defRPr sz="2900"/>
          </a:lvl3pPr>
          <a:lvl4pPr marL="857250" indent="-285750" algn="ctr">
            <a:defRPr sz="2900"/>
          </a:lvl4pPr>
          <a:lvl5pPr marL="1143000" indent="-285750" algn="ctr">
            <a:defRPr sz="2900"/>
          </a:lvl5pPr>
          <a:lvl6pPr marL="1428750" indent="-285750" algn="ctr">
            <a:defRPr sz="2900"/>
          </a:lvl6pPr>
          <a:lvl7pPr marL="1714500" indent="-285750" algn="ctr">
            <a:defRPr sz="2900"/>
          </a:lvl7pPr>
          <a:lvl8pPr marL="2000250" indent="-285750" algn="ctr">
            <a:defRPr sz="2900"/>
          </a:lvl8pPr>
          <a:lvl9pPr marL="2286000" indent="-285750" algn="ctr">
            <a:defRPr sz="2900"/>
          </a:lvl9pPr>
        </a:lstStyle>
        <a:p>
          <a:pPr lvl="0">
            <a:lnSpc>
              <a:spcPct val="100000"/>
            </a:lnSpc>
            <a:spcBef>
              <a:spcPct val="0"/>
            </a:spcBef>
            <a:spcAft>
              <a:spcPct val="35000"/>
            </a:spcAft>
          </a:pPr>
          <a:r>
            <a:rPr lang="en-US" dirty="0">
              <a:solidFill>
                <a:schemeClr val="dk1"/>
              </a:solidFill>
              <a:latin typeface="Urbanist" panose="020B0A04040200000203" pitchFamily="34" charset="0"/>
              <a:ea typeface="Urbanist" panose="020B0A04040200000203" pitchFamily="34" charset="0"/>
              <a:cs typeface="Urbanist" panose="020B0A04040200000203" pitchFamily="34" charset="0"/>
            </a:rPr>
            <a:t>Semaphore</a:t>
          </a:r>
          <a:endParaRPr>
            <a:solidFill>
              <a:schemeClr val="dk1"/>
            </a:solidFill>
          </a:endParaRPr>
        </a:p>
      </dsp:txBody>
      <dsp:txXfrm>
        <a:off x="372266" y="1573782"/>
        <a:ext cx="3350396" cy="2127501"/>
      </dsp:txXfrm>
    </dsp:sp>
    <dsp:sp modelId="{F36654E7-28E4-405B-999D-487ACD1CACB0}">
      <dsp:nvSpPr>
        <dsp:cNvPr id="5" name="Rounded Rectangle 4"/>
        <dsp:cNvSpPr/>
      </dsp:nvSpPr>
      <dsp:spPr bwMode="white">
        <a:xfrm>
          <a:off x="4094928" y="1220129"/>
          <a:ext cx="3350396" cy="2127501"/>
        </a:xfrm>
        <a:prstGeom prst="roundRect">
          <a:avLst>
            <a:gd name="adj" fmla="val 10000"/>
          </a:avLst>
        </a:prstGeom>
      </dsp:spPr>
      <dsp:style>
        <a:lnRef idx="0">
          <a:schemeClr val="lt1"/>
        </a:lnRef>
        <a:fillRef idx="3">
          <a:schemeClr val="accent1"/>
        </a:fillRef>
        <a:effectRef idx="2">
          <a:scrgbClr r="0" g="0" b="0"/>
        </a:effectRef>
        <a:fontRef idx="minor">
          <a:schemeClr val="lt1"/>
        </a:fontRef>
      </dsp:style>
      <dsp:txXfrm>
        <a:off x="4094928" y="1220129"/>
        <a:ext cx="3350396" cy="2127501"/>
      </dsp:txXfrm>
    </dsp:sp>
    <dsp:sp modelId="{12A195D9-53D5-4DF5-A35D-D50120A4C804}">
      <dsp:nvSpPr>
        <dsp:cNvPr id="6" name="Rounded Rectangle 5"/>
        <dsp:cNvSpPr/>
      </dsp:nvSpPr>
      <dsp:spPr bwMode="white">
        <a:xfrm>
          <a:off x="4467194" y="1573782"/>
          <a:ext cx="3350396" cy="2127501"/>
        </a:xfrm>
        <a:prstGeom prst="roundRect">
          <a:avLst>
            <a:gd name="adj" fmla="val 10000"/>
          </a:avLst>
        </a:prstGeom>
      </dsp:spPr>
      <dsp:style>
        <a:lnRef idx="1">
          <a:schemeClr val="accent1"/>
        </a:lnRef>
        <a:fillRef idx="1">
          <a:schemeClr val="lt1">
            <a:alpha val="90000"/>
          </a:schemeClr>
        </a:fillRef>
        <a:effectRef idx="0">
          <a:scrgbClr r="0" g="0" b="0"/>
        </a:effectRef>
        <a:fontRef idx="minor"/>
      </dsp:style>
      <dsp:txBody>
        <a:bodyPr lIns="144780" tIns="144780" rIns="144780" bIns="144780" anchor="ctr"/>
        <a:lstStyle>
          <a:lvl1pPr algn="ctr">
            <a:defRPr sz="3800"/>
          </a:lvl1pPr>
          <a:lvl2pPr marL="285750" indent="-285750" algn="ctr">
            <a:defRPr sz="2900"/>
          </a:lvl2pPr>
          <a:lvl3pPr marL="571500" indent="-285750" algn="ctr">
            <a:defRPr sz="2900"/>
          </a:lvl3pPr>
          <a:lvl4pPr marL="857250" indent="-285750" algn="ctr">
            <a:defRPr sz="2900"/>
          </a:lvl4pPr>
          <a:lvl5pPr marL="1143000" indent="-285750" algn="ctr">
            <a:defRPr sz="2900"/>
          </a:lvl5pPr>
          <a:lvl6pPr marL="1428750" indent="-285750" algn="ctr">
            <a:defRPr sz="2900"/>
          </a:lvl6pPr>
          <a:lvl7pPr marL="1714500" indent="-285750" algn="ctr">
            <a:defRPr sz="2900"/>
          </a:lvl7pPr>
          <a:lvl8pPr marL="2000250" indent="-285750" algn="ctr">
            <a:defRPr sz="2900"/>
          </a:lvl8pPr>
          <a:lvl9pPr marL="2286000" indent="-285750" algn="ctr">
            <a:defRPr sz="2900"/>
          </a:lvl9pPr>
        </a:lstStyle>
        <a:p>
          <a:pPr lvl="0">
            <a:lnSpc>
              <a:spcPct val="100000"/>
            </a:lnSpc>
            <a:spcBef>
              <a:spcPct val="0"/>
            </a:spcBef>
            <a:spcAft>
              <a:spcPct val="35000"/>
            </a:spcAft>
          </a:pPr>
          <a:r>
            <a:rPr lang="en-US" dirty="0">
              <a:solidFill>
                <a:schemeClr val="dk1"/>
              </a:solidFill>
              <a:latin typeface="Urbanist" panose="020B0A04040200000203" pitchFamily="34" charset="0"/>
              <a:ea typeface="Urbanist" panose="020B0A04040200000203" pitchFamily="34" charset="0"/>
              <a:cs typeface="Urbanist" panose="020B0A04040200000203" pitchFamily="34" charset="0"/>
            </a:rPr>
            <a:t>Monitor </a:t>
          </a:r>
          <a:endParaRPr lang="en-US" dirty="0">
            <a:solidFill>
              <a:schemeClr val="dk1"/>
            </a:solidFill>
            <a:latin typeface="Urbanist" panose="020B0A04040200000203" pitchFamily="34" charset="0"/>
            <a:ea typeface="Urbanist" panose="020B0A04040200000203" pitchFamily="34" charset="0"/>
            <a:cs typeface="Urbanist" panose="020B0A04040200000203" pitchFamily="34" charset="0"/>
          </a:endParaRPr>
        </a:p>
        <a:p>
          <a:pPr lvl="0">
            <a:lnSpc>
              <a:spcPct val="100000"/>
            </a:lnSpc>
            <a:spcBef>
              <a:spcPct val="0"/>
            </a:spcBef>
            <a:spcAft>
              <a:spcPct val="35000"/>
            </a:spcAft>
          </a:pPr>
          <a:r>
            <a:rPr lang="en-US" dirty="0">
              <a:solidFill>
                <a:schemeClr val="dk1"/>
              </a:solidFill>
              <a:latin typeface="Urbanist" panose="020B0A04040200000203" pitchFamily="34" charset="0"/>
              <a:ea typeface="Urbanist" panose="020B0A04040200000203" pitchFamily="34" charset="0"/>
              <a:cs typeface="Urbanist" panose="020B0A04040200000203" pitchFamily="34" charset="0"/>
            </a:rPr>
            <a:t>(thread-safe)</a:t>
          </a:r>
          <a:endParaRPr>
            <a:solidFill>
              <a:schemeClr val="dk1"/>
            </a:solidFill>
          </a:endParaRPr>
        </a:p>
      </dsp:txBody>
      <dsp:txXfrm>
        <a:off x="4467194" y="1573782"/>
        <a:ext cx="3350396" cy="2127501"/>
      </dsp:txXfrm>
    </dsp:sp>
  </dsp:spTree>
</dsp:drawing>
</file>

<file path=ppt/diagrams/drawing3.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7817590" cy="4921412"/>
        <a:chOff x="0" y="0"/>
        <a:chExt cx="7817590" cy="4921412"/>
      </a:xfrm>
    </dsp:grpSpPr>
    <dsp:sp modelId="{81563AE7-5356-4CC5-A379-57DFAD4DB6BC}">
      <dsp:nvSpPr>
        <dsp:cNvPr id="3" name="Rounded Rectangle 2"/>
        <dsp:cNvSpPr/>
      </dsp:nvSpPr>
      <dsp:spPr bwMode="white">
        <a:xfrm>
          <a:off x="0" y="1220129"/>
          <a:ext cx="3350396" cy="2127501"/>
        </a:xfrm>
        <a:prstGeom prst="roundRect">
          <a:avLst>
            <a:gd name="adj" fmla="val 10000"/>
          </a:avLst>
        </a:prstGeom>
      </dsp:spPr>
      <dsp:style>
        <a:lnRef idx="0">
          <a:schemeClr val="lt1"/>
        </a:lnRef>
        <a:fillRef idx="3">
          <a:schemeClr val="accent1"/>
        </a:fillRef>
        <a:effectRef idx="2">
          <a:scrgbClr r="0" g="0" b="0"/>
        </a:effectRef>
        <a:fontRef idx="minor">
          <a:schemeClr val="lt1"/>
        </a:fontRef>
      </dsp:style>
      <dsp:txXfrm>
        <a:off x="0" y="1220129"/>
        <a:ext cx="3350396" cy="2127501"/>
      </dsp:txXfrm>
    </dsp:sp>
    <dsp:sp modelId="{AA9244DC-2F91-4A74-9054-738BD369730F}">
      <dsp:nvSpPr>
        <dsp:cNvPr id="4" name="Rounded Rectangle 3"/>
        <dsp:cNvSpPr/>
      </dsp:nvSpPr>
      <dsp:spPr bwMode="white">
        <a:xfrm>
          <a:off x="372266" y="1573782"/>
          <a:ext cx="3350396" cy="2127501"/>
        </a:xfrm>
        <a:prstGeom prst="roundRect">
          <a:avLst>
            <a:gd name="adj" fmla="val 10000"/>
          </a:avLst>
        </a:prstGeom>
      </dsp:spPr>
      <dsp:style>
        <a:lnRef idx="1">
          <a:schemeClr val="accent1"/>
        </a:lnRef>
        <a:fillRef idx="1">
          <a:schemeClr val="lt1">
            <a:alpha val="90000"/>
          </a:schemeClr>
        </a:fillRef>
        <a:effectRef idx="0">
          <a:scrgbClr r="0" g="0" b="0"/>
        </a:effectRef>
        <a:fontRef idx="minor"/>
      </dsp:style>
      <dsp:txBody>
        <a:bodyPr lIns="182879" tIns="182879" rIns="182879" bIns="182879"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en-US" sz="4800" dirty="0">
              <a:solidFill>
                <a:schemeClr val="dk1"/>
              </a:solidFill>
              <a:latin typeface="Urbanist" panose="020B0A04040200000203" pitchFamily="34" charset="0"/>
              <a:ea typeface="Urbanist" panose="020B0A04040200000203" pitchFamily="34" charset="0"/>
              <a:cs typeface="Urbanist" panose="020B0A04040200000203" pitchFamily="34" charset="0"/>
            </a:rPr>
            <a:t>Deadlock</a:t>
          </a:r>
          <a:endParaRPr>
            <a:solidFill>
              <a:schemeClr val="dk1"/>
            </a:solidFill>
          </a:endParaRPr>
        </a:p>
      </dsp:txBody>
      <dsp:txXfrm>
        <a:off x="372266" y="1573782"/>
        <a:ext cx="3350396" cy="2127501"/>
      </dsp:txXfrm>
    </dsp:sp>
    <dsp:sp modelId="{F36654E7-28E4-405B-999D-487ACD1CACB0}">
      <dsp:nvSpPr>
        <dsp:cNvPr id="5" name="Rounded Rectangle 4"/>
        <dsp:cNvSpPr/>
      </dsp:nvSpPr>
      <dsp:spPr bwMode="white">
        <a:xfrm>
          <a:off x="4094928" y="1220129"/>
          <a:ext cx="3350396" cy="2127501"/>
        </a:xfrm>
        <a:prstGeom prst="roundRect">
          <a:avLst>
            <a:gd name="adj" fmla="val 10000"/>
          </a:avLst>
        </a:prstGeom>
      </dsp:spPr>
      <dsp:style>
        <a:lnRef idx="0">
          <a:schemeClr val="lt1"/>
        </a:lnRef>
        <a:fillRef idx="3">
          <a:schemeClr val="accent1"/>
        </a:fillRef>
        <a:effectRef idx="2">
          <a:scrgbClr r="0" g="0" b="0"/>
        </a:effectRef>
        <a:fontRef idx="minor">
          <a:schemeClr val="lt1"/>
        </a:fontRef>
      </dsp:style>
      <dsp:txXfrm>
        <a:off x="4094928" y="1220129"/>
        <a:ext cx="3350396" cy="2127501"/>
      </dsp:txXfrm>
    </dsp:sp>
    <dsp:sp modelId="{12A195D9-53D5-4DF5-A35D-D50120A4C804}">
      <dsp:nvSpPr>
        <dsp:cNvPr id="6" name="Rounded Rectangle 5"/>
        <dsp:cNvSpPr/>
      </dsp:nvSpPr>
      <dsp:spPr bwMode="white">
        <a:xfrm>
          <a:off x="4467194" y="1573782"/>
          <a:ext cx="3350396" cy="2127501"/>
        </a:xfrm>
        <a:prstGeom prst="roundRect">
          <a:avLst>
            <a:gd name="adj" fmla="val 10000"/>
          </a:avLst>
        </a:prstGeom>
      </dsp:spPr>
      <dsp:style>
        <a:lnRef idx="1">
          <a:schemeClr val="accent1"/>
        </a:lnRef>
        <a:fillRef idx="1">
          <a:schemeClr val="lt1">
            <a:alpha val="90000"/>
          </a:schemeClr>
        </a:fillRef>
        <a:effectRef idx="0">
          <a:scrgbClr r="0" g="0" b="0"/>
        </a:effectRef>
        <a:fontRef idx="minor"/>
      </dsp:style>
      <dsp:txBody>
        <a:bodyPr lIns="182879" tIns="182879" rIns="182879" bIns="182879"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en-US" sz="4800" dirty="0">
              <a:solidFill>
                <a:schemeClr val="dk1"/>
              </a:solidFill>
              <a:latin typeface="Urbanist" panose="020B0A04040200000203" pitchFamily="34" charset="0"/>
              <a:ea typeface="Urbanist" panose="020B0A04040200000203" pitchFamily="34" charset="0"/>
              <a:cs typeface="Urbanist" panose="020B0A04040200000203" pitchFamily="34" charset="0"/>
            </a:rPr>
            <a:t>No deadlock</a:t>
          </a:r>
          <a:endParaRPr>
            <a:solidFill>
              <a:schemeClr val="dk1"/>
            </a:solidFill>
          </a:endParaRPr>
        </a:p>
      </dsp:txBody>
      <dsp:txXfrm>
        <a:off x="4467194" y="1573782"/>
        <a:ext cx="3350396" cy="2127501"/>
      </dsp:txXfrm>
    </dsp:sp>
  </dsp:spTree>
</dsp:drawing>
</file>

<file path=ppt/diagrams/layout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type="homePlate" r:blip="" rot="180">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type="chevron" r:blip="" rot="180">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type="homePlate" r:blip="" rot="180">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type="chevron" r:blip="" rot="180">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srcNode" val="background"/>
                    <dgm:param type="dstNode" val="background2"/>
                    <dgm:param type="dim" val="1D"/>
                    <dgm:param type="endSty" val="noArr"/>
                    <dgm:param type="connRout" val="bend"/>
                    <dgm:param type="begPts" val="bCtr"/>
                    <dgm:param type="endPts" val="tCtr"/>
                    <dgm:param type="bendPt" val="end"/>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srcNode" val="background2"/>
                            <dgm:param type="dstNode" val="background3"/>
                            <dgm:param type="dim" val="1D"/>
                            <dgm:param type="endSty" val="noArr"/>
                            <dgm:param type="connRout" val="bend"/>
                            <dgm:param type="begPts" val="bCtr"/>
                            <dgm:param type="endPts" val="tCtr"/>
                            <dgm:param type="bendPt" val="end"/>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srcNode" val="background3"/>
                                        <dgm:param type="dstNode" val="background4"/>
                                        <dgm:param type="dim" val="1D"/>
                                        <dgm:param type="endSty" val="noArr"/>
                                        <dgm:param type="connRout" val="bend"/>
                                        <dgm:param type="begPts" val="bCtr"/>
                                        <dgm:param type="endPts" val="tCtr"/>
                                        <dgm:param type="bendPt" val="end"/>
                                      </dgm:alg>
                                    </dgm:if>
                                    <dgm:else name="Name26">
                                      <dgm:alg type="conn">
                                        <dgm:param type="srcNode" val="background4"/>
                                        <dgm:param type="dstNode" val="background4"/>
                                        <dgm:param type="dim" val="1D"/>
                                        <dgm:param type="endSty" val="noArr"/>
                                        <dgm:param type="connRout" val="bend"/>
                                        <dgm:param type="begPts" val="bCtr"/>
                                        <dgm:param type="endPts" val="tCtr"/>
                                        <dgm:param type="bendPt" val="end"/>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srcNode" val="background"/>
                    <dgm:param type="dstNode" val="background2"/>
                    <dgm:param type="dim" val="1D"/>
                    <dgm:param type="endSty" val="noArr"/>
                    <dgm:param type="connRout" val="bend"/>
                    <dgm:param type="begPts" val="bCtr"/>
                    <dgm:param type="endPts" val="tCtr"/>
                    <dgm:param type="bendPt" val="end"/>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srcNode" val="background2"/>
                            <dgm:param type="dstNode" val="background3"/>
                            <dgm:param type="dim" val="1D"/>
                            <dgm:param type="endSty" val="noArr"/>
                            <dgm:param type="connRout" val="bend"/>
                            <dgm:param type="begPts" val="bCtr"/>
                            <dgm:param type="endPts" val="tCtr"/>
                            <dgm:param type="bendPt" val="end"/>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srcNode" val="background3"/>
                                        <dgm:param type="dstNode" val="background4"/>
                                        <dgm:param type="dim" val="1D"/>
                                        <dgm:param type="endSty" val="noArr"/>
                                        <dgm:param type="connRout" val="bend"/>
                                        <dgm:param type="begPts" val="bCtr"/>
                                        <dgm:param type="endPts" val="tCtr"/>
                                        <dgm:param type="bendPt" val="end"/>
                                      </dgm:alg>
                                    </dgm:if>
                                    <dgm:else name="Name26">
                                      <dgm:alg type="conn">
                                        <dgm:param type="srcNode" val="background4"/>
                                        <dgm:param type="dstNode" val="background4"/>
                                        <dgm:param type="dim" val="1D"/>
                                        <dgm:param type="endSty" val="noArr"/>
                                        <dgm:param type="connRout" val="bend"/>
                                        <dgm:param type="begPts" val="bCtr"/>
                                        <dgm:param type="endPts" val="tCtr"/>
                                        <dgm:param type="bendPt" val="end"/>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1">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0">
        <a:scrgbClr r="0" g="0" b="0"/>
      </a:lnRef>
      <a:fillRef idx="1">
        <a:scrgbClr r="0" g="0" b="0"/>
      </a:fillRef>
      <a:effectRef idx="2">
        <a:scrgbClr r="0" g="0" b="0"/>
      </a:effectRef>
      <a:fontRef idx="minor"/>
    </dgm:style>
  </dgm:styleLbl>
  <dgm:styleLbl name="alignNode1">
    <dgm:scene3d>
      <a:camera prst="orthographicFront"/>
      <a:lightRig rig="threePt" dir="t"/>
    </dgm:scene3d>
    <dgm:txPr/>
    <dgm:style>
      <a:lnRef idx="1">
        <a:scrgbClr r="0" g="0" b="0"/>
      </a:lnRef>
      <a:fillRef idx="3">
        <a:scrgbClr r="0" g="0" b="0"/>
      </a:fillRef>
      <a:effectRef idx="2">
        <a:scrgbClr r="0" g="0" b="0"/>
      </a:effectRef>
      <a:fontRef idx="minor">
        <a:schemeClr val="lt1"/>
      </a:fontRef>
    </dgm:style>
  </dgm:styleLbl>
  <dgm:styleLbl name="asst0">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bg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1">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0">
        <a:scrgbClr r="0" g="0" b="0"/>
      </a:lnRef>
      <a:fillRef idx="1">
        <a:scrgbClr r="0" g="0" b="0"/>
      </a:fillRef>
      <a:effectRef idx="2">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1">
        <a:scrgbClr r="0" g="0" b="0"/>
      </a:effectRef>
      <a:fontRef idx="minor"/>
    </dgm:style>
  </dgm:styleLbl>
  <dgm:styleLbl name="conFg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2">
        <a:scrgbClr r="0" g="0" b="0"/>
      </a:effectRef>
      <a:fontRef idx="minor"/>
    </dgm:style>
  </dgm:styleLbl>
  <dgm:styleLbl name="fgAcc0">
    <dgm:scene3d>
      <a:camera prst="orthographicFront"/>
      <a:lightRig rig="threePt" dir="t"/>
    </dgm:scene3d>
    <dgm:txPr/>
    <dgm:style>
      <a:lnRef idx="1">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1">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0">
        <a:scrgbClr r="0" g="0" b="0"/>
      </a:lnRef>
      <a:fillRef idx="1">
        <a:scrgbClr r="0" g="0" b="0"/>
      </a:fillRef>
      <a:effectRef idx="2">
        <a:scrgbClr r="0" g="0" b="0"/>
      </a:effectRef>
      <a:fontRef idx="minor"/>
    </dgm:style>
  </dgm:styleLbl>
  <dgm:styleLbl name="fgShp">
    <dgm:scene3d>
      <a:camera prst="orthographicFront"/>
      <a:lightRig rig="threePt" dir="t"/>
    </dgm:scene3d>
    <dgm:txPr/>
    <dgm:style>
      <a:lnRef idx="0">
        <a:scrgbClr r="0" g="0" b="0"/>
      </a:lnRef>
      <a:fillRef idx="3">
        <a:scrgbClr r="0" g="0" b="0"/>
      </a:fillRef>
      <a:effectRef idx="2">
        <a:scrgbClr r="0" g="0" b="0"/>
      </a:effectRef>
      <a:fontRef idx="minor"/>
    </dgm:style>
  </dgm:styleLbl>
  <dgm:styleLbl name="fgSibTrans2D1">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txPr/>
    <dgm:style>
      <a:lnRef idx="1">
        <a:scrgbClr r="0" g="0" b="0"/>
      </a:lnRef>
      <a:fillRef idx="3">
        <a:scrgbClr r="0" g="0" b="0"/>
      </a:fillRef>
      <a:effectRef idx="2">
        <a:scrgbClr r="0" g="0" b="0"/>
      </a:effectRef>
      <a:fontRef idx="minor">
        <a:schemeClr val="lt1"/>
      </a:fontRef>
    </dgm:style>
  </dgm:styleLbl>
  <dgm:styleLbl name="node0">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1">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txPr/>
    <dgm:style>
      <a:lnRef idx="1">
        <a:scrgbClr r="0" g="0" b="0"/>
      </a:lnRef>
      <a:fillRef idx="3">
        <a:scrgbClr r="0" g="0" b="0"/>
      </a:fillRef>
      <a:effectRef idx="2">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solid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0">
        <a:scrgbClr r="0" g="0" b="0"/>
      </a:lnRef>
      <a:fillRef idx="3">
        <a:scrgbClr r="0" g="0" b="0"/>
      </a:fillRef>
      <a:effectRef idx="0">
        <a:scrgbClr r="0" g="0" b="0"/>
      </a:effectRef>
      <a:fontRef idx="minor">
        <a:schemeClr val="tx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1">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0">
        <a:scrgbClr r="0" g="0" b="0"/>
      </a:lnRef>
      <a:fillRef idx="1">
        <a:scrgbClr r="0" g="0" b="0"/>
      </a:fillRef>
      <a:effectRef idx="2">
        <a:scrgbClr r="0" g="0" b="0"/>
      </a:effectRef>
      <a:fontRef idx="minor"/>
    </dgm:style>
  </dgm:styleLbl>
  <dgm:styleLbl name="alignNode1">
    <dgm:scene3d>
      <a:camera prst="orthographicFront"/>
      <a:lightRig rig="threePt" dir="t"/>
    </dgm:scene3d>
    <dgm:txPr/>
    <dgm:style>
      <a:lnRef idx="1">
        <a:scrgbClr r="0" g="0" b="0"/>
      </a:lnRef>
      <a:fillRef idx="3">
        <a:scrgbClr r="0" g="0" b="0"/>
      </a:fillRef>
      <a:effectRef idx="2">
        <a:scrgbClr r="0" g="0" b="0"/>
      </a:effectRef>
      <a:fontRef idx="minor">
        <a:schemeClr val="lt1"/>
      </a:fontRef>
    </dgm:style>
  </dgm:styleLbl>
  <dgm:styleLbl name="asst0">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bg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1">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0">
        <a:scrgbClr r="0" g="0" b="0"/>
      </a:lnRef>
      <a:fillRef idx="1">
        <a:scrgbClr r="0" g="0" b="0"/>
      </a:fillRef>
      <a:effectRef idx="2">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1">
        <a:scrgbClr r="0" g="0" b="0"/>
      </a:effectRef>
      <a:fontRef idx="minor"/>
    </dgm:style>
  </dgm:styleLbl>
  <dgm:styleLbl name="conFg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2">
        <a:scrgbClr r="0" g="0" b="0"/>
      </a:effectRef>
      <a:fontRef idx="minor"/>
    </dgm:style>
  </dgm:styleLbl>
  <dgm:styleLbl name="fgAcc0">
    <dgm:scene3d>
      <a:camera prst="orthographicFront"/>
      <a:lightRig rig="threePt" dir="t"/>
    </dgm:scene3d>
    <dgm:txPr/>
    <dgm:style>
      <a:lnRef idx="1">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1">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0">
        <a:scrgbClr r="0" g="0" b="0"/>
      </a:lnRef>
      <a:fillRef idx="1">
        <a:scrgbClr r="0" g="0" b="0"/>
      </a:fillRef>
      <a:effectRef idx="2">
        <a:scrgbClr r="0" g="0" b="0"/>
      </a:effectRef>
      <a:fontRef idx="minor"/>
    </dgm:style>
  </dgm:styleLbl>
  <dgm:styleLbl name="fgShp">
    <dgm:scene3d>
      <a:camera prst="orthographicFront"/>
      <a:lightRig rig="threePt" dir="t"/>
    </dgm:scene3d>
    <dgm:txPr/>
    <dgm:style>
      <a:lnRef idx="0">
        <a:scrgbClr r="0" g="0" b="0"/>
      </a:lnRef>
      <a:fillRef idx="3">
        <a:scrgbClr r="0" g="0" b="0"/>
      </a:fillRef>
      <a:effectRef idx="2">
        <a:scrgbClr r="0" g="0" b="0"/>
      </a:effectRef>
      <a:fontRef idx="minor"/>
    </dgm:style>
  </dgm:styleLbl>
  <dgm:styleLbl name="fgSibTrans2D1">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txPr/>
    <dgm:style>
      <a:lnRef idx="1">
        <a:scrgbClr r="0" g="0" b="0"/>
      </a:lnRef>
      <a:fillRef idx="3">
        <a:scrgbClr r="0" g="0" b="0"/>
      </a:fillRef>
      <a:effectRef idx="2">
        <a:scrgbClr r="0" g="0" b="0"/>
      </a:effectRef>
      <a:fontRef idx="minor">
        <a:schemeClr val="lt1"/>
      </a:fontRef>
    </dgm:style>
  </dgm:styleLbl>
  <dgm:styleLbl name="node0">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1">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txPr/>
    <dgm:style>
      <a:lnRef idx="1">
        <a:scrgbClr r="0" g="0" b="0"/>
      </a:lnRef>
      <a:fillRef idx="3">
        <a:scrgbClr r="0" g="0" b="0"/>
      </a:fillRef>
      <a:effectRef idx="2">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3">
        <a:scrgbClr r="0" g="0" b="0"/>
      </a:fillRef>
      <a:effectRef idx="2">
        <a:scrgbClr r="0" g="0" b="0"/>
      </a:effectRef>
      <a:fontRef idx="minor">
        <a:schemeClr val="lt1"/>
      </a:fontRef>
    </dgm:style>
  </dgm:styleLbl>
  <dgm:styleLbl name="solid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0">
        <a:scrgbClr r="0" g="0" b="0"/>
      </a:lnRef>
      <a:fillRef idx="3">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6DFF0F-0F5D-467D-BE1D-1BFAA07C801B}"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639B56-7EE8-402D-B8B5-29A2765198B6}"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E639B56-7EE8-402D-B8B5-29A2765198B6}" type="slidenum">
              <a:rPr lang="en-US" smtClean="0"/>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E639B56-7EE8-402D-B8B5-29A2765198B6}" type="slidenum">
              <a:rPr lang="en-US" smtClean="0"/>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6.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5.png"/><Relationship Id="rId1" Type="http://schemas.openxmlformats.org/officeDocument/2006/relationships/image" Target="../media/image14.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8.png"/></Relationships>
</file>

<file path=ppt/slides/_rels/slide28.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microsoft.com/office/2007/relationships/diagramDrawing" Target="../diagrams/drawing1.xml"/><Relationship Id="rId4" Type="http://schemas.openxmlformats.org/officeDocument/2006/relationships/diagramColors" Target="../diagrams/colors1.xml"/><Relationship Id="rId3" Type="http://schemas.openxmlformats.org/officeDocument/2006/relationships/diagramQuickStyle" Target="../diagrams/quickStyle1.xml"/><Relationship Id="rId2" Type="http://schemas.openxmlformats.org/officeDocument/2006/relationships/diagramLayout" Target="../diagrams/layout1.xml"/><Relationship Id="rId1" Type="http://schemas.openxmlformats.org/officeDocument/2006/relationships/diagramData" Target="../diagrams/data1.xml"/></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0.xml.rels><?xml version="1.0" encoding="UTF-8" standalone="yes"?>
<Relationships xmlns="http://schemas.openxmlformats.org/package/2006/relationships"><Relationship Id="rId7" Type="http://schemas.openxmlformats.org/officeDocument/2006/relationships/notesSlide" Target="../notesSlides/notesSlide9.xml"/><Relationship Id="rId6" Type="http://schemas.openxmlformats.org/officeDocument/2006/relationships/slideLayout" Target="../slideLayouts/slideLayout2.xml"/><Relationship Id="rId5" Type="http://schemas.microsoft.com/office/2007/relationships/diagramDrawing" Target="../diagrams/drawing2.xml"/><Relationship Id="rId4" Type="http://schemas.openxmlformats.org/officeDocument/2006/relationships/diagramColors" Target="../diagrams/colors2.xml"/><Relationship Id="rId3" Type="http://schemas.openxmlformats.org/officeDocument/2006/relationships/diagramQuickStyle" Target="../diagrams/quickStyle2.xml"/><Relationship Id="rId2" Type="http://schemas.openxmlformats.org/officeDocument/2006/relationships/diagramLayout" Target="../diagrams/layout2.xml"/><Relationship Id="rId1" Type="http://schemas.openxmlformats.org/officeDocument/2006/relationships/diagramData" Target="../diagrams/data2.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image" Target="../media/image21.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2.png"/></Relationships>
</file>

<file path=ppt/slides/_rels/slide35.xml.rels><?xml version="1.0" encoding="UTF-8" standalone="yes"?>
<Relationships xmlns="http://schemas.openxmlformats.org/package/2006/relationships"><Relationship Id="rId7" Type="http://schemas.openxmlformats.org/officeDocument/2006/relationships/notesSlide" Target="../notesSlides/notesSlide13.xml"/><Relationship Id="rId6" Type="http://schemas.openxmlformats.org/officeDocument/2006/relationships/slideLayout" Target="../slideLayouts/slideLayout2.xml"/><Relationship Id="rId5" Type="http://schemas.microsoft.com/office/2007/relationships/diagramDrawing" Target="../diagrams/drawing3.xml"/><Relationship Id="rId4" Type="http://schemas.openxmlformats.org/officeDocument/2006/relationships/diagramColors" Target="../diagrams/colors3.xml"/><Relationship Id="rId3" Type="http://schemas.openxmlformats.org/officeDocument/2006/relationships/diagramQuickStyle" Target="../diagrams/quickStyle3.xml"/><Relationship Id="rId2" Type="http://schemas.openxmlformats.org/officeDocument/2006/relationships/diagramLayout" Target="../diagrams/layout3.xml"/><Relationship Id="rId1" Type="http://schemas.openxmlformats.org/officeDocument/2006/relationships/diagramData" Target="../diagrams/data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3.png"/></Relationships>
</file>

<file path=ppt/slides/_rels/slide3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5.png"/><Relationship Id="rId1" Type="http://schemas.openxmlformats.org/officeDocument/2006/relationships/image" Target="../media/image24.png"/></Relationships>
</file>

<file path=ppt/slides/_rels/slide3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6.png"/></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7.png"/></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8.png"/></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image" Target="../media/image29.png"/></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0.png"/></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image" Target="../media/image31.png"/></Relationships>
</file>

<file path=ppt/slides/_rels/slide45.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3.png"/></Relationships>
</file>

<file path=ppt/slides/_rels/slide5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4.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6.png"/></Relationships>
</file>

<file path=ppt/slides/_rels/slide6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8.png"/></Relationships>
</file>

<file path=ppt/slides/_rels/slide8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9.png"/></Relationships>
</file>

<file path=ppt/slides/_rels/slide8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0.png"/></Relationships>
</file>

<file path=ppt/slides/_rels/slide8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p:cNvSpPr>
            <a:spLocks noGrp="1" noRot="1" noChangeAspect="1" noMove="1" noResize="1" noEditPoints="1" noAdjustHandles="1" noChangeArrowheads="1" noChangeShapeType="1" noTextEdit="1"/>
          </p:cNvSpPr>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computer screen shot of a computer&#10;&#10;AI-generated content may be incorrect."/>
          <p:cNvPicPr>
            <a:picLocks noChangeAspect="1"/>
          </p:cNvPicPr>
          <p:nvPr/>
        </p:nvPicPr>
        <p:blipFill>
          <a:blip r:embed="rId1"/>
          <a:srcRect r="21041"/>
          <a:stretch>
            <a:fillRect/>
          </a:stretch>
        </p:blipFill>
        <p:spPr>
          <a:xfrm>
            <a:off x="1" y="10"/>
            <a:ext cx="9669642" cy="6857990"/>
          </a:xfrm>
          <a:prstGeom prst="rect">
            <a:avLst/>
          </a:prstGeom>
        </p:spPr>
      </p:pic>
      <p:sp>
        <p:nvSpPr>
          <p:cNvPr id="38" name="Rectangle 37"/>
          <p:cNvSpPr>
            <a:spLocks noGrp="1" noRot="1" noChangeAspect="1" noMove="1" noResize="1" noEditPoints="1" noAdjustHandles="1" noChangeArrowheads="1" noChangeShapeType="1" noTextEdit="1"/>
          </p:cNvSpPr>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7935401" y="753226"/>
            <a:ext cx="3997517" cy="3692028"/>
          </a:xfrm>
          <a:noFill/>
        </p:spPr>
        <p:txBody>
          <a:bodyPr>
            <a:normAutofit fontScale="90000"/>
          </a:bodyPr>
          <a:lstStyle/>
          <a:p>
            <a:pPr algn="r">
              <a:defRPr sz="6000" b="1">
                <a:solidFill>
                  <a:srgbClr val="38BDF8"/>
                </a:solidFill>
                <a:latin typeface="Urbanist" panose="020B0A04040200000203"/>
              </a:defRPr>
            </a:pPr>
            <a: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t>Operating System</a:t>
            </a:r>
            <a:b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br>
            <a: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t>Essential</a:t>
            </a:r>
            <a:b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br>
            <a: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t>for</a:t>
            </a:r>
            <a:b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br>
            <a: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t>Developers</a:t>
            </a:r>
            <a:endParaRPr lang="en-US"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endParaRPr>
          </a:p>
        </p:txBody>
      </p:sp>
      <p:sp>
        <p:nvSpPr>
          <p:cNvPr id="3" name="Subtitle 2"/>
          <p:cNvSpPr>
            <a:spLocks noGrp="1"/>
          </p:cNvSpPr>
          <p:nvPr>
            <p:ph type="subTitle" idx="1"/>
          </p:nvPr>
        </p:nvSpPr>
        <p:spPr>
          <a:xfrm>
            <a:off x="7935402" y="5372681"/>
            <a:ext cx="3997517" cy="1485319"/>
          </a:xfrm>
          <a:noFill/>
        </p:spPr>
        <p:txBody>
          <a:bodyPr>
            <a:normAutofit/>
          </a:bodyPr>
          <a:lstStyle/>
          <a:p>
            <a:pPr algn="r">
              <a:lnSpc>
                <a:spcPct val="90000"/>
              </a:lnSpc>
              <a:defRPr sz="2800">
                <a:solidFill>
                  <a:srgbClr val="CBD5E1"/>
                </a:solidFill>
                <a:latin typeface="Urbanist" panose="020B0A04040200000203"/>
              </a:defRPr>
            </a:pPr>
            <a:endParaRPr lang="en-US" altLang="ko-KR" sz="1600" dirty="0">
              <a:solidFill>
                <a:srgbClr val="002060"/>
              </a:solidFill>
            </a:endParaRPr>
          </a:p>
          <a:p>
            <a:pPr algn="r">
              <a:lnSpc>
                <a:spcPct val="90000"/>
              </a:lnSpc>
              <a:defRPr sz="2800">
                <a:solidFill>
                  <a:srgbClr val="CBD5E1"/>
                </a:solidFill>
                <a:latin typeface="Urbanist" panose="020B0A04040200000203"/>
              </a:defRPr>
            </a:pPr>
            <a:r>
              <a:rPr lang="en-US" altLang="ko-KR" sz="1600" dirty="0">
                <a:solidFill>
                  <a:srgbClr val="002060"/>
                </a:solidFill>
              </a:rPr>
              <a:t>Nguyen </a:t>
            </a:r>
            <a:r>
              <a:rPr lang="en-US" altLang="ko-KR" sz="1600" dirty="0" err="1">
                <a:solidFill>
                  <a:srgbClr val="002060"/>
                </a:solidFill>
              </a:rPr>
              <a:t>Thi</a:t>
            </a:r>
            <a:r>
              <a:rPr lang="en-US" altLang="ko-KR" sz="1600" dirty="0">
                <a:solidFill>
                  <a:srgbClr val="002060"/>
                </a:solidFill>
              </a:rPr>
              <a:t> Binh An</a:t>
            </a:r>
            <a:endParaRPr lang="en-US" altLang="ko-KR" sz="1600" dirty="0">
              <a:solidFill>
                <a:srgbClr val="002060"/>
              </a:solidFill>
            </a:endParaRPr>
          </a:p>
          <a:p>
            <a:pPr algn="r">
              <a:lnSpc>
                <a:spcPct val="90000"/>
              </a:lnSpc>
              <a:defRPr sz="2800">
                <a:solidFill>
                  <a:srgbClr val="CBD5E1"/>
                </a:solidFill>
                <a:latin typeface="Urbanist" panose="020B0A04040200000203"/>
              </a:defRPr>
            </a:pPr>
            <a:r>
              <a:rPr lang="en-US" altLang="ko-KR" sz="1600" dirty="0">
                <a:solidFill>
                  <a:srgbClr val="002060"/>
                </a:solidFill>
              </a:rPr>
              <a:t>D&amp;A Development Team</a:t>
            </a:r>
            <a:endParaRPr lang="en-US" altLang="ko-KR" sz="1600" dirty="0">
              <a:solidFill>
                <a:srgbClr val="002060"/>
              </a:solidFill>
            </a:endParaRPr>
          </a:p>
          <a:p>
            <a:pPr algn="r">
              <a:lnSpc>
                <a:spcPct val="90000"/>
              </a:lnSpc>
              <a:defRPr sz="2800">
                <a:solidFill>
                  <a:srgbClr val="CBD5E1"/>
                </a:solidFill>
                <a:latin typeface="Urbanist" panose="020B0A04040200000203"/>
              </a:defRPr>
            </a:pPr>
            <a:r>
              <a:rPr lang="en-US" altLang="ko-KR" sz="1600" dirty="0">
                <a:solidFill>
                  <a:srgbClr val="002060"/>
                </a:solidFill>
              </a:rPr>
              <a:t>LG CNS Vietnam Build Center</a:t>
            </a:r>
            <a:endParaRPr lang="en-US" altLang="ko-KR" sz="1600" dirty="0">
              <a:solidFill>
                <a:srgbClr val="00206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12192000" cy="6858000"/>
          </a:xfrm>
        </p:spPr>
        <p:txBody>
          <a:bodyPr>
            <a:normAutofit/>
          </a:bodyPr>
          <a:lstStyle/>
          <a:p>
            <a:pPr>
              <a:defRPr sz="6000" b="1">
                <a:solidFill>
                  <a:srgbClr val="38BDF8"/>
                </a:solidFill>
                <a:latin typeface="Urbanist" panose="020B0A04040200000203"/>
              </a:defRPr>
            </a:pPr>
            <a:r>
              <a:rPr lang="en-US" dirty="0"/>
              <a:t>#1: </a:t>
            </a:r>
            <a:r>
              <a:rPr lang="en-US" dirty="0" smtClean="0"/>
              <a:t>Introduction</a:t>
            </a:r>
            <a:br>
              <a:rPr lang="en-US" dirty="0" smtClean="0"/>
            </a:br>
            <a:r>
              <a:rPr lang="en-US" dirty="0" smtClean="0"/>
              <a:t>#2: CPU Scheduling</a:t>
            </a:r>
            <a:br>
              <a:rPr lang="en-US" dirty="0" smtClean="0"/>
            </a:br>
            <a:r>
              <a:rPr lang="en-US" dirty="0" smtClean="0"/>
              <a:t>#3: Memory Management</a:t>
            </a:r>
            <a:br>
              <a:rPr lang="en-US" dirty="0" smtClean="0"/>
            </a:br>
            <a:r>
              <a:rPr lang="en-US" dirty="0" smtClean="0"/>
              <a:t>#4: File System</a:t>
            </a:r>
            <a:br>
              <a:rPr lang="en-US" dirty="0" smtClean="0"/>
            </a:br>
            <a:r>
              <a:rPr lang="en-US" dirty="0" smtClean="0"/>
              <a:t>#5: Socket &amp; Networking</a:t>
            </a:r>
            <a:br>
              <a:rPr lang="en-US" dirty="0" smtClean="0"/>
            </a:br>
            <a:r>
              <a:rPr lang="en-US" dirty="0" smtClean="0"/>
              <a:t>#6: Environment Configuration</a:t>
            </a:r>
            <a:br>
              <a:rPr lang="en-US" dirty="0" smtClean="0"/>
            </a:br>
            <a:r>
              <a:rPr lang="en-US" dirty="0" smtClean="0"/>
              <a:t>#7: Practical Examples</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panose="020B0A04040200000203"/>
              </a:defRPr>
            </a:pPr>
            <a:r>
              <a:rPr lang="en-US" dirty="0"/>
              <a:t>#1: Introduction</a:t>
            </a:r>
            <a:endParaRPr dirty="0"/>
          </a:p>
        </p:txBody>
      </p:sp>
      <p:sp>
        <p:nvSpPr>
          <p:cNvPr id="3" name="Subtitle 2"/>
          <p:cNvSpPr>
            <a:spLocks noGrp="1"/>
          </p:cNvSpPr>
          <p:nvPr>
            <p:ph type="subTitle" idx="1"/>
          </p:nvPr>
        </p:nvSpPr>
        <p:spPr>
          <a:xfrm>
            <a:off x="1371599" y="3886200"/>
            <a:ext cx="9396919" cy="1752600"/>
          </a:xfrm>
        </p:spPr>
        <p:txBody>
          <a:bodyPr/>
          <a:lstStyle/>
          <a:p>
            <a:pPr>
              <a:defRPr sz="2800">
                <a:solidFill>
                  <a:srgbClr val="CBD5E1"/>
                </a:solidFill>
                <a:latin typeface="Urbanist" panose="020B0A04040200000203"/>
              </a:defRPr>
            </a:pPr>
            <a:r>
              <a:rPr lang="en-US" sz="2800" dirty="0"/>
              <a:t>Operating System – The world beneath your code</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panose="020B0A04040200000203"/>
              </a:defRPr>
            </a:pPr>
            <a:r>
              <a:rPr lang="en-US" dirty="0"/>
              <a:t>Operating System Fundamentals</a:t>
            </a:r>
            <a:endParaRPr dirty="0"/>
          </a:p>
        </p:txBody>
      </p:sp>
      <p:sp>
        <p:nvSpPr>
          <p:cNvPr id="3" name="Subtitle 2"/>
          <p:cNvSpPr>
            <a:spLocks noGrp="1"/>
          </p:cNvSpPr>
          <p:nvPr>
            <p:ph type="subTitle" idx="1"/>
          </p:nvPr>
        </p:nvSpPr>
        <p:spPr>
          <a:xfrm>
            <a:off x="0" y="3886200"/>
            <a:ext cx="12192000" cy="1752600"/>
          </a:xfrm>
        </p:spPr>
        <p:txBody>
          <a:bodyPr/>
          <a:lstStyle/>
          <a:p>
            <a:pPr>
              <a:defRPr sz="2800">
                <a:solidFill>
                  <a:srgbClr val="CBD5E1"/>
                </a:solidFill>
                <a:latin typeface="Urbanist" panose="020B0A04040200000203"/>
              </a:defRPr>
            </a:pPr>
            <a:r>
              <a:rPr lang="en-US" dirty="0"/>
              <a:t>Practical software development daily challenges</a:t>
            </a:r>
            <a:endParaRPr dirty="0"/>
          </a:p>
        </p:txBody>
      </p:sp>
      <p:pic>
        <p:nvPicPr>
          <p:cNvPr id="6" name="Picture 5"/>
          <p:cNvPicPr>
            <a:picLocks noChangeAspect="1"/>
          </p:cNvPicPr>
          <p:nvPr/>
        </p:nvPicPr>
        <p:blipFill>
          <a:blip r:embed="rId1"/>
          <a:stretch>
            <a:fillRect/>
          </a:stretch>
        </p:blipFill>
        <p:spPr>
          <a:xfrm>
            <a:off x="0" y="0"/>
            <a:ext cx="12192000" cy="685751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p:cNvSpPr>
            <a:spLocks noGrp="1" noRot="1" noChangeAspect="1" noMove="1" noResize="1" noEditPoints="1" noAdjustHandles="1" noChangeArrowheads="1" noChangeShapeType="1" noTextEdit="1"/>
          </p:cNvSpPr>
          <p:nvPr/>
        </p:nvSpPr>
        <p:spPr>
          <a:xfrm>
            <a:off x="3048" y="0"/>
            <a:ext cx="1218895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p:cNvSpPr>
            <a:spLocks noGrp="1" noRot="1" noChangeAspect="1" noMove="1" noResize="1" noEditPoints="1" noAdjustHandles="1" noChangeArrowheads="1" noChangeShapeType="1" noTextEdit="1"/>
          </p:cNvSpPr>
          <p:nvPr/>
        </p:nvSpPr>
        <p:spPr>
          <a:xfrm>
            <a:off x="0" y="0"/>
            <a:ext cx="12188952" cy="6858000"/>
          </a:xfrm>
          <a:prstGeom prst="rect">
            <a:avLst/>
          </a:prstGeom>
          <a:solidFill>
            <a:schemeClr val="tx1">
              <a:alpha val="5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p:cNvGrpSpPr>
            <a:grpSpLocks noGrp="1" noRot="1" noChangeAspect="1" noMove="1" noResize="1" noUngrp="1"/>
          </p:cNvGrpSpPr>
          <p:nvPr/>
        </p:nvGrpSpPr>
        <p:grpSpPr>
          <a:xfrm>
            <a:off x="1" y="2075420"/>
            <a:ext cx="12048729" cy="4093306"/>
            <a:chOff x="1" y="2075420"/>
            <a:chExt cx="12048729" cy="4093306"/>
          </a:xfrm>
        </p:grpSpPr>
        <p:sp>
          <p:nvSpPr>
            <p:cNvPr id="22" name="Oval 21"/>
            <p:cNvSpPr/>
            <p:nvPr/>
          </p:nvSpPr>
          <p:spPr>
            <a:xfrm rot="4500000">
              <a:off x="7942191" y="2507571"/>
              <a:ext cx="3563871" cy="3563871"/>
            </a:xfrm>
            <a:prstGeom prst="ellipse">
              <a:avLst/>
            </a:prstGeom>
            <a:noFill/>
            <a:ln w="31750">
              <a:gradFill>
                <a:gsLst>
                  <a:gs pos="0">
                    <a:schemeClr val="tx2">
                      <a:lumMod val="60000"/>
                      <a:lumOff val="40000"/>
                      <a:alpha val="1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p:cNvSpPr/>
            <p:nvPr/>
          </p:nvSpPr>
          <p:spPr>
            <a:xfrm rot="16200000">
              <a:off x="10435065" y="4048931"/>
              <a:ext cx="1381607" cy="1381607"/>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p:cNvSpPr/>
            <p:nvPr/>
          </p:nvSpPr>
          <p:spPr>
            <a:xfrm rot="16200000">
              <a:off x="1" y="2075420"/>
              <a:ext cx="3144364" cy="3144364"/>
            </a:xfrm>
            <a:prstGeom prst="ellipse">
              <a:avLst/>
            </a:prstGeom>
            <a:gradFill>
              <a:gsLst>
                <a:gs pos="0">
                  <a:schemeClr val="tx2">
                    <a:lumMod val="75000"/>
                    <a:alpha val="20000"/>
                  </a:schemeClr>
                </a:gs>
                <a:gs pos="100000">
                  <a:schemeClr val="tx2">
                    <a:lumMod val="5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p:cNvSpPr/>
            <p:nvPr/>
          </p:nvSpPr>
          <p:spPr>
            <a:xfrm rot="12600000">
              <a:off x="10150845" y="4270841"/>
              <a:ext cx="1897885" cy="1897885"/>
            </a:xfrm>
            <a:prstGeom prst="ellipse">
              <a:avLst/>
            </a:prstGeom>
            <a:gradFill>
              <a:gsLst>
                <a:gs pos="0">
                  <a:schemeClr val="tx2">
                    <a:lumMod val="75000"/>
                    <a:alpha val="10000"/>
                  </a:schemeClr>
                </a:gs>
                <a:gs pos="100000">
                  <a:schemeClr val="tx2">
                    <a:lumMod val="75000"/>
                    <a:alpha val="2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25"/>
            <p:cNvSpPr/>
            <p:nvPr/>
          </p:nvSpPr>
          <p:spPr>
            <a:xfrm rot="4500000">
              <a:off x="2046780" y="3040492"/>
              <a:ext cx="2579322" cy="2579322"/>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p:cNvSpPr/>
            <p:nvPr/>
          </p:nvSpPr>
          <p:spPr>
            <a:xfrm rot="4500000">
              <a:off x="2224640" y="3193975"/>
              <a:ext cx="2243193" cy="2243193"/>
            </a:xfrm>
            <a:prstGeom prst="ellipse">
              <a:avLst/>
            </a:prstGeom>
            <a:noFill/>
            <a:ln w="31750">
              <a:gradFill>
                <a:gsLst>
                  <a:gs pos="0">
                    <a:schemeClr val="tx2">
                      <a:lumMod val="60000"/>
                      <a:lumOff val="40000"/>
                      <a:alpha val="10000"/>
                    </a:schemeClr>
                  </a:gs>
                  <a:gs pos="100000">
                    <a:schemeClr val="tx2">
                      <a:lumMod val="50000"/>
                      <a:alpha val="1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 name="Rectangle 28"/>
          <p:cNvSpPr>
            <a:spLocks noGrp="1" noRot="1" noChangeAspect="1" noMove="1" noResize="1" noEditPoints="1" noAdjustHandles="1" noChangeArrowheads="1" noChangeShapeType="1" noTextEdit="1"/>
          </p:cNvSpPr>
          <p:nvPr/>
        </p:nvSpPr>
        <p:spPr>
          <a:xfrm rot="16200000">
            <a:off x="10438146" y="1042605"/>
            <a:ext cx="2796461" cy="711252"/>
          </a:xfrm>
          <a:prstGeom prst="rect">
            <a:avLst/>
          </a:prstGeom>
          <a:gradFill flip="none" rotWithShape="1">
            <a:gsLst>
              <a:gs pos="0">
                <a:schemeClr val="tx2">
                  <a:lumMod val="40000"/>
                  <a:lumOff val="60000"/>
                  <a:alpha val="0"/>
                </a:schemeClr>
              </a:gs>
              <a:gs pos="100000">
                <a:schemeClr val="tx2">
                  <a:lumMod val="75000"/>
                  <a:alpha val="1000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p:cNvGrpSpPr>
            <a:grpSpLocks noGrp="1" noRot="1" noChangeAspect="1" noMove="1" noResize="1" noUngrp="1"/>
          </p:cNvGrpSpPr>
          <p:nvPr/>
        </p:nvGrpSpPr>
        <p:grpSpPr>
          <a:xfrm>
            <a:off x="11259539" y="317578"/>
            <a:ext cx="548640" cy="549007"/>
            <a:chOff x="7029447" y="3514725"/>
            <a:chExt cx="1285875" cy="549007"/>
          </a:xfrm>
        </p:grpSpPr>
        <p:cxnSp>
          <p:nvCxnSpPr>
            <p:cNvPr id="32" name="Straight Connector 31"/>
            <p:cNvCxnSpPr/>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20" name="Straight Connector 33"/>
            <p:cNvCxnSpPr/>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37" name="Rectangle 36"/>
          <p:cNvSpPr>
            <a:spLocks noGrp="1" noRot="1" noChangeAspect="1" noMove="1" noResize="1" noEditPoints="1" noAdjustHandles="1" noChangeArrowheads="1" noChangeShapeType="1" noTextEdit="1"/>
          </p:cNvSpPr>
          <p:nvPr/>
        </p:nvSpPr>
        <p:spPr>
          <a:xfrm rot="10800000">
            <a:off x="-1" y="6140785"/>
            <a:ext cx="6095997" cy="711252"/>
          </a:xfrm>
          <a:prstGeom prst="rect">
            <a:avLst/>
          </a:prstGeom>
          <a:gradFill flip="none" rotWithShape="1">
            <a:gsLst>
              <a:gs pos="10000">
                <a:schemeClr val="tx2">
                  <a:lumMod val="50000"/>
                  <a:alpha val="10000"/>
                </a:schemeClr>
              </a:gs>
              <a:gs pos="100000">
                <a:schemeClr val="tx2">
                  <a:lumMod val="60000"/>
                  <a:lumOff val="40000"/>
                  <a:alpha val="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9" name="Group 38"/>
          <p:cNvGrpSpPr>
            <a:grpSpLocks noGrp="1" noRot="1" noChangeAspect="1" noMove="1" noResize="1" noUngrp="1"/>
          </p:cNvGrpSpPr>
          <p:nvPr/>
        </p:nvGrpSpPr>
        <p:grpSpPr>
          <a:xfrm rot="5400000">
            <a:off x="616345" y="5940560"/>
            <a:ext cx="1285875" cy="549007"/>
            <a:chOff x="7029447" y="3514725"/>
            <a:chExt cx="1285875" cy="549007"/>
          </a:xfrm>
        </p:grpSpPr>
        <p:cxnSp>
          <p:nvCxnSpPr>
            <p:cNvPr id="40" name="Straight Connector 39"/>
            <p:cNvCxnSpPr/>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0" name="Straight Connector 41"/>
            <p:cNvCxnSpPr/>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title"/>
          </p:nvPr>
        </p:nvSpPr>
        <p:spPr>
          <a:xfrm>
            <a:off x="630935" y="4018137"/>
            <a:ext cx="5071221" cy="2129586"/>
          </a:xfrm>
          <a:noFill/>
        </p:spPr>
        <p:txBody>
          <a:bodyPr anchor="t">
            <a:normAutofit/>
          </a:bodyPr>
          <a:lstStyle/>
          <a:p>
            <a:pPr algn="l">
              <a:defRPr sz="4400" b="1">
                <a:solidFill>
                  <a:srgbClr val="F1F5F9"/>
                </a:solidFill>
                <a:latin typeface="Urbanist" panose="020B0A04040200000203"/>
              </a:defRPr>
            </a:pPr>
            <a:r>
              <a:rPr lang="en-US" sz="4800" dirty="0">
                <a:solidFill>
                  <a:schemeClr val="bg1"/>
                </a:solidFill>
              </a:rPr>
              <a:t>Operating System Roles</a:t>
            </a:r>
            <a:endParaRPr lang="en-US" sz="4800" dirty="0">
              <a:solidFill>
                <a:schemeClr val="bg1"/>
              </a:solidFill>
            </a:endParaRPr>
          </a:p>
        </p:txBody>
      </p:sp>
      <p:pic>
        <p:nvPicPr>
          <p:cNvPr id="12" name="그림 11"/>
          <p:cNvPicPr>
            <a:picLocks noChangeAspect="1"/>
          </p:cNvPicPr>
          <p:nvPr/>
        </p:nvPicPr>
        <p:blipFill>
          <a:blip r:embed="rId1"/>
          <a:stretch>
            <a:fillRect/>
          </a:stretch>
        </p:blipFill>
        <p:spPr>
          <a:xfrm>
            <a:off x="631359" y="854358"/>
            <a:ext cx="10843065" cy="2792089"/>
          </a:xfrm>
          <a:prstGeom prst="rect">
            <a:avLst/>
          </a:prstGeom>
        </p:spPr>
      </p:pic>
      <p:grpSp>
        <p:nvGrpSpPr>
          <p:cNvPr id="45" name="Group 44"/>
          <p:cNvGrpSpPr>
            <a:grpSpLocks noGrp="1" noRot="1" noChangeAspect="1" noMove="1" noResize="1" noUngrp="1"/>
          </p:cNvGrpSpPr>
          <p:nvPr/>
        </p:nvGrpSpPr>
        <p:grpSpPr>
          <a:xfrm rot="16200000">
            <a:off x="474192" y="776904"/>
            <a:ext cx="304800" cy="429768"/>
            <a:chOff x="215328" y="-46937"/>
            <a:chExt cx="304800" cy="2773841"/>
          </a:xfrm>
        </p:grpSpPr>
        <p:cxnSp>
          <p:nvCxnSpPr>
            <p:cNvPr id="46" name="Straight Connector 45"/>
            <p:cNvCxnSpPr/>
            <p:nvPr/>
          </p:nvCxnSpPr>
          <p:spPr>
            <a:xfrm>
              <a:off x="2153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a:off x="3169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47"/>
            <p:cNvCxnSpPr/>
            <p:nvPr/>
          </p:nvCxnSpPr>
          <p:spPr>
            <a:xfrm>
              <a:off x="4185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201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51" name="Oval 50"/>
          <p:cNvSpPr>
            <a:spLocks noGrp="1" noRot="1" noChangeAspect="1" noMove="1" noResize="1" noEditPoints="1" noAdjustHandles="1" noChangeArrowheads="1" noChangeShapeType="1" noTextEdit="1"/>
          </p:cNvSpPr>
          <p:nvPr/>
        </p:nvSpPr>
        <p:spPr>
          <a:xfrm rot="12600000">
            <a:off x="10150845" y="4270841"/>
            <a:ext cx="1897885" cy="1897885"/>
          </a:xfrm>
          <a:prstGeom prst="ellipse">
            <a:avLst/>
          </a:prstGeom>
          <a:gradFill>
            <a:gsLst>
              <a:gs pos="0">
                <a:schemeClr val="tx2">
                  <a:lumMod val="75000"/>
                  <a:alpha val="10000"/>
                </a:schemeClr>
              </a:gs>
              <a:gs pos="100000">
                <a:schemeClr val="tx2">
                  <a:lumMod val="60000"/>
                  <a:lumOff val="4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5925304" y="4018143"/>
            <a:ext cx="5549111" cy="2129599"/>
          </a:xfrm>
          <a:noFill/>
        </p:spPr>
        <p:txBody>
          <a:bodyPr anchor="t">
            <a:normAutofit/>
          </a:bodyPr>
          <a:lstStyle/>
          <a:p>
            <a:pPr>
              <a:lnSpc>
                <a:spcPct val="90000"/>
              </a:lnSpc>
              <a:spcAft>
                <a:spcPts val="1400"/>
              </a:spcAft>
              <a:buFontTx/>
              <a:buChar char="-"/>
              <a:defRPr sz="2200">
                <a:solidFill>
                  <a:srgbClr val="CBD5E1"/>
                </a:solidFill>
                <a:latin typeface="Urbanist" panose="020B0A04040200000203"/>
              </a:defRPr>
            </a:pPr>
            <a:r>
              <a:rPr lang="en-US" sz="1800">
                <a:solidFill>
                  <a:schemeClr val="bg1"/>
                </a:solidFill>
              </a:rPr>
              <a:t>A program provide an easy way to execute application program, interface between apps and computer hardware</a:t>
            </a:r>
            <a:endParaRPr lang="en-US" sz="1800">
              <a:solidFill>
                <a:schemeClr val="bg1"/>
              </a:solidFill>
            </a:endParaRPr>
          </a:p>
          <a:p>
            <a:pPr>
              <a:lnSpc>
                <a:spcPct val="90000"/>
              </a:lnSpc>
              <a:spcAft>
                <a:spcPts val="1400"/>
              </a:spcAft>
              <a:buFontTx/>
              <a:buChar char="-"/>
              <a:defRPr sz="2200">
                <a:solidFill>
                  <a:srgbClr val="CBD5E1"/>
                </a:solidFill>
                <a:latin typeface="Urbanist" panose="020B0A04040200000203"/>
              </a:defRPr>
            </a:pPr>
            <a:r>
              <a:rPr lang="en-US" sz="1800">
                <a:solidFill>
                  <a:schemeClr val="bg1"/>
                </a:solidFill>
              </a:rPr>
              <a:t>Resource manager : CPU, Memory, I/O Devices …</a:t>
            </a:r>
            <a:endParaRPr lang="en-US" sz="1800">
              <a:solidFill>
                <a:schemeClr val="bg1"/>
              </a:solidFill>
            </a:endParaRPr>
          </a:p>
          <a:p>
            <a:pPr>
              <a:lnSpc>
                <a:spcPct val="90000"/>
              </a:lnSpc>
              <a:spcAft>
                <a:spcPts val="1400"/>
              </a:spcAft>
              <a:buFontTx/>
              <a:buChar char="-"/>
              <a:defRPr sz="2200">
                <a:solidFill>
                  <a:srgbClr val="CBD5E1"/>
                </a:solidFill>
                <a:latin typeface="Urbanist" panose="020B0A04040200000203"/>
              </a:defRPr>
            </a:pPr>
            <a:r>
              <a:rPr lang="en-US" sz="1800">
                <a:solidFill>
                  <a:schemeClr val="bg1"/>
                </a:solidFill>
              </a:rPr>
              <a:t>Provide set of utilities system functions to facilitates and simplifies application programing</a:t>
            </a:r>
            <a:endParaRPr lang="en-US" sz="1800">
              <a:solidFill>
                <a:schemeClr val="bg1"/>
              </a:solidFill>
            </a:endParaRPr>
          </a:p>
        </p:txBody>
      </p:sp>
      <p:sp>
        <p:nvSpPr>
          <p:cNvPr id="4" name="AutoShape 2"/>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ko-KR" altLang="en-US"/>
          </a:p>
        </p:txBody>
      </p:sp>
      <p:sp>
        <p:nvSpPr>
          <p:cNvPr id="5" name="AutoShape 4"/>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panose="020B0A04040200000203"/>
              </a:defRPr>
            </a:pPr>
            <a:r>
              <a:rPr lang="en-US" dirty="0"/>
              <a:t>Operating System Fundamentals</a:t>
            </a:r>
            <a:endParaRPr dirty="0"/>
          </a:p>
        </p:txBody>
      </p:sp>
      <p:sp>
        <p:nvSpPr>
          <p:cNvPr id="3" name="Subtitle 2"/>
          <p:cNvSpPr>
            <a:spLocks noGrp="1"/>
          </p:cNvSpPr>
          <p:nvPr>
            <p:ph type="subTitle" idx="1"/>
          </p:nvPr>
        </p:nvSpPr>
        <p:spPr>
          <a:xfrm>
            <a:off x="0" y="3886200"/>
            <a:ext cx="12192000" cy="1752600"/>
          </a:xfrm>
        </p:spPr>
        <p:txBody>
          <a:bodyPr/>
          <a:lstStyle/>
          <a:p>
            <a:pPr>
              <a:defRPr sz="2800">
                <a:solidFill>
                  <a:srgbClr val="CBD5E1"/>
                </a:solidFill>
                <a:latin typeface="Urbanist" panose="020B0A04040200000203"/>
              </a:defRPr>
            </a:pPr>
            <a:r>
              <a:rPr lang="en-US" dirty="0"/>
              <a:t>Practical software development daily challenges</a:t>
            </a:r>
            <a:endParaRPr dirty="0"/>
          </a:p>
        </p:txBody>
      </p:sp>
      <p:pic>
        <p:nvPicPr>
          <p:cNvPr id="4" name="Picture 3"/>
          <p:cNvPicPr>
            <a:picLocks noChangeAspect="1"/>
          </p:cNvPicPr>
          <p:nvPr/>
        </p:nvPicPr>
        <p:blipFill>
          <a:blip r:embed="rId1"/>
          <a:stretch>
            <a:fillRect/>
          </a:stretch>
        </p:blipFill>
        <p:spPr>
          <a:xfrm>
            <a:off x="218574" y="708498"/>
            <a:ext cx="11758569" cy="512809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1641752"/>
            <a:ext cx="4391025" cy="1323439"/>
          </a:xfrm>
        </p:spPr>
        <p:txBody>
          <a:bodyPr anchor="t">
            <a:normAutofit/>
          </a:bodyPr>
          <a:lstStyle/>
          <a:p>
            <a:pPr>
              <a:defRPr sz="4400" b="1">
                <a:solidFill>
                  <a:srgbClr val="F1F5F9"/>
                </a:solidFill>
                <a:latin typeface="Urbanist" panose="020B0A04040200000203"/>
              </a:defRPr>
            </a:pPr>
            <a:r>
              <a:rPr lang="en-US" sz="4000" dirty="0">
                <a:solidFill>
                  <a:schemeClr val="bg1"/>
                </a:solidFill>
              </a:rPr>
              <a:t>System Call Definition</a:t>
            </a:r>
            <a:endParaRPr lang="en-US" sz="4000" dirty="0">
              <a:solidFill>
                <a:schemeClr val="bg1"/>
              </a:solidFill>
            </a:endParaRPr>
          </a:p>
        </p:txBody>
      </p:sp>
      <p:sp>
        <p:nvSpPr>
          <p:cNvPr id="3" name="Content Placeholder 2"/>
          <p:cNvSpPr>
            <a:spLocks noGrp="1"/>
          </p:cNvSpPr>
          <p:nvPr>
            <p:ph idx="1"/>
          </p:nvPr>
        </p:nvSpPr>
        <p:spPr>
          <a:xfrm>
            <a:off x="49916" y="3075505"/>
            <a:ext cx="4269853" cy="2454300"/>
          </a:xfrm>
        </p:spPr>
        <p:txBody>
          <a:bodyPr>
            <a:normAutofit fontScale="92500" lnSpcReduction="10000"/>
          </a:bodyPr>
          <a:lstStyle/>
          <a:p>
            <a:pPr>
              <a:spcAft>
                <a:spcPts val="1400"/>
              </a:spcAft>
              <a:buFontTx/>
              <a:buChar char="-"/>
              <a:defRPr sz="2200">
                <a:solidFill>
                  <a:srgbClr val="CBD5E1"/>
                </a:solidFill>
                <a:latin typeface="Urbanist" panose="020B0A04040200000203"/>
              </a:defRPr>
            </a:pPr>
            <a:r>
              <a:rPr lang="en-US" altLang="ko-KR" sz="2200" dirty="0">
                <a:solidFill>
                  <a:schemeClr val="bg1">
                    <a:alpha val="80000"/>
                  </a:schemeClr>
                </a:solidFill>
              </a:rPr>
              <a:t>The programming interface called applications, the bridge between User Mode and Kernel Mode, so the application can interact </a:t>
            </a:r>
            <a:endParaRPr lang="en-US" altLang="ko-KR" sz="2200" dirty="0">
              <a:solidFill>
                <a:schemeClr val="bg1">
                  <a:alpha val="80000"/>
                </a:schemeClr>
              </a:solidFill>
            </a:endParaRPr>
          </a:p>
          <a:p>
            <a:pPr>
              <a:spcAft>
                <a:spcPts val="1400"/>
              </a:spcAft>
              <a:buFontTx/>
              <a:buChar char="-"/>
              <a:defRPr sz="2200">
                <a:solidFill>
                  <a:srgbClr val="CBD5E1"/>
                </a:solidFill>
                <a:latin typeface="Urbanist" panose="020B0A04040200000203"/>
              </a:defRPr>
            </a:pPr>
            <a:r>
              <a:rPr lang="en-US" altLang="ko-KR" sz="2200" dirty="0">
                <a:solidFill>
                  <a:schemeClr val="bg1">
                    <a:alpha val="80000"/>
                  </a:schemeClr>
                </a:solidFill>
              </a:rPr>
              <a:t>Excessive system calls in tight loops cause performance issues.</a:t>
            </a:r>
            <a:endParaRPr lang="en-US" sz="2200" dirty="0">
              <a:solidFill>
                <a:schemeClr val="bg1">
                  <a:alpha val="80000"/>
                </a:schemeClr>
              </a:solidFill>
            </a:endParaRPr>
          </a:p>
        </p:txBody>
      </p:sp>
      <p:pic>
        <p:nvPicPr>
          <p:cNvPr id="10" name="그림 9"/>
          <p:cNvPicPr>
            <a:picLocks noChangeAspect="1"/>
          </p:cNvPicPr>
          <p:nvPr/>
        </p:nvPicPr>
        <p:blipFill>
          <a:blip r:embed="rId1"/>
          <a:stretch>
            <a:fillRect/>
          </a:stretch>
        </p:blipFill>
        <p:spPr>
          <a:xfrm>
            <a:off x="4369684" y="1221867"/>
            <a:ext cx="7772400" cy="47434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panose="020B0A04040200000203"/>
              </a:defRPr>
            </a:pPr>
            <a:r>
              <a:rPr lang="en-US" dirty="0"/>
              <a:t>#2: CPU Scheduling</a:t>
            </a:r>
            <a:endParaRPr dirty="0"/>
          </a:p>
        </p:txBody>
      </p:sp>
      <p:sp>
        <p:nvSpPr>
          <p:cNvPr id="3" name="Subtitle 2"/>
          <p:cNvSpPr>
            <a:spLocks noGrp="1"/>
          </p:cNvSpPr>
          <p:nvPr>
            <p:ph type="subTitle" idx="1"/>
          </p:nvPr>
        </p:nvSpPr>
        <p:spPr>
          <a:xfrm>
            <a:off x="1371599" y="3886200"/>
            <a:ext cx="9396919" cy="1752600"/>
          </a:xfrm>
        </p:spPr>
        <p:txBody>
          <a:bodyPr/>
          <a:lstStyle/>
          <a:p>
            <a:pPr>
              <a:defRPr sz="2800">
                <a:solidFill>
                  <a:srgbClr val="CBD5E1"/>
                </a:solidFill>
                <a:latin typeface="Urbanist" panose="020B0A04040200000203"/>
              </a:defRPr>
            </a:pPr>
            <a:r>
              <a:rPr lang="en-US" sz="2800" dirty="0"/>
              <a:t>How the brain of computer executing the code</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3" name="그림 2"/>
          <p:cNvPicPr>
            <a:picLocks noChangeAspect="1"/>
          </p:cNvPicPr>
          <p:nvPr/>
        </p:nvPicPr>
        <p:blipFill>
          <a:blip r:embed="rId1"/>
          <a:stretch>
            <a:fillRect/>
          </a:stretch>
        </p:blipFill>
        <p:spPr>
          <a:xfrm>
            <a:off x="259914" y="0"/>
            <a:ext cx="11672172"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3"/>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Shape 15"/>
          <p:cNvSpPr>
            <a:spLocks noGrp="1" noRot="1" noChangeAspect="1" noMove="1" noResize="1" noEditPoints="1" noAdjustHandles="1" noChangeArrowheads="1" noChangeShapeType="1" noTextEdit="1"/>
          </p:cNvSpPr>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p:cNvSpPr>
            <a:spLocks noGrp="1" noRot="1" noChangeAspect="1" noMove="1" noResize="1" noEditPoints="1" noAdjustHandles="1" noChangeArrowheads="1" noChangeShapeType="1" noTextEdit="1"/>
          </p:cNvSpPr>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a:spLocks noGrp="1" noRot="1" noChangeAspect="1" noMove="1" noResize="1" noEditPoints="1" noAdjustHandles="1" noChangeArrowheads="1" noChangeShapeType="1" noTextEdit="1"/>
          </p:cNvSpPr>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p:cNvSpPr>
            <a:spLocks noGrp="1" noRot="1" noChangeAspect="1" noMove="1" noResize="1" noEditPoints="1" noAdjustHandles="1" noChangeArrowheads="1" noChangeShapeType="1" noTextEdit="1"/>
          </p:cNvSpPr>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Isosceles Triangle 23"/>
          <p:cNvSpPr>
            <a:spLocks noGrp="1" noRot="1" noChangeAspect="1" noMove="1" noResize="1" noEditPoints="1" noAdjustHandles="1" noChangeArrowheads="1" noChangeShapeType="1" noTextEdit="1"/>
          </p:cNvSpPr>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그림 8" descr="텍스트, 스크린샷, 원, 라인이(가) 표시된 사진&#10;&#10;AI 생성 콘텐츠는 정확하지 않을 수 있습니다."/>
          <p:cNvPicPr>
            <a:picLocks noChangeAspect="1"/>
          </p:cNvPicPr>
          <p:nvPr/>
        </p:nvPicPr>
        <p:blipFill>
          <a:blip r:embed="rId1"/>
          <a:stretch>
            <a:fillRect/>
          </a:stretch>
        </p:blipFill>
        <p:spPr>
          <a:xfrm>
            <a:off x="961376" y="643467"/>
            <a:ext cx="10269247" cy="5571065"/>
          </a:xfrm>
          <a:prstGeom prst="rect">
            <a:avLst/>
          </a:prstGeom>
          <a:ln>
            <a:noFill/>
          </a:ln>
        </p:spPr>
      </p:pic>
      <p:sp>
        <p:nvSpPr>
          <p:cNvPr id="26" name="Isosceles Triangle 25"/>
          <p:cNvSpPr>
            <a:spLocks noGrp="1" noRot="1" noChangeAspect="1" noMove="1" noResize="1" noEditPoints="1" noAdjustHandles="1" noChangeArrowheads="1" noChangeShapeType="1" noTextEdit="1"/>
          </p:cNvSpPr>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3"/>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Shape 15"/>
          <p:cNvSpPr>
            <a:spLocks noGrp="1" noRot="1" noChangeAspect="1" noMove="1" noResize="1" noEditPoints="1" noAdjustHandles="1" noChangeArrowheads="1" noChangeShapeType="1" noTextEdit="1"/>
          </p:cNvSpPr>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p:cNvSpPr>
            <a:spLocks noGrp="1" noRot="1" noChangeAspect="1" noMove="1" noResize="1" noEditPoints="1" noAdjustHandles="1" noChangeArrowheads="1" noChangeShapeType="1" noTextEdit="1"/>
          </p:cNvSpPr>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a:spLocks noGrp="1" noRot="1" noChangeAspect="1" noMove="1" noResize="1" noEditPoints="1" noAdjustHandles="1" noChangeArrowheads="1" noChangeShapeType="1" noTextEdit="1"/>
          </p:cNvSpPr>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p:cNvSpPr>
            <a:spLocks noGrp="1" noRot="1" noChangeAspect="1" noMove="1" noResize="1" noEditPoints="1" noAdjustHandles="1" noChangeArrowheads="1" noChangeShapeType="1" noTextEdit="1"/>
          </p:cNvSpPr>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Isosceles Triangle 23"/>
          <p:cNvSpPr>
            <a:spLocks noGrp="1" noRot="1" noChangeAspect="1" noMove="1" noResize="1" noEditPoints="1" noAdjustHandles="1" noChangeArrowheads="1" noChangeShapeType="1" noTextEdit="1"/>
          </p:cNvSpPr>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Isosceles Triangle 25"/>
          <p:cNvSpPr>
            <a:spLocks noGrp="1" noRot="1" noChangeAspect="1" noMove="1" noResize="1" noEditPoints="1" noAdjustHandles="1" noChangeArrowheads="1" noChangeShapeType="1" noTextEdit="1"/>
          </p:cNvSpPr>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그림 1"/>
          <p:cNvPicPr>
            <a:picLocks noChangeAspect="1"/>
          </p:cNvPicPr>
          <p:nvPr/>
        </p:nvPicPr>
        <p:blipFill>
          <a:blip r:embed="rId1"/>
          <a:srcRect r="340" b="-1"/>
          <a:stretch>
            <a:fillRect/>
          </a:stretch>
        </p:blipFill>
        <p:spPr>
          <a:xfrm>
            <a:off x="577637" y="424330"/>
            <a:ext cx="11036726" cy="5869478"/>
          </a:xfrm>
          <a:custGeom>
            <a:avLst/>
            <a:gdLst/>
            <a:ahLst/>
            <a:cxnLst/>
            <a:rect l="l" t="t" r="r" b="b"/>
            <a:pathLst>
              <a:path w="10630858" h="5869478">
                <a:moveTo>
                  <a:pt x="5791061" y="218"/>
                </a:moveTo>
                <a:cubicBezTo>
                  <a:pt x="5877327" y="-560"/>
                  <a:pt x="5971399" y="626"/>
                  <a:pt x="6073275" y="5793"/>
                </a:cubicBezTo>
                <a:cubicBezTo>
                  <a:pt x="6098744" y="7086"/>
                  <a:pt x="6121786" y="8165"/>
                  <a:pt x="6142651" y="9057"/>
                </a:cubicBezTo>
                <a:lnTo>
                  <a:pt x="6164185" y="9874"/>
                </a:lnTo>
                <a:lnTo>
                  <a:pt x="6258731" y="5793"/>
                </a:lnTo>
                <a:lnTo>
                  <a:pt x="6319194" y="2002"/>
                </a:lnTo>
                <a:lnTo>
                  <a:pt x="6413049" y="11772"/>
                </a:lnTo>
                <a:cubicBezTo>
                  <a:pt x="6592720" y="42783"/>
                  <a:pt x="6774188" y="66100"/>
                  <a:pt x="6956654" y="46745"/>
                </a:cubicBezTo>
                <a:cubicBezTo>
                  <a:pt x="7082424" y="33223"/>
                  <a:pt x="7207994" y="25294"/>
                  <a:pt x="7334364" y="25763"/>
                </a:cubicBezTo>
                <a:cubicBezTo>
                  <a:pt x="7624835" y="25763"/>
                  <a:pt x="7915502" y="28559"/>
                  <a:pt x="8205974" y="22730"/>
                </a:cubicBezTo>
                <a:cubicBezTo>
                  <a:pt x="8464499" y="17601"/>
                  <a:pt x="8722029" y="6412"/>
                  <a:pt x="8980756" y="34620"/>
                </a:cubicBezTo>
                <a:cubicBezTo>
                  <a:pt x="9362658" y="76124"/>
                  <a:pt x="9746556" y="62832"/>
                  <a:pt x="10129655" y="57937"/>
                </a:cubicBezTo>
                <a:lnTo>
                  <a:pt x="10163726" y="56766"/>
                </a:lnTo>
                <a:lnTo>
                  <a:pt x="10254950" y="73131"/>
                </a:lnTo>
                <a:lnTo>
                  <a:pt x="10311819" y="101928"/>
                </a:lnTo>
                <a:cubicBezTo>
                  <a:pt x="10479504" y="200737"/>
                  <a:pt x="10591476" y="367254"/>
                  <a:pt x="10625532" y="561669"/>
                </a:cubicBezTo>
                <a:lnTo>
                  <a:pt x="10626834" y="578090"/>
                </a:lnTo>
                <a:lnTo>
                  <a:pt x="10611964" y="734537"/>
                </a:lnTo>
                <a:cubicBezTo>
                  <a:pt x="10602387" y="823467"/>
                  <a:pt x="10587763" y="913306"/>
                  <a:pt x="10611964" y="1001326"/>
                </a:cubicBezTo>
                <a:cubicBezTo>
                  <a:pt x="10628543" y="1062669"/>
                  <a:pt x="10632231" y="1127783"/>
                  <a:pt x="10622705" y="1191154"/>
                </a:cubicBezTo>
                <a:cubicBezTo>
                  <a:pt x="10606645" y="1303627"/>
                  <a:pt x="10603293" y="1418084"/>
                  <a:pt x="10612740" y="1531572"/>
                </a:cubicBezTo>
                <a:cubicBezTo>
                  <a:pt x="10618978" y="1606398"/>
                  <a:pt x="10618020" y="1681815"/>
                  <a:pt x="10609893" y="1756397"/>
                </a:cubicBezTo>
                <a:cubicBezTo>
                  <a:pt x="10599152" y="1856690"/>
                  <a:pt x="10582457" y="1958800"/>
                  <a:pt x="10602776" y="2059394"/>
                </a:cubicBezTo>
                <a:cubicBezTo>
                  <a:pt x="10635130" y="2219226"/>
                  <a:pt x="10628659" y="2378906"/>
                  <a:pt x="10615717" y="2539949"/>
                </a:cubicBezTo>
                <a:cubicBezTo>
                  <a:pt x="10606011" y="2659785"/>
                  <a:pt x="10595269" y="2780984"/>
                  <a:pt x="10614682" y="2902183"/>
                </a:cubicBezTo>
                <a:cubicBezTo>
                  <a:pt x="10623029" y="2958418"/>
                  <a:pt x="10623029" y="3015928"/>
                  <a:pt x="10614682" y="3072165"/>
                </a:cubicBezTo>
                <a:cubicBezTo>
                  <a:pt x="10604587" y="3147914"/>
                  <a:pt x="10595010" y="3222907"/>
                  <a:pt x="10607952" y="3299413"/>
                </a:cubicBezTo>
                <a:cubicBezTo>
                  <a:pt x="10613646" y="3332743"/>
                  <a:pt x="10617917" y="3366376"/>
                  <a:pt x="10620894" y="3400009"/>
                </a:cubicBezTo>
                <a:cubicBezTo>
                  <a:pt x="10626822" y="3485877"/>
                  <a:pt x="10624699" y="3572233"/>
                  <a:pt x="10614553" y="3657556"/>
                </a:cubicBezTo>
                <a:cubicBezTo>
                  <a:pt x="10604846" y="3756637"/>
                  <a:pt x="10620635" y="3856323"/>
                  <a:pt x="10607694" y="3955100"/>
                </a:cubicBezTo>
                <a:cubicBezTo>
                  <a:pt x="10598504" y="4034653"/>
                  <a:pt x="10598155" y="4115265"/>
                  <a:pt x="10606658" y="4194923"/>
                </a:cubicBezTo>
                <a:cubicBezTo>
                  <a:pt x="10621954" y="4345512"/>
                  <a:pt x="10620998" y="4497755"/>
                  <a:pt x="10603811" y="4648057"/>
                </a:cubicBezTo>
                <a:cubicBezTo>
                  <a:pt x="10593198" y="4735775"/>
                  <a:pt x="10587116" y="4826067"/>
                  <a:pt x="10606140" y="4912119"/>
                </a:cubicBezTo>
                <a:cubicBezTo>
                  <a:pt x="10628530" y="5013245"/>
                  <a:pt x="10633189" y="5114446"/>
                  <a:pt x="10629921" y="5215515"/>
                </a:cubicBezTo>
                <a:lnTo>
                  <a:pt x="10625356" y="5273604"/>
                </a:lnTo>
                <a:lnTo>
                  <a:pt x="10624284" y="5284086"/>
                </a:lnTo>
                <a:cubicBezTo>
                  <a:pt x="10601148" y="5404993"/>
                  <a:pt x="10545219" y="5529874"/>
                  <a:pt x="10458692" y="5632218"/>
                </a:cubicBezTo>
                <a:lnTo>
                  <a:pt x="10418904" y="5670857"/>
                </a:lnTo>
                <a:lnTo>
                  <a:pt x="10417064" y="5673484"/>
                </a:lnTo>
                <a:cubicBezTo>
                  <a:pt x="10307992" y="5802550"/>
                  <a:pt x="10158402" y="5877799"/>
                  <a:pt x="9954609" y="5858572"/>
                </a:cubicBezTo>
                <a:cubicBezTo>
                  <a:pt x="9860355" y="5870096"/>
                  <a:pt x="9750551" y="5855439"/>
                  <a:pt x="9657171" y="5854061"/>
                </a:cubicBezTo>
                <a:lnTo>
                  <a:pt x="9612467" y="5856387"/>
                </a:lnTo>
                <a:lnTo>
                  <a:pt x="9279984" y="5838331"/>
                </a:lnTo>
                <a:cubicBezTo>
                  <a:pt x="9153141" y="5834280"/>
                  <a:pt x="9026273" y="5834164"/>
                  <a:pt x="8899305" y="5841275"/>
                </a:cubicBezTo>
                <a:cubicBezTo>
                  <a:pt x="8761407" y="5850940"/>
                  <a:pt x="8623304" y="5854733"/>
                  <a:pt x="8485266" y="5852671"/>
                </a:cubicBezTo>
                <a:lnTo>
                  <a:pt x="8314842" y="5842884"/>
                </a:lnTo>
                <a:lnTo>
                  <a:pt x="8193631" y="5825368"/>
                </a:lnTo>
                <a:lnTo>
                  <a:pt x="8029897" y="5818284"/>
                </a:lnTo>
                <a:lnTo>
                  <a:pt x="8028296" y="5817260"/>
                </a:lnTo>
                <a:lnTo>
                  <a:pt x="8008332" y="5817260"/>
                </a:lnTo>
                <a:lnTo>
                  <a:pt x="8006732" y="5818114"/>
                </a:lnTo>
                <a:lnTo>
                  <a:pt x="7839115" y="5825368"/>
                </a:lnTo>
                <a:lnTo>
                  <a:pt x="7801585" y="5830791"/>
                </a:lnTo>
                <a:lnTo>
                  <a:pt x="7734233" y="5834980"/>
                </a:lnTo>
                <a:lnTo>
                  <a:pt x="7482820" y="5855530"/>
                </a:lnTo>
                <a:lnTo>
                  <a:pt x="7445741" y="5854102"/>
                </a:lnTo>
                <a:lnTo>
                  <a:pt x="7403701" y="5858035"/>
                </a:lnTo>
                <a:lnTo>
                  <a:pt x="7155292" y="5854564"/>
                </a:lnTo>
                <a:cubicBezTo>
                  <a:pt x="6874805" y="5835913"/>
                  <a:pt x="6593917" y="5824488"/>
                  <a:pt x="6312830" y="5849900"/>
                </a:cubicBezTo>
                <a:lnTo>
                  <a:pt x="6232577" y="5855788"/>
                </a:lnTo>
                <a:lnTo>
                  <a:pt x="6231985" y="5855764"/>
                </a:lnTo>
                <a:lnTo>
                  <a:pt x="6166003" y="5858572"/>
                </a:lnTo>
                <a:cubicBezTo>
                  <a:pt x="6100624" y="5861901"/>
                  <a:pt x="6043822" y="5864887"/>
                  <a:pt x="5993271" y="5866513"/>
                </a:cubicBezTo>
                <a:lnTo>
                  <a:pt x="5925657" y="5866398"/>
                </a:lnTo>
                <a:lnTo>
                  <a:pt x="5833706" y="5859695"/>
                </a:lnTo>
                <a:cubicBezTo>
                  <a:pt x="5697214" y="5841788"/>
                  <a:pt x="5559607" y="5838897"/>
                  <a:pt x="5422657" y="5851067"/>
                </a:cubicBezTo>
                <a:lnTo>
                  <a:pt x="5250035" y="5858044"/>
                </a:lnTo>
                <a:lnTo>
                  <a:pt x="5151093" y="5858278"/>
                </a:lnTo>
                <a:lnTo>
                  <a:pt x="4972680" y="5851067"/>
                </a:lnTo>
                <a:cubicBezTo>
                  <a:pt x="4829141" y="5841741"/>
                  <a:pt x="4685204" y="5826120"/>
                  <a:pt x="4542066" y="5842905"/>
                </a:cubicBezTo>
                <a:cubicBezTo>
                  <a:pt x="4491758" y="5848734"/>
                  <a:pt x="4441488" y="5852626"/>
                  <a:pt x="4391242" y="5854962"/>
                </a:cubicBezTo>
                <a:lnTo>
                  <a:pt x="4246482" y="5857576"/>
                </a:lnTo>
                <a:lnTo>
                  <a:pt x="4221030" y="5856572"/>
                </a:lnTo>
                <a:lnTo>
                  <a:pt x="4218005" y="5856681"/>
                </a:lnTo>
                <a:lnTo>
                  <a:pt x="3939367" y="5844305"/>
                </a:lnTo>
                <a:cubicBezTo>
                  <a:pt x="3773470" y="5832648"/>
                  <a:pt x="3606974" y="5815626"/>
                  <a:pt x="3441875" y="5843140"/>
                </a:cubicBezTo>
                <a:cubicBezTo>
                  <a:pt x="3386806" y="5851400"/>
                  <a:pt x="3331601" y="5858126"/>
                  <a:pt x="3276306" y="5863318"/>
                </a:cubicBezTo>
                <a:lnTo>
                  <a:pt x="3225006" y="5866706"/>
                </a:lnTo>
                <a:lnTo>
                  <a:pt x="3194056" y="5866407"/>
                </a:lnTo>
                <a:lnTo>
                  <a:pt x="3082891" y="5863061"/>
                </a:lnTo>
                <a:lnTo>
                  <a:pt x="3013959" y="5869302"/>
                </a:lnTo>
                <a:cubicBezTo>
                  <a:pt x="2910698" y="5871464"/>
                  <a:pt x="2845426" y="5852913"/>
                  <a:pt x="2748311" y="5858572"/>
                </a:cubicBezTo>
                <a:cubicBezTo>
                  <a:pt x="2736171" y="5859279"/>
                  <a:pt x="2721419" y="5860082"/>
                  <a:pt x="2704411" y="5860936"/>
                </a:cubicBezTo>
                <a:lnTo>
                  <a:pt x="2650475" y="5863440"/>
                </a:lnTo>
                <a:lnTo>
                  <a:pt x="2436349" y="5854816"/>
                </a:lnTo>
                <a:cubicBezTo>
                  <a:pt x="2095150" y="5845165"/>
                  <a:pt x="1753811" y="5845122"/>
                  <a:pt x="1412584" y="5830782"/>
                </a:cubicBezTo>
                <a:cubicBezTo>
                  <a:pt x="1262458" y="5824256"/>
                  <a:pt x="1113131" y="5859227"/>
                  <a:pt x="963404" y="5861093"/>
                </a:cubicBezTo>
                <a:cubicBezTo>
                  <a:pt x="896140" y="5861967"/>
                  <a:pt x="828812" y="5861342"/>
                  <a:pt x="761431" y="5859896"/>
                </a:cubicBezTo>
                <a:lnTo>
                  <a:pt x="637698" y="5856158"/>
                </a:lnTo>
                <a:lnTo>
                  <a:pt x="592997" y="5853711"/>
                </a:lnTo>
                <a:cubicBezTo>
                  <a:pt x="391136" y="5830428"/>
                  <a:pt x="227663" y="5724844"/>
                  <a:pt x="123577" y="5564333"/>
                </a:cubicBezTo>
                <a:lnTo>
                  <a:pt x="99502" y="5518240"/>
                </a:lnTo>
                <a:lnTo>
                  <a:pt x="95609" y="5512764"/>
                </a:lnTo>
                <a:lnTo>
                  <a:pt x="86221" y="5492812"/>
                </a:lnTo>
                <a:lnTo>
                  <a:pt x="61763" y="5445986"/>
                </a:lnTo>
                <a:lnTo>
                  <a:pt x="56991" y="5430695"/>
                </a:lnTo>
                <a:lnTo>
                  <a:pt x="41922" y="5398673"/>
                </a:lnTo>
                <a:lnTo>
                  <a:pt x="25760" y="5339273"/>
                </a:lnTo>
                <a:lnTo>
                  <a:pt x="16811" y="5271956"/>
                </a:lnTo>
                <a:cubicBezTo>
                  <a:pt x="9305" y="5238090"/>
                  <a:pt x="4710" y="5203585"/>
                  <a:pt x="3092" y="5168860"/>
                </a:cubicBezTo>
                <a:cubicBezTo>
                  <a:pt x="-7132" y="5042101"/>
                  <a:pt x="10081" y="4917108"/>
                  <a:pt x="24446" y="4791844"/>
                </a:cubicBezTo>
                <a:cubicBezTo>
                  <a:pt x="34023" y="4712006"/>
                  <a:pt x="48647" y="4631352"/>
                  <a:pt x="24446" y="4552331"/>
                </a:cubicBezTo>
                <a:cubicBezTo>
                  <a:pt x="7867" y="4497261"/>
                  <a:pt x="4180" y="4438805"/>
                  <a:pt x="13705" y="4381912"/>
                </a:cubicBezTo>
                <a:cubicBezTo>
                  <a:pt x="29766" y="4280940"/>
                  <a:pt x="33117" y="4178184"/>
                  <a:pt x="23670" y="4076300"/>
                </a:cubicBezTo>
                <a:cubicBezTo>
                  <a:pt x="17432" y="4009125"/>
                  <a:pt x="18390" y="3941419"/>
                  <a:pt x="26517" y="3874462"/>
                </a:cubicBezTo>
                <a:cubicBezTo>
                  <a:pt x="37258" y="3784423"/>
                  <a:pt x="53954" y="3692752"/>
                  <a:pt x="33635" y="3602444"/>
                </a:cubicBezTo>
                <a:cubicBezTo>
                  <a:pt x="1280" y="3458954"/>
                  <a:pt x="7751" y="3315599"/>
                  <a:pt x="20694" y="3171022"/>
                </a:cubicBezTo>
                <a:cubicBezTo>
                  <a:pt x="30400" y="3063439"/>
                  <a:pt x="41141" y="2954632"/>
                  <a:pt x="21728" y="2845824"/>
                </a:cubicBezTo>
                <a:cubicBezTo>
                  <a:pt x="13381" y="2795337"/>
                  <a:pt x="13381" y="2743709"/>
                  <a:pt x="21728" y="2693221"/>
                </a:cubicBezTo>
                <a:cubicBezTo>
                  <a:pt x="31823" y="2625218"/>
                  <a:pt x="41400" y="2557892"/>
                  <a:pt x="28458" y="2489208"/>
                </a:cubicBezTo>
                <a:cubicBezTo>
                  <a:pt x="22764" y="2459285"/>
                  <a:pt x="18493" y="2429092"/>
                  <a:pt x="15516" y="2398898"/>
                </a:cubicBezTo>
                <a:cubicBezTo>
                  <a:pt x="9589" y="2321809"/>
                  <a:pt x="11711" y="2244283"/>
                  <a:pt x="21857" y="2167683"/>
                </a:cubicBezTo>
                <a:cubicBezTo>
                  <a:pt x="31564" y="2078733"/>
                  <a:pt x="15776" y="1989238"/>
                  <a:pt x="28717" y="1900560"/>
                </a:cubicBezTo>
                <a:cubicBezTo>
                  <a:pt x="37907" y="1829142"/>
                  <a:pt x="38255" y="1756772"/>
                  <a:pt x="29752" y="1685258"/>
                </a:cubicBezTo>
                <a:cubicBezTo>
                  <a:pt x="14456" y="1550065"/>
                  <a:pt x="15412" y="1413389"/>
                  <a:pt x="32599" y="1278454"/>
                </a:cubicBezTo>
                <a:cubicBezTo>
                  <a:pt x="43212" y="1199704"/>
                  <a:pt x="49294" y="1118644"/>
                  <a:pt x="30270" y="1041390"/>
                </a:cubicBezTo>
                <a:cubicBezTo>
                  <a:pt x="-14509" y="859818"/>
                  <a:pt x="11634" y="677973"/>
                  <a:pt x="30270" y="497354"/>
                </a:cubicBezTo>
                <a:lnTo>
                  <a:pt x="31725" y="472895"/>
                </a:lnTo>
                <a:lnTo>
                  <a:pt x="43781" y="427827"/>
                </a:lnTo>
                <a:lnTo>
                  <a:pt x="50994" y="413476"/>
                </a:lnTo>
                <a:lnTo>
                  <a:pt x="58372" y="387895"/>
                </a:lnTo>
                <a:cubicBezTo>
                  <a:pt x="111660" y="254431"/>
                  <a:pt x="198390" y="154469"/>
                  <a:pt x="306361" y="90092"/>
                </a:cubicBezTo>
                <a:lnTo>
                  <a:pt x="343340" y="71955"/>
                </a:lnTo>
                <a:lnTo>
                  <a:pt x="451947" y="55771"/>
                </a:lnTo>
                <a:lnTo>
                  <a:pt x="480681" y="50638"/>
                </a:lnTo>
                <a:lnTo>
                  <a:pt x="500476" y="51097"/>
                </a:lnTo>
                <a:cubicBezTo>
                  <a:pt x="614729" y="49684"/>
                  <a:pt x="728933" y="43772"/>
                  <a:pt x="843024" y="32056"/>
                </a:cubicBezTo>
                <a:cubicBezTo>
                  <a:pt x="1123212" y="7156"/>
                  <a:pt x="1404499" y="3566"/>
                  <a:pt x="1685086" y="21332"/>
                </a:cubicBezTo>
                <a:cubicBezTo>
                  <a:pt x="1938623" y="33688"/>
                  <a:pt x="2191759" y="64000"/>
                  <a:pt x="2445896" y="38121"/>
                </a:cubicBezTo>
                <a:cubicBezTo>
                  <a:pt x="2489616" y="33690"/>
                  <a:pt x="2532937" y="26111"/>
                  <a:pt x="2576333" y="19030"/>
                </a:cubicBezTo>
                <a:lnTo>
                  <a:pt x="2696353" y="4251"/>
                </a:lnTo>
                <a:lnTo>
                  <a:pt x="2745536" y="5232"/>
                </a:lnTo>
                <a:cubicBezTo>
                  <a:pt x="2818993" y="6452"/>
                  <a:pt x="2887864" y="7004"/>
                  <a:pt x="2947014" y="5793"/>
                </a:cubicBezTo>
                <a:cubicBezTo>
                  <a:pt x="3006163" y="4584"/>
                  <a:pt x="3060036" y="3178"/>
                  <a:pt x="3110399" y="1949"/>
                </a:cubicBezTo>
                <a:lnTo>
                  <a:pt x="3199002" y="221"/>
                </a:lnTo>
                <a:lnTo>
                  <a:pt x="3325015" y="3583"/>
                </a:lnTo>
                <a:cubicBezTo>
                  <a:pt x="3530714" y="12997"/>
                  <a:pt x="3736239" y="28910"/>
                  <a:pt x="3941762" y="43248"/>
                </a:cubicBezTo>
                <a:cubicBezTo>
                  <a:pt x="4091489" y="53739"/>
                  <a:pt x="4241215" y="66563"/>
                  <a:pt x="4390942" y="37886"/>
                </a:cubicBezTo>
                <a:cubicBezTo>
                  <a:pt x="4517292" y="15154"/>
                  <a:pt x="4645537" y="10467"/>
                  <a:pt x="4772844" y="23896"/>
                </a:cubicBezTo>
                <a:cubicBezTo>
                  <a:pt x="4885597" y="37327"/>
                  <a:pt x="4999052" y="40520"/>
                  <a:pt x="5112224" y="33456"/>
                </a:cubicBezTo>
                <a:lnTo>
                  <a:pt x="5477482" y="6922"/>
                </a:lnTo>
                <a:lnTo>
                  <a:pt x="5517883" y="7607"/>
                </a:lnTo>
                <a:lnTo>
                  <a:pt x="5555683" y="6426"/>
                </a:lnTo>
                <a:cubicBezTo>
                  <a:pt x="5626335" y="3737"/>
                  <a:pt x="5704795" y="995"/>
                  <a:pt x="5791061" y="218"/>
                </a:cubicBezTo>
                <a:close/>
              </a:path>
            </a:pathLst>
          </a:cu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defRPr sz="4400" b="1">
                <a:solidFill>
                  <a:srgbClr val="F1F5F9"/>
                </a:solidFill>
                <a:latin typeface="Urbanist" panose="020B0A04040200000203"/>
              </a:defRPr>
            </a:pPr>
            <a:r>
              <a:t>Understanding Processes</a:t>
            </a:r>
          </a:p>
        </p:txBody>
      </p:sp>
      <p:sp>
        <p:nvSpPr>
          <p:cNvPr id="3" name="Content Placeholder 2"/>
          <p:cNvSpPr>
            <a:spLocks noGrp="1"/>
          </p:cNvSpPr>
          <p:nvPr>
            <p:ph idx="1"/>
          </p:nvPr>
        </p:nvSpPr>
        <p:spPr>
          <a:xfrm>
            <a:off x="457200" y="1600200"/>
            <a:ext cx="5005137" cy="4525963"/>
          </a:xfrm>
        </p:spPr>
        <p:txBody>
          <a:bodyPr/>
          <a:lstStyle/>
          <a:p>
            <a:pPr marL="0" indent="0">
              <a:spcAft>
                <a:spcPts val="1400"/>
              </a:spcAft>
              <a:buNone/>
              <a:defRPr sz="2200">
                <a:solidFill>
                  <a:srgbClr val="CBD5E1"/>
                </a:solidFill>
                <a:latin typeface="Urbanist" panose="020B0A04040200000203"/>
              </a:defRPr>
            </a:pPr>
            <a:r>
              <a:rPr dirty="0"/>
              <a:t>Core Concepts</a:t>
            </a:r>
            <a:endParaRPr dirty="0"/>
          </a:p>
          <a:p>
            <a:pPr marL="0" indent="0">
              <a:spcAft>
                <a:spcPts val="1400"/>
              </a:spcAft>
              <a:buNone/>
              <a:defRPr sz="2200">
                <a:solidFill>
                  <a:srgbClr val="CBD5E1"/>
                </a:solidFill>
                <a:latin typeface="Urbanist" panose="020B0A04040200000203"/>
              </a:defRPr>
            </a:pPr>
            <a:r>
              <a:rPr dirty="0"/>
              <a:t>- Process vs. Application: One application can spawn multiple independent processes.</a:t>
            </a:r>
            <a:endParaRPr dirty="0"/>
          </a:p>
          <a:p>
            <a:pPr marL="0" indent="0">
              <a:spcAft>
                <a:spcPts val="1400"/>
              </a:spcAft>
              <a:buNone/>
              <a:defRPr sz="2200">
                <a:solidFill>
                  <a:srgbClr val="CBD5E1"/>
                </a:solidFill>
                <a:latin typeface="Urbanist" panose="020B0A04040200000203"/>
              </a:defRPr>
            </a:pPr>
            <a:r>
              <a:rPr dirty="0"/>
              <a:t>- Lifecycle States: Creation, Running, Waiting, Terminated.</a:t>
            </a:r>
            <a:endParaRPr dirty="0"/>
          </a:p>
          <a:p>
            <a:pPr marL="0" indent="0">
              <a:spcAft>
                <a:spcPts val="1400"/>
              </a:spcAft>
              <a:buNone/>
              <a:defRPr sz="2200">
                <a:solidFill>
                  <a:srgbClr val="CBD5E1"/>
                </a:solidFill>
                <a:latin typeface="Urbanist" panose="020B0A04040200000203"/>
              </a:defRPr>
            </a:pPr>
            <a:r>
              <a:rPr dirty="0"/>
              <a:t>- Memory Protection: Every process operates in isolated memory space.</a:t>
            </a:r>
            <a:endParaRPr dirty="0"/>
          </a:p>
        </p:txBody>
      </p:sp>
      <p:pic>
        <p:nvPicPr>
          <p:cNvPr id="4" name="Picture 3"/>
          <p:cNvPicPr>
            <a:picLocks noChangeAspect="1"/>
          </p:cNvPicPr>
          <p:nvPr/>
        </p:nvPicPr>
        <p:blipFill>
          <a:blip r:embed="rId1"/>
          <a:stretch>
            <a:fillRect/>
          </a:stretch>
        </p:blipFill>
        <p:spPr>
          <a:xfrm>
            <a:off x="5793455" y="1694364"/>
            <a:ext cx="6067425" cy="385762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defRPr sz="4400" b="1">
                <a:solidFill>
                  <a:srgbClr val="F1F5F9"/>
                </a:solidFill>
                <a:latin typeface="Urbanist" panose="020B0A04040200000203"/>
              </a:defRPr>
            </a:pPr>
            <a:r>
              <a:t>Why It Matters</a:t>
            </a:r>
          </a:p>
        </p:txBody>
      </p:sp>
      <p:sp>
        <p:nvSpPr>
          <p:cNvPr id="3" name="Content Placeholder 2"/>
          <p:cNvSpPr>
            <a:spLocks noGrp="1"/>
          </p:cNvSpPr>
          <p:nvPr>
            <p:ph idx="1"/>
          </p:nvPr>
        </p:nvSpPr>
        <p:spPr/>
        <p:txBody>
          <a:bodyPr/>
          <a:lstStyle/>
          <a:p>
            <a:pPr marL="0" indent="0">
              <a:spcAft>
                <a:spcPts val="1400"/>
              </a:spcAft>
              <a:buNone/>
              <a:defRPr sz="2200">
                <a:solidFill>
                  <a:srgbClr val="CBD5E1"/>
                </a:solidFill>
                <a:latin typeface="Urbanist" panose="020B0A04040200000203"/>
              </a:defRPr>
            </a:pPr>
            <a:r>
              <a:rPr dirty="0"/>
              <a:t>Process Isolation &amp; Safety</a:t>
            </a:r>
            <a:endParaRPr dirty="0"/>
          </a:p>
          <a:p>
            <a:pPr marL="0" indent="0">
              <a:spcAft>
                <a:spcPts val="1400"/>
              </a:spcAft>
              <a:buNone/>
              <a:defRPr sz="2200">
                <a:solidFill>
                  <a:srgbClr val="CBD5E1"/>
                </a:solidFill>
                <a:latin typeface="Urbanist" panose="020B0A04040200000203"/>
              </a:defRPr>
            </a:pPr>
            <a:r>
              <a:rPr dirty="0"/>
              <a:t>- Your application runs as a</a:t>
            </a:r>
            <a:r>
              <a:rPr lang="en-US" dirty="0"/>
              <a:t> (or many)</a:t>
            </a:r>
            <a:r>
              <a:rPr dirty="0"/>
              <a:t> distinct process.</a:t>
            </a:r>
            <a:endParaRPr dirty="0"/>
          </a:p>
          <a:p>
            <a:pPr marL="0" indent="0">
              <a:spcAft>
                <a:spcPts val="1400"/>
              </a:spcAft>
              <a:buNone/>
              <a:defRPr sz="2200">
                <a:solidFill>
                  <a:srgbClr val="CBD5E1"/>
                </a:solidFill>
                <a:latin typeface="Urbanist" panose="020B0A04040200000203"/>
              </a:defRPr>
            </a:pPr>
            <a:r>
              <a:rPr dirty="0"/>
              <a:t>- Isolation allows the OS to contain crashes.</a:t>
            </a:r>
            <a:endParaRPr dirty="0"/>
          </a:p>
          <a:p>
            <a:pPr marL="0" indent="0">
              <a:spcAft>
                <a:spcPts val="1400"/>
              </a:spcAft>
              <a:buNone/>
              <a:defRPr sz="2200">
                <a:solidFill>
                  <a:srgbClr val="CBD5E1"/>
                </a:solidFill>
                <a:latin typeface="Urbanist" panose="020B0A04040200000203"/>
              </a:defRPr>
            </a:pPr>
            <a:r>
              <a:rPr dirty="0"/>
              <a:t>- Critical for debugging memory leaks and segmentation faults.</a:t>
            </a:r>
            <a:endParaRPr lang="en-US" dirty="0"/>
          </a:p>
          <a:p>
            <a:pPr marL="0" indent="0">
              <a:spcAft>
                <a:spcPts val="1400"/>
              </a:spcAft>
              <a:buNone/>
              <a:defRPr sz="2200">
                <a:solidFill>
                  <a:srgbClr val="CBD5E1"/>
                </a:solidFill>
                <a:latin typeface="Urbanist" panose="020B0A04040200000203"/>
              </a:defRPr>
            </a:pPr>
            <a:r>
              <a:rPr lang="en-US" dirty="0"/>
              <a:t>- Inter Process Communication (IPC) : ways of processes for exchanging data or collaborating to solve a task</a:t>
            </a: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8" name="Picture 7"/>
          <p:cNvPicPr>
            <a:picLocks noChangeAspect="1"/>
          </p:cNvPicPr>
          <p:nvPr/>
        </p:nvPicPr>
        <p:blipFill>
          <a:blip r:embed="rId1"/>
          <a:stretch>
            <a:fillRect/>
          </a:stretch>
        </p:blipFill>
        <p:spPr>
          <a:xfrm>
            <a:off x="261937" y="735330"/>
            <a:ext cx="11803380" cy="542544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1"/>
          <a:stretch>
            <a:fillRect/>
          </a:stretch>
        </p:blipFill>
        <p:spPr>
          <a:xfrm>
            <a:off x="838200" y="481012"/>
            <a:ext cx="10515600" cy="589597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defRPr sz="4400" b="1">
                <a:solidFill>
                  <a:srgbClr val="F1F5F9"/>
                </a:solidFill>
                <a:latin typeface="Urbanist" panose="020B0A04040200000203"/>
              </a:defRPr>
            </a:pPr>
            <a:r>
              <a:rPr lang="en-US" altLang="ko-KR" dirty="0"/>
              <a:t>Process Creation &amp; Termination</a:t>
            </a:r>
            <a:endParaRPr dirty="0"/>
          </a:p>
        </p:txBody>
      </p:sp>
      <p:sp>
        <p:nvSpPr>
          <p:cNvPr id="3" name="Content Placeholder 2"/>
          <p:cNvSpPr>
            <a:spLocks noGrp="1"/>
          </p:cNvSpPr>
          <p:nvPr>
            <p:ph idx="1"/>
          </p:nvPr>
        </p:nvSpPr>
        <p:spPr/>
        <p:txBody>
          <a:bodyPr/>
          <a:lstStyle/>
          <a:p>
            <a:pPr>
              <a:spcAft>
                <a:spcPts val="1400"/>
              </a:spcAft>
              <a:buFont typeface="Wingdings" panose="05000000000000000000" pitchFamily="2" charset="2"/>
              <a:buChar char="§"/>
              <a:defRPr sz="2200">
                <a:solidFill>
                  <a:srgbClr val="CBD5E1"/>
                </a:solidFill>
                <a:latin typeface="Urbanist" panose="020B0A04040200000203"/>
              </a:defRPr>
            </a:pPr>
            <a:r>
              <a:rPr lang="en-US" dirty="0"/>
              <a:t>Parent process create children process</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Child process may be duplicate of its parent (same memory space) or load another program to execute </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A process may terminate when finished its execution or be terminated by its parent or OS processes </a:t>
            </a:r>
            <a:endParaRPr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21208" y="274638"/>
            <a:ext cx="8229600" cy="1143000"/>
          </a:xfrm>
        </p:spPr>
        <p:txBody>
          <a:bodyPr>
            <a:normAutofit fontScale="90000"/>
          </a:bodyPr>
          <a:lstStyle/>
          <a:p>
            <a:pPr algn="l">
              <a:defRPr sz="4400" b="1">
                <a:solidFill>
                  <a:srgbClr val="F1F5F9"/>
                </a:solidFill>
                <a:latin typeface="Urbanist" panose="020B0A04040200000203"/>
              </a:defRPr>
            </a:pPr>
            <a:r>
              <a:rPr lang="en-US" altLang="ko-KR" dirty="0"/>
              <a:t>Inter Process Communication (IPC)</a:t>
            </a:r>
            <a:endParaRPr dirty="0"/>
          </a:p>
        </p:txBody>
      </p:sp>
      <p:sp>
        <p:nvSpPr>
          <p:cNvPr id="3" name="Content Placeholder 2"/>
          <p:cNvSpPr>
            <a:spLocks noGrp="1"/>
          </p:cNvSpPr>
          <p:nvPr>
            <p:ph idx="1"/>
          </p:nvPr>
        </p:nvSpPr>
        <p:spPr/>
        <p:txBody>
          <a:bodyPr/>
          <a:lstStyle/>
          <a:p>
            <a:pPr>
              <a:spcAft>
                <a:spcPts val="1400"/>
              </a:spcAft>
              <a:buFont typeface="Wingdings" panose="05000000000000000000" pitchFamily="2" charset="2"/>
              <a:buChar char="§"/>
              <a:defRPr sz="2200">
                <a:solidFill>
                  <a:srgbClr val="CBD5E1"/>
                </a:solidFill>
                <a:latin typeface="Urbanist" panose="020B0A04040200000203"/>
              </a:defRPr>
            </a:pPr>
            <a:r>
              <a:rPr lang="en-US" dirty="0"/>
              <a:t>Pipe: Ordinary Pipe &amp; Named Pipe</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Shared Memory</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Socket: </a:t>
            </a:r>
            <a:endParaRPr lang="en-US" dirty="0"/>
          </a:p>
          <a:p>
            <a:pPr lvl="1">
              <a:spcAft>
                <a:spcPts val="1400"/>
              </a:spcAft>
              <a:buFont typeface="Wingdings" panose="05000000000000000000" pitchFamily="2" charset="2"/>
              <a:buChar char="§"/>
              <a:defRPr sz="2200">
                <a:solidFill>
                  <a:srgbClr val="CBD5E1"/>
                </a:solidFill>
                <a:latin typeface="Urbanist" panose="020B0A04040200000203"/>
              </a:defRPr>
            </a:pPr>
            <a:r>
              <a:rPr lang="en-US" dirty="0"/>
              <a:t>identified by an IP address and port number</a:t>
            </a:r>
            <a:endParaRPr lang="en-US" dirty="0"/>
          </a:p>
          <a:p>
            <a:pPr lvl="1">
              <a:spcAft>
                <a:spcPts val="1400"/>
              </a:spcAft>
              <a:buFont typeface="Wingdings" panose="05000000000000000000" pitchFamily="2" charset="2"/>
              <a:buChar char="§"/>
              <a:defRPr sz="2200">
                <a:solidFill>
                  <a:srgbClr val="CBD5E1"/>
                </a:solidFill>
                <a:latin typeface="Urbanist" panose="020B0A04040200000203"/>
              </a:defRPr>
            </a:pPr>
            <a:r>
              <a:rPr lang="en-US" dirty="0"/>
              <a:t>UDP vs TCP </a:t>
            </a:r>
            <a:endParaRPr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p:cNvSpPr>
            <a:spLocks noGrp="1" noRot="1" noChangeAspect="1" noMove="1" noResize="1" noEditPoints="1" noAdjustHandles="1" noChangeArrowheads="1" noChangeShapeType="1" noTextEdit="1"/>
          </p:cNvSpPr>
          <p:nvPr/>
        </p:nvSpPr>
        <p:spPr>
          <a:xfrm>
            <a:off x="3048" y="0"/>
            <a:ext cx="1218895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p:cNvSpPr>
            <a:spLocks noGrp="1" noRot="1" noChangeAspect="1" noMove="1" noResize="1" noEditPoints="1" noAdjustHandles="1" noChangeArrowheads="1" noChangeShapeType="1" noTextEdit="1"/>
          </p:cNvSpPr>
          <p:nvPr/>
        </p:nvSpPr>
        <p:spPr>
          <a:xfrm>
            <a:off x="0" y="0"/>
            <a:ext cx="12188952" cy="6858000"/>
          </a:xfrm>
          <a:prstGeom prst="rect">
            <a:avLst/>
          </a:prstGeom>
          <a:solidFill>
            <a:schemeClr val="tx1">
              <a:alpha val="5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p:cNvGrpSpPr>
            <a:grpSpLocks noGrp="1" noRot="1" noChangeAspect="1" noMove="1" noResize="1" noUngrp="1"/>
          </p:cNvGrpSpPr>
          <p:nvPr/>
        </p:nvGrpSpPr>
        <p:grpSpPr>
          <a:xfrm>
            <a:off x="1" y="2075420"/>
            <a:ext cx="12048729" cy="4093306"/>
            <a:chOff x="1" y="2075420"/>
            <a:chExt cx="12048729" cy="4093306"/>
          </a:xfrm>
        </p:grpSpPr>
        <p:sp>
          <p:nvSpPr>
            <p:cNvPr id="24" name="Oval 23"/>
            <p:cNvSpPr/>
            <p:nvPr/>
          </p:nvSpPr>
          <p:spPr>
            <a:xfrm rot="4500000">
              <a:off x="7942191" y="2507571"/>
              <a:ext cx="3563871" cy="3563871"/>
            </a:xfrm>
            <a:prstGeom prst="ellipse">
              <a:avLst/>
            </a:prstGeom>
            <a:noFill/>
            <a:ln w="31750">
              <a:gradFill>
                <a:gsLst>
                  <a:gs pos="0">
                    <a:schemeClr val="tx2">
                      <a:lumMod val="60000"/>
                      <a:lumOff val="40000"/>
                      <a:alpha val="1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p:cNvSpPr/>
            <p:nvPr/>
          </p:nvSpPr>
          <p:spPr>
            <a:xfrm rot="16200000">
              <a:off x="10435065" y="4048931"/>
              <a:ext cx="1381607" cy="1381607"/>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p:cNvSpPr/>
            <p:nvPr/>
          </p:nvSpPr>
          <p:spPr>
            <a:xfrm rot="16200000">
              <a:off x="1" y="2075420"/>
              <a:ext cx="3144364" cy="3144364"/>
            </a:xfrm>
            <a:prstGeom prst="ellipse">
              <a:avLst/>
            </a:prstGeom>
            <a:gradFill>
              <a:gsLst>
                <a:gs pos="0">
                  <a:schemeClr val="tx2">
                    <a:lumMod val="75000"/>
                    <a:alpha val="20000"/>
                  </a:schemeClr>
                </a:gs>
                <a:gs pos="100000">
                  <a:schemeClr val="tx2">
                    <a:lumMod val="5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p:cNvSpPr/>
            <p:nvPr/>
          </p:nvSpPr>
          <p:spPr>
            <a:xfrm rot="12600000">
              <a:off x="10150845" y="4270841"/>
              <a:ext cx="1897885" cy="1897885"/>
            </a:xfrm>
            <a:prstGeom prst="ellipse">
              <a:avLst/>
            </a:prstGeom>
            <a:gradFill>
              <a:gsLst>
                <a:gs pos="0">
                  <a:schemeClr val="tx2">
                    <a:lumMod val="75000"/>
                    <a:alpha val="10000"/>
                  </a:schemeClr>
                </a:gs>
                <a:gs pos="100000">
                  <a:schemeClr val="tx2">
                    <a:lumMod val="75000"/>
                    <a:alpha val="2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Oval 27"/>
            <p:cNvSpPr/>
            <p:nvPr/>
          </p:nvSpPr>
          <p:spPr>
            <a:xfrm rot="4500000">
              <a:off x="2046780" y="3040492"/>
              <a:ext cx="2579322" cy="2579322"/>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p:cNvSpPr/>
            <p:nvPr/>
          </p:nvSpPr>
          <p:spPr>
            <a:xfrm rot="4500000">
              <a:off x="2224640" y="3193975"/>
              <a:ext cx="2243193" cy="2243193"/>
            </a:xfrm>
            <a:prstGeom prst="ellipse">
              <a:avLst/>
            </a:prstGeom>
            <a:noFill/>
            <a:ln w="31750">
              <a:gradFill>
                <a:gsLst>
                  <a:gs pos="0">
                    <a:schemeClr val="tx2">
                      <a:lumMod val="60000"/>
                      <a:lumOff val="40000"/>
                      <a:alpha val="10000"/>
                    </a:schemeClr>
                  </a:gs>
                  <a:gs pos="100000">
                    <a:schemeClr val="tx2">
                      <a:lumMod val="50000"/>
                      <a:alpha val="1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p:cNvSpPr>
            <a:spLocks noGrp="1"/>
          </p:cNvSpPr>
          <p:nvPr>
            <p:ph type="title"/>
          </p:nvPr>
        </p:nvSpPr>
        <p:spPr>
          <a:xfrm>
            <a:off x="630936" y="630936"/>
            <a:ext cx="5260992" cy="2096756"/>
          </a:xfrm>
          <a:noFill/>
        </p:spPr>
        <p:txBody>
          <a:bodyPr anchor="t">
            <a:normAutofit/>
          </a:bodyPr>
          <a:lstStyle/>
          <a:p>
            <a:pPr algn="l">
              <a:lnSpc>
                <a:spcPct val="90000"/>
              </a:lnSpc>
              <a:defRPr sz="4400" b="1">
                <a:solidFill>
                  <a:srgbClr val="F1F5F9"/>
                </a:solidFill>
                <a:latin typeface="Urbanist" panose="020B0A04040200000203"/>
              </a:defRPr>
            </a:pPr>
            <a:r>
              <a:rPr lang="pl-PL" altLang="ko-KR" sz="4800" dirty="0">
                <a:solidFill>
                  <a:schemeClr val="bg1"/>
                </a:solidFill>
              </a:rPr>
              <a:t>CPU Burst</a:t>
            </a:r>
            <a:br>
              <a:rPr lang="en-US" altLang="ko-KR" sz="4800" dirty="0">
                <a:solidFill>
                  <a:schemeClr val="bg1"/>
                </a:solidFill>
              </a:rPr>
            </a:br>
            <a:r>
              <a:rPr lang="pl-PL" altLang="ko-KR" sz="4800" dirty="0">
                <a:solidFill>
                  <a:schemeClr val="bg1"/>
                </a:solidFill>
              </a:rPr>
              <a:t>I/O Burst </a:t>
            </a:r>
            <a:br>
              <a:rPr lang="en-US" altLang="ko-KR" sz="4800" dirty="0">
                <a:solidFill>
                  <a:schemeClr val="bg1"/>
                </a:solidFill>
              </a:rPr>
            </a:br>
            <a:r>
              <a:rPr lang="pl-PL" altLang="ko-KR" sz="4800" dirty="0">
                <a:solidFill>
                  <a:schemeClr val="bg1"/>
                </a:solidFill>
              </a:rPr>
              <a:t>Cycle</a:t>
            </a:r>
            <a:endParaRPr lang="pl-PL" sz="4800" dirty="0">
              <a:solidFill>
                <a:schemeClr val="bg1"/>
              </a:solidFill>
            </a:endParaRPr>
          </a:p>
        </p:txBody>
      </p:sp>
      <p:sp>
        <p:nvSpPr>
          <p:cNvPr id="3" name="Content Placeholder 2"/>
          <p:cNvSpPr>
            <a:spLocks noGrp="1"/>
          </p:cNvSpPr>
          <p:nvPr>
            <p:ph idx="1"/>
          </p:nvPr>
        </p:nvSpPr>
        <p:spPr>
          <a:xfrm>
            <a:off x="6095996" y="630936"/>
            <a:ext cx="5064191" cy="2096769"/>
          </a:xfrm>
          <a:noFill/>
        </p:spPr>
        <p:txBody>
          <a:bodyPr anchor="t">
            <a:normAutofit/>
          </a:bodyPr>
          <a:lstStyle/>
          <a:p>
            <a:pPr>
              <a:spcAft>
                <a:spcPts val="1400"/>
              </a:spcAft>
              <a:buFont typeface="Wingdings" panose="05000000000000000000" pitchFamily="2" charset="2"/>
              <a:buChar char="§"/>
              <a:defRPr sz="2200">
                <a:solidFill>
                  <a:srgbClr val="CBD5E1"/>
                </a:solidFill>
                <a:latin typeface="Urbanist" panose="020B0A04040200000203"/>
              </a:defRPr>
            </a:pPr>
            <a:r>
              <a:rPr lang="en-US" sz="2000" dirty="0">
                <a:solidFill>
                  <a:schemeClr val="bg1"/>
                </a:solidFill>
              </a:rPr>
              <a:t>A process execution alternates between:</a:t>
            </a:r>
            <a:endParaRPr lang="en-US" sz="2000" dirty="0">
              <a:solidFill>
                <a:schemeClr val="bg1"/>
              </a:solidFill>
            </a:endParaRPr>
          </a:p>
          <a:p>
            <a:pPr lvl="1">
              <a:spcAft>
                <a:spcPts val="1400"/>
              </a:spcAft>
              <a:buFont typeface="Wingdings" panose="05000000000000000000" pitchFamily="2" charset="2"/>
              <a:buChar char="§"/>
              <a:defRPr sz="2200">
                <a:solidFill>
                  <a:srgbClr val="CBD5E1"/>
                </a:solidFill>
                <a:latin typeface="Urbanist" panose="020B0A04040200000203"/>
              </a:defRPr>
            </a:pPr>
            <a:r>
              <a:rPr lang="en-US" sz="2000" dirty="0">
                <a:solidFill>
                  <a:schemeClr val="bg1"/>
                </a:solidFill>
              </a:rPr>
              <a:t>CPU Burst performing calculations</a:t>
            </a:r>
            <a:endParaRPr lang="en-US" sz="2000" dirty="0">
              <a:solidFill>
                <a:schemeClr val="bg1"/>
              </a:solidFill>
            </a:endParaRPr>
          </a:p>
          <a:p>
            <a:pPr lvl="1">
              <a:spcAft>
                <a:spcPts val="1400"/>
              </a:spcAft>
              <a:buFont typeface="Wingdings" panose="05000000000000000000" pitchFamily="2" charset="2"/>
              <a:buChar char="§"/>
              <a:defRPr sz="2200">
                <a:solidFill>
                  <a:srgbClr val="CBD5E1"/>
                </a:solidFill>
                <a:latin typeface="Urbanist" panose="020B0A04040200000203"/>
              </a:defRPr>
            </a:pPr>
            <a:r>
              <a:rPr lang="en-US" sz="2000" dirty="0">
                <a:solidFill>
                  <a:schemeClr val="bg1"/>
                </a:solidFill>
              </a:rPr>
              <a:t>I/O Burst performing I/O operations</a:t>
            </a:r>
            <a:endParaRPr lang="en-US" sz="2000" dirty="0">
              <a:solidFill>
                <a:schemeClr val="bg1"/>
              </a:solidFill>
            </a:endParaRPr>
          </a:p>
          <a:p>
            <a:pPr marL="457200" lvl="1" indent="0">
              <a:spcAft>
                <a:spcPts val="1400"/>
              </a:spcAft>
              <a:buNone/>
              <a:defRPr sz="2200">
                <a:solidFill>
                  <a:srgbClr val="CBD5E1"/>
                </a:solidFill>
                <a:latin typeface="Urbanist" panose="020B0A04040200000203"/>
              </a:defRPr>
            </a:pPr>
            <a:endParaRPr lang="en-US" sz="2000" dirty="0">
              <a:solidFill>
                <a:schemeClr val="bg1"/>
              </a:solidFill>
            </a:endParaRPr>
          </a:p>
        </p:txBody>
      </p:sp>
      <p:sp>
        <p:nvSpPr>
          <p:cNvPr id="31" name="Rectangle 30"/>
          <p:cNvSpPr>
            <a:spLocks noGrp="1" noRot="1" noChangeAspect="1" noMove="1" noResize="1" noEditPoints="1" noAdjustHandles="1" noChangeArrowheads="1" noChangeShapeType="1" noTextEdit="1"/>
          </p:cNvSpPr>
          <p:nvPr/>
        </p:nvSpPr>
        <p:spPr>
          <a:xfrm rot="16200000">
            <a:off x="10438146" y="1042605"/>
            <a:ext cx="2796461" cy="711252"/>
          </a:xfrm>
          <a:prstGeom prst="rect">
            <a:avLst/>
          </a:prstGeom>
          <a:gradFill flip="none" rotWithShape="1">
            <a:gsLst>
              <a:gs pos="0">
                <a:schemeClr val="tx2">
                  <a:lumMod val="40000"/>
                  <a:lumOff val="60000"/>
                  <a:alpha val="0"/>
                </a:schemeClr>
              </a:gs>
              <a:gs pos="100000">
                <a:schemeClr val="tx2">
                  <a:lumMod val="75000"/>
                  <a:alpha val="1000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p:cNvGrpSpPr>
            <a:grpSpLocks noGrp="1" noRot="1" noChangeAspect="1" noMove="1" noResize="1" noUngrp="1"/>
          </p:cNvGrpSpPr>
          <p:nvPr/>
        </p:nvGrpSpPr>
        <p:grpSpPr>
          <a:xfrm>
            <a:off x="11259539" y="317578"/>
            <a:ext cx="548640" cy="549007"/>
            <a:chOff x="7029447" y="3514725"/>
            <a:chExt cx="1285875" cy="549007"/>
          </a:xfrm>
        </p:grpSpPr>
        <p:cxnSp>
          <p:nvCxnSpPr>
            <p:cNvPr id="34" name="Straight Connector 33"/>
            <p:cNvCxnSpPr/>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39" name="Rectangle 38"/>
          <p:cNvSpPr>
            <a:spLocks noGrp="1" noRot="1" noChangeAspect="1" noMove="1" noResize="1" noEditPoints="1" noAdjustHandles="1" noChangeArrowheads="1" noChangeShapeType="1" noTextEdit="1"/>
          </p:cNvSpPr>
          <p:nvPr/>
        </p:nvSpPr>
        <p:spPr>
          <a:xfrm rot="10800000">
            <a:off x="-1" y="6140785"/>
            <a:ext cx="6095997" cy="711252"/>
          </a:xfrm>
          <a:prstGeom prst="rect">
            <a:avLst/>
          </a:prstGeom>
          <a:gradFill flip="none" rotWithShape="1">
            <a:gsLst>
              <a:gs pos="10000">
                <a:schemeClr val="tx2">
                  <a:lumMod val="50000"/>
                  <a:alpha val="10000"/>
                </a:schemeClr>
              </a:gs>
              <a:gs pos="100000">
                <a:schemeClr val="tx2">
                  <a:lumMod val="60000"/>
                  <a:lumOff val="40000"/>
                  <a:alpha val="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 name="Group 40"/>
          <p:cNvGrpSpPr>
            <a:grpSpLocks noGrp="1" noRot="1" noChangeAspect="1" noMove="1" noResize="1" noUngrp="1"/>
          </p:cNvGrpSpPr>
          <p:nvPr/>
        </p:nvGrpSpPr>
        <p:grpSpPr>
          <a:xfrm rot="5400000">
            <a:off x="616345" y="5940560"/>
            <a:ext cx="1285875" cy="549007"/>
            <a:chOff x="7029447" y="3514725"/>
            <a:chExt cx="1285875" cy="549007"/>
          </a:xfrm>
        </p:grpSpPr>
        <p:cxnSp>
          <p:nvCxnSpPr>
            <p:cNvPr id="42" name="Straight Connector 41"/>
            <p:cNvCxnSpPr/>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pic>
        <p:nvPicPr>
          <p:cNvPr id="5" name="그림 4"/>
          <p:cNvPicPr>
            <a:picLocks noChangeAspect="1"/>
          </p:cNvPicPr>
          <p:nvPr/>
        </p:nvPicPr>
        <p:blipFill>
          <a:blip r:embed="rId1"/>
          <a:stretch>
            <a:fillRect/>
          </a:stretch>
        </p:blipFill>
        <p:spPr>
          <a:xfrm>
            <a:off x="631359" y="3068274"/>
            <a:ext cx="10843065" cy="2900519"/>
          </a:xfrm>
          <a:prstGeom prst="rect">
            <a:avLst/>
          </a:prstGeom>
        </p:spPr>
      </p:pic>
      <p:grpSp>
        <p:nvGrpSpPr>
          <p:cNvPr id="47" name="Group 46"/>
          <p:cNvGrpSpPr>
            <a:grpSpLocks noGrp="1" noRot="1" noChangeAspect="1" noMove="1" noResize="1" noUngrp="1"/>
          </p:cNvGrpSpPr>
          <p:nvPr/>
        </p:nvGrpSpPr>
        <p:grpSpPr>
          <a:xfrm rot="16200000">
            <a:off x="475716" y="3029889"/>
            <a:ext cx="304800" cy="429768"/>
            <a:chOff x="215328" y="-46937"/>
            <a:chExt cx="304800" cy="2773841"/>
          </a:xfrm>
        </p:grpSpPr>
        <p:cxnSp>
          <p:nvCxnSpPr>
            <p:cNvPr id="48" name="Straight Connector 47"/>
            <p:cNvCxnSpPr/>
            <p:nvPr/>
          </p:nvCxnSpPr>
          <p:spPr>
            <a:xfrm>
              <a:off x="2153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3169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a:off x="4185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5201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defRPr sz="4400" b="1">
                <a:solidFill>
                  <a:srgbClr val="F1F5F9"/>
                </a:solidFill>
                <a:latin typeface="Urbanist" panose="020B0A04040200000203"/>
              </a:defRPr>
            </a:pPr>
            <a:r>
              <a:rPr lang="en-US" altLang="ko-KR" dirty="0"/>
              <a:t>CPU Scheduling</a:t>
            </a:r>
            <a:endParaRPr dirty="0"/>
          </a:p>
        </p:txBody>
      </p:sp>
      <p:sp>
        <p:nvSpPr>
          <p:cNvPr id="3" name="Content Placeholder 2"/>
          <p:cNvSpPr>
            <a:spLocks noGrp="1"/>
          </p:cNvSpPr>
          <p:nvPr>
            <p:ph idx="1"/>
          </p:nvPr>
        </p:nvSpPr>
        <p:spPr>
          <a:xfrm>
            <a:off x="457200" y="1600200"/>
            <a:ext cx="5779008" cy="4525963"/>
          </a:xfrm>
        </p:spPr>
        <p:txBody>
          <a:bodyPr>
            <a:normAutofit lnSpcReduction="10000"/>
          </a:bodyPr>
          <a:lstStyle/>
          <a:p>
            <a:pPr>
              <a:spcAft>
                <a:spcPts val="1400"/>
              </a:spcAft>
              <a:buFont typeface="Wingdings" panose="05000000000000000000" pitchFamily="2" charset="2"/>
              <a:buChar char="§"/>
              <a:defRPr sz="2200">
                <a:solidFill>
                  <a:srgbClr val="CBD5E1"/>
                </a:solidFill>
                <a:latin typeface="Urbanist" panose="020B0A04040200000203"/>
              </a:defRPr>
            </a:pPr>
            <a:r>
              <a:rPr lang="en-US" dirty="0"/>
              <a:t>Scheduling Types:</a:t>
            </a:r>
            <a:endParaRPr lang="en-US" dirty="0"/>
          </a:p>
          <a:p>
            <a:pPr lvl="1">
              <a:spcAft>
                <a:spcPts val="1400"/>
              </a:spcAft>
              <a:buFont typeface="Wingdings" panose="05000000000000000000" pitchFamily="2" charset="2"/>
              <a:buChar char="§"/>
              <a:defRPr sz="2200">
                <a:solidFill>
                  <a:srgbClr val="CBD5E1"/>
                </a:solidFill>
                <a:latin typeface="Urbanist" panose="020B0A04040200000203"/>
              </a:defRPr>
            </a:pPr>
            <a:r>
              <a:rPr lang="en-US" dirty="0"/>
              <a:t>Non Preemptive</a:t>
            </a:r>
            <a:endParaRPr lang="en-US" dirty="0"/>
          </a:p>
          <a:p>
            <a:pPr lvl="1">
              <a:spcAft>
                <a:spcPts val="1400"/>
              </a:spcAft>
              <a:buFont typeface="Wingdings" panose="05000000000000000000" pitchFamily="2" charset="2"/>
              <a:buChar char="§"/>
              <a:defRPr sz="2200">
                <a:solidFill>
                  <a:srgbClr val="CBD5E1"/>
                </a:solidFill>
                <a:latin typeface="Urbanist" panose="020B0A04040200000203"/>
              </a:defRPr>
            </a:pPr>
            <a:r>
              <a:rPr lang="en-US" dirty="0"/>
              <a:t>Preemptive </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altLang="ko-KR" dirty="0"/>
              <a:t>Scheduling</a:t>
            </a:r>
            <a:r>
              <a:rPr lang="en-US" dirty="0"/>
              <a:t> Algorithms:</a:t>
            </a:r>
            <a:endParaRPr lang="en-US" dirty="0"/>
          </a:p>
          <a:p>
            <a:pPr lvl="1">
              <a:spcAft>
                <a:spcPts val="1400"/>
              </a:spcAft>
              <a:buFont typeface="Wingdings" panose="05000000000000000000" pitchFamily="2" charset="2"/>
              <a:buChar char="§"/>
              <a:defRPr sz="2200">
                <a:solidFill>
                  <a:srgbClr val="CBD5E1"/>
                </a:solidFill>
                <a:latin typeface="Urbanist" panose="020B0A04040200000203"/>
              </a:defRPr>
            </a:pPr>
            <a:r>
              <a:rPr lang="en-US" dirty="0"/>
              <a:t>First Come First Serve</a:t>
            </a:r>
            <a:endParaRPr lang="en-US" dirty="0"/>
          </a:p>
          <a:p>
            <a:pPr lvl="1">
              <a:spcAft>
                <a:spcPts val="1400"/>
              </a:spcAft>
              <a:buFont typeface="Wingdings" panose="05000000000000000000" pitchFamily="2" charset="2"/>
              <a:buChar char="§"/>
              <a:defRPr sz="2200">
                <a:solidFill>
                  <a:srgbClr val="CBD5E1"/>
                </a:solidFill>
                <a:latin typeface="Urbanist" panose="020B0A04040200000203"/>
              </a:defRPr>
            </a:pPr>
            <a:r>
              <a:rPr lang="en-US" dirty="0"/>
              <a:t>Round Robin</a:t>
            </a:r>
            <a:endParaRPr lang="en-US" dirty="0"/>
          </a:p>
          <a:p>
            <a:pPr lvl="1">
              <a:spcAft>
                <a:spcPts val="1400"/>
              </a:spcAft>
              <a:buFont typeface="Wingdings" panose="05000000000000000000" pitchFamily="2" charset="2"/>
              <a:buChar char="§"/>
              <a:defRPr sz="2200">
                <a:solidFill>
                  <a:srgbClr val="CBD5E1"/>
                </a:solidFill>
                <a:latin typeface="Urbanist" panose="020B0A04040200000203"/>
              </a:defRPr>
            </a:pPr>
            <a:r>
              <a:rPr lang="en-US" dirty="0"/>
              <a:t>Shortest Job First / Shortest Remaining Time Next </a:t>
            </a:r>
            <a:endParaRPr lang="en-US" dirty="0"/>
          </a:p>
          <a:p>
            <a:pPr lvl="1">
              <a:spcAft>
                <a:spcPts val="1400"/>
              </a:spcAft>
              <a:buFont typeface="Wingdings" panose="05000000000000000000" pitchFamily="2" charset="2"/>
              <a:buChar char="§"/>
              <a:defRPr sz="2200">
                <a:solidFill>
                  <a:srgbClr val="CBD5E1"/>
                </a:solidFill>
                <a:latin typeface="Urbanist" panose="020B0A04040200000203"/>
              </a:defRPr>
            </a:pPr>
            <a:r>
              <a:rPr lang="en-US" dirty="0"/>
              <a:t>Priority / Multilevel Priority</a:t>
            </a:r>
            <a:endParaRPr lang="en-US" dirty="0"/>
          </a:p>
        </p:txBody>
      </p:sp>
      <p:sp>
        <p:nvSpPr>
          <p:cNvPr id="4" name="Content Placeholder 2"/>
          <p:cNvSpPr txBox="1"/>
          <p:nvPr/>
        </p:nvSpPr>
        <p:spPr>
          <a:xfrm>
            <a:off x="7370064" y="1600200"/>
            <a:ext cx="4617720" cy="45259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a:lstStyle>
          <a:p>
            <a:pPr>
              <a:spcAft>
                <a:spcPts val="1400"/>
              </a:spcAft>
              <a:buFont typeface="Wingdings" panose="05000000000000000000" pitchFamily="2" charset="2"/>
              <a:buChar char="§"/>
              <a:defRPr sz="2200">
                <a:solidFill>
                  <a:srgbClr val="CBD5E1"/>
                </a:solidFill>
                <a:latin typeface="Urbanist" panose="020B0A04040200000203"/>
              </a:defRPr>
            </a:pPr>
            <a:r>
              <a:rPr lang="en-US" sz="2200" dirty="0">
                <a:solidFill>
                  <a:srgbClr val="CBD5E1"/>
                </a:solidFill>
                <a:latin typeface="Urbanist" panose="020B0A04040200000203"/>
              </a:rPr>
              <a:t>Current OS often use mixed types</a:t>
            </a:r>
            <a:endParaRPr lang="en-US" sz="2200" dirty="0">
              <a:solidFill>
                <a:srgbClr val="CBD5E1"/>
              </a:solidFill>
              <a:latin typeface="Urbanist" panose="020B0A04040200000203"/>
            </a:endParaRPr>
          </a:p>
          <a:p>
            <a:pPr>
              <a:spcAft>
                <a:spcPts val="1400"/>
              </a:spcAft>
              <a:buFont typeface="Wingdings" panose="05000000000000000000" pitchFamily="2" charset="2"/>
              <a:buChar char="§"/>
              <a:defRPr sz="2200">
                <a:solidFill>
                  <a:srgbClr val="CBD5E1"/>
                </a:solidFill>
                <a:latin typeface="Urbanist" panose="020B0A04040200000203"/>
              </a:defRPr>
            </a:pPr>
            <a:endParaRPr lang="en-US" sz="2200" dirty="0">
              <a:solidFill>
                <a:srgbClr val="CBD5E1"/>
              </a:solidFill>
              <a:latin typeface="Urbanist" panose="020B0A04040200000203"/>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1"/>
          <a:stretch>
            <a:fillRect/>
          </a:stretch>
        </p:blipFill>
        <p:spPr>
          <a:xfrm>
            <a:off x="499059" y="1181100"/>
            <a:ext cx="11001375" cy="4495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6" name="그림 5"/>
          <p:cNvPicPr>
            <a:picLocks noChangeAspect="1"/>
          </p:cNvPicPr>
          <p:nvPr/>
        </p:nvPicPr>
        <p:blipFill>
          <a:blip r:embed="rId1"/>
          <a:stretch>
            <a:fillRect/>
          </a:stretch>
        </p:blipFill>
        <p:spPr>
          <a:xfrm>
            <a:off x="2063261" y="331274"/>
            <a:ext cx="7820025" cy="2512498"/>
          </a:xfrm>
          <a:prstGeom prst="rect">
            <a:avLst/>
          </a:prstGeom>
        </p:spPr>
      </p:pic>
      <p:pic>
        <p:nvPicPr>
          <p:cNvPr id="8" name="그림 7"/>
          <p:cNvPicPr>
            <a:picLocks noChangeAspect="1"/>
          </p:cNvPicPr>
          <p:nvPr/>
        </p:nvPicPr>
        <p:blipFill>
          <a:blip r:embed="rId2"/>
          <a:stretch>
            <a:fillRect/>
          </a:stretch>
        </p:blipFill>
        <p:spPr>
          <a:xfrm>
            <a:off x="2063261" y="3288226"/>
            <a:ext cx="7820025" cy="3238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 name="Group 11"/>
          <p:cNvGrpSpPr>
            <a:grpSpLocks noGrp="1" noRot="1" noChangeAspect="1" noMove="1" noResize="1" noUngrp="1"/>
          </p:cNvGrpSpPr>
          <p:nvPr/>
        </p:nvGrpSpPr>
        <p:grpSpPr>
          <a:xfrm>
            <a:off x="785511" y="805742"/>
            <a:ext cx="3647770" cy="3193211"/>
            <a:chOff x="1674895" y="1345036"/>
            <a:chExt cx="5428610" cy="4210939"/>
          </a:xfrm>
        </p:grpSpPr>
        <p:sp>
          <p:nvSpPr>
            <p:cNvPr id="13" name="Rectangle 12"/>
            <p:cNvSpPr/>
            <p:nvPr/>
          </p:nvSpPr>
          <p:spPr>
            <a:xfrm>
              <a:off x="1674895" y="1345036"/>
              <a:ext cx="5428610" cy="4210939"/>
            </a:xfrm>
            <a:prstGeom prst="rect">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1674895" y="1345036"/>
              <a:ext cx="5428610" cy="4210939"/>
            </a:xfrm>
            <a:prstGeom prst="rect">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p:cNvSpPr>
            <a:spLocks noGrp="1" noRot="1" noChangeAspect="1" noMove="1" noResize="1" noEditPoints="1" noAdjustHandles="1" noChangeArrowheads="1" noChangeShapeType="1" noTextEdit="1"/>
          </p:cNvSpPr>
          <p:nvPr/>
        </p:nvSpPr>
        <p:spPr>
          <a:xfrm>
            <a:off x="695315" y="685805"/>
            <a:ext cx="3624947" cy="3193211"/>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740584" y="859808"/>
            <a:ext cx="3543197" cy="2878986"/>
          </a:xfrm>
        </p:spPr>
        <p:txBody>
          <a:bodyPr>
            <a:normAutofit/>
          </a:bodyPr>
          <a:lstStyle/>
          <a:p>
            <a:pPr>
              <a:defRPr sz="4400" b="1">
                <a:solidFill>
                  <a:srgbClr val="F1F5F9"/>
                </a:solidFill>
                <a:latin typeface="Urbanist" panose="020B0A04040200000203"/>
              </a:defRPr>
            </a:pPr>
            <a:r>
              <a:rPr lang="en-US" dirty="0">
                <a:solidFill>
                  <a:schemeClr val="bg1"/>
                </a:solidFill>
              </a:rPr>
              <a:t>Example Code</a:t>
            </a:r>
            <a:endParaRPr lang="en-US" dirty="0">
              <a:solidFill>
                <a:schemeClr val="bg1"/>
              </a:solidFill>
            </a:endParaRPr>
          </a:p>
        </p:txBody>
      </p:sp>
      <p:grpSp>
        <p:nvGrpSpPr>
          <p:cNvPr id="18" name="Graphic 38"/>
          <p:cNvGrpSpPr>
            <a:grpSpLocks noGrp="1" noRot="1" noChangeAspect="1" noMove="1" noResize="1" noUngrp="1"/>
          </p:cNvGrpSpPr>
          <p:nvPr/>
        </p:nvGrpSpPr>
        <p:grpSpPr>
          <a:xfrm>
            <a:off x="0" y="117004"/>
            <a:ext cx="1370098" cy="508993"/>
            <a:chOff x="2267504" y="2540250"/>
            <a:chExt cx="1990951" cy="739640"/>
          </a:xfrm>
          <a:solidFill>
            <a:schemeClr val="bg1"/>
          </a:solidFill>
        </p:grpSpPr>
        <p:sp>
          <p:nvSpPr>
            <p:cNvPr id="19" name="Freeform: Shape 18"/>
            <p:cNvSpPr/>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20" name="Freeform: Shape 19"/>
            <p:cNvSpPr/>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nvGrpSpPr>
          <p:cNvPr id="22" name="Graphic 4"/>
          <p:cNvGrpSpPr>
            <a:grpSpLocks noGrp="1" noRot="1" noChangeAspect="1" noMove="1" noResize="1" noUngrp="1"/>
          </p:cNvGrpSpPr>
          <p:nvPr/>
        </p:nvGrpSpPr>
        <p:grpSpPr>
          <a:xfrm>
            <a:off x="4689048" y="2445529"/>
            <a:ext cx="849365" cy="849366"/>
            <a:chOff x="5829300" y="3162300"/>
            <a:chExt cx="532256" cy="532257"/>
          </a:xfrm>
          <a:solidFill>
            <a:srgbClr val="FFFFFF"/>
          </a:solidFill>
        </p:grpSpPr>
        <p:sp>
          <p:nvSpPr>
            <p:cNvPr id="23" name="Freeform: Shape 22"/>
            <p:cNvSpPr/>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4" name="Freeform: Shape 23"/>
            <p:cNvSpPr/>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5" name="Freeform: Shape 24"/>
            <p:cNvSpPr/>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26" name="Freeform: Shape 25"/>
            <p:cNvSpPr/>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7" name="Freeform: Shape 26"/>
            <p:cNvSpPr/>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8" name="Freeform: Shape 27"/>
            <p:cNvSpPr/>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9" name="Freeform: Shape 28"/>
            <p:cNvSpPr/>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30" name="Freeform: Shape 29"/>
            <p:cNvSpPr/>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1" name="Freeform: Shape 30"/>
            <p:cNvSpPr/>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2" name="Freeform: Shape 31"/>
            <p:cNvSpPr/>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3" name="Freeform: Shape 32"/>
            <p:cNvSpPr/>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4" name="Freeform: Shape 33"/>
            <p:cNvSpPr/>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5" name="Freeform: Shape 34"/>
            <p:cNvSpPr/>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pSp>
        <p:nvGrpSpPr>
          <p:cNvPr id="37" name="Graphic 4"/>
          <p:cNvGrpSpPr>
            <a:grpSpLocks noGrp="1" noRot="1" noChangeAspect="1" noMove="1" noResize="1" noUngrp="1"/>
          </p:cNvGrpSpPr>
          <p:nvPr/>
        </p:nvGrpSpPr>
        <p:grpSpPr>
          <a:xfrm>
            <a:off x="4689048" y="2445529"/>
            <a:ext cx="849365" cy="849366"/>
            <a:chOff x="5829300" y="3162300"/>
            <a:chExt cx="532256" cy="532257"/>
          </a:xfrm>
          <a:solidFill>
            <a:schemeClr val="bg1"/>
          </a:solidFill>
        </p:grpSpPr>
        <p:sp>
          <p:nvSpPr>
            <p:cNvPr id="38" name="Freeform: Shape 37"/>
            <p:cNvSpPr/>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39" name="Freeform: Shape 38"/>
            <p:cNvSpPr/>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40" name="Freeform: Shape 39"/>
            <p:cNvSpPr/>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41" name="Freeform: Shape 40"/>
            <p:cNvSpPr/>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42" name="Freeform: Shape 41"/>
            <p:cNvSpPr/>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43" name="Freeform: Shape 42"/>
            <p:cNvSpPr/>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44" name="Freeform: Shape 43"/>
            <p:cNvSpPr/>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45" name="Freeform: Shape 44"/>
            <p:cNvSpPr/>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46" name="Freeform: Shape 45"/>
            <p:cNvSpPr/>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47" name="Freeform: Shape 46"/>
            <p:cNvSpPr/>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48" name="Freeform: Shape 47"/>
            <p:cNvSpPr/>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49" name="Freeform: Shape 48"/>
            <p:cNvSpPr/>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50" name="Freeform: Shape 49"/>
            <p:cNvSpPr/>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sp>
        <p:nvSpPr>
          <p:cNvPr id="6" name="Title 1"/>
          <p:cNvSpPr txBox="1"/>
          <p:nvPr/>
        </p:nvSpPr>
        <p:spPr>
          <a:xfrm>
            <a:off x="5838976" y="1006036"/>
            <a:ext cx="5764760" cy="2878986"/>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defRPr sz="4400" b="1">
                <a:solidFill>
                  <a:srgbClr val="F1F5F9"/>
                </a:solidFill>
                <a:latin typeface="Urbanist" panose="020B0A04040200000203"/>
              </a:defRPr>
            </a:pPr>
            <a:r>
              <a:rPr lang="en-US" altLang="ko-KR" b="1" dirty="0"/>
              <a:t>Parallel vs </a:t>
            </a:r>
            <a:r>
              <a:rPr lang="en-US" altLang="ko-KR" dirty="0"/>
              <a:t>Sequential </a:t>
            </a:r>
            <a:endParaRPr lang="en-US" b="1" dirty="0">
              <a:solidFill>
                <a:schemeClr val="bg1"/>
              </a:solidFill>
              <a:latin typeface="Urbanist" panose="020B0A04040200000203"/>
            </a:endParaRPr>
          </a:p>
        </p:txBody>
      </p:sp>
      <p:sp>
        <p:nvSpPr>
          <p:cNvPr id="7" name="Title 1"/>
          <p:cNvSpPr txBox="1"/>
          <p:nvPr/>
        </p:nvSpPr>
        <p:spPr>
          <a:xfrm>
            <a:off x="5984875" y="2744470"/>
            <a:ext cx="5764530" cy="2124075"/>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panose="020B0A04040200000203"/>
              </a:defRPr>
            </a:pPr>
            <a:r>
              <a:rPr lang="en-US" altLang="ko-KR" sz="2400" dirty="0">
                <a:latin typeface="Urbanist ExtraLight" panose="020B0A04040200000203" pitchFamily="34" charset="0"/>
                <a:ea typeface="Urbanist ExtraLight" panose="020B0A04040200000203" pitchFamily="34" charset="0"/>
                <a:cs typeface="Urbanist ExtraLight" panose="020B0A04040200000203" pitchFamily="34" charset="0"/>
              </a:rPr>
              <a:t>Processing Overhead:</a:t>
            </a:r>
            <a:endParaRPr lang="en-US" altLang="ko-KR" sz="2400" dirty="0">
              <a:latin typeface="Urbanist ExtraLight" panose="020B0A04040200000203" pitchFamily="34" charset="0"/>
              <a:ea typeface="Urbanist ExtraLight" panose="020B0A04040200000203" pitchFamily="34" charset="0"/>
              <a:cs typeface="Urbanist ExtraLight" panose="020B0A04040200000203" pitchFamily="34" charset="0"/>
            </a:endParaRPr>
          </a:p>
          <a:p>
            <a:pPr marL="571500" indent="-571500" algn="l">
              <a:buFontTx/>
              <a:buChar char="-"/>
              <a:defRPr sz="4400" b="1">
                <a:solidFill>
                  <a:srgbClr val="F1F5F9"/>
                </a:solidFill>
                <a:latin typeface="Urbanist" panose="020B0A04040200000203"/>
              </a:defRPr>
            </a:pPr>
            <a:r>
              <a:rPr lang="en-US" altLang="ko-KR" sz="2400" dirty="0">
                <a:latin typeface="Urbanist ExtraLight" panose="020B0A04040200000203" pitchFamily="34" charset="0"/>
                <a:ea typeface="Urbanist ExtraLight" panose="020B0A04040200000203" pitchFamily="34" charset="0"/>
                <a:cs typeface="Urbanist ExtraLight" panose="020B0A04040200000203" pitchFamily="34" charset="0"/>
              </a:rPr>
              <a:t>Process creation and management</a:t>
            </a:r>
            <a:endParaRPr lang="en-US" altLang="ko-KR" sz="2400" dirty="0">
              <a:latin typeface="Urbanist ExtraLight" panose="020B0A04040200000203" pitchFamily="34" charset="0"/>
              <a:ea typeface="Urbanist ExtraLight" panose="020B0A04040200000203" pitchFamily="34" charset="0"/>
              <a:cs typeface="Urbanist ExtraLight" panose="020B0A04040200000203" pitchFamily="34" charset="0"/>
            </a:endParaRPr>
          </a:p>
          <a:p>
            <a:pPr marL="571500" indent="-571500" algn="l">
              <a:buFontTx/>
              <a:buChar char="-"/>
              <a:defRPr sz="4400" b="1">
                <a:solidFill>
                  <a:srgbClr val="F1F5F9"/>
                </a:solidFill>
                <a:latin typeface="Urbanist" panose="020B0A04040200000203"/>
              </a:defRPr>
            </a:pPr>
            <a:r>
              <a:rPr lang="en-US" altLang="ko-KR" sz="2400" dirty="0">
                <a:latin typeface="Urbanist ExtraLight" panose="020B0A04040200000203" pitchFamily="34" charset="0"/>
                <a:ea typeface="Urbanist ExtraLight" panose="020B0A04040200000203" pitchFamily="34" charset="0"/>
                <a:cs typeface="Urbanist ExtraLight" panose="020B0A04040200000203" pitchFamily="34" charset="0"/>
              </a:rPr>
              <a:t>Inter-process communication (IPC)</a:t>
            </a:r>
            <a:endParaRPr lang="en-US" sz="2400" dirty="0">
              <a:solidFill>
                <a:schemeClr val="bg1"/>
              </a:solidFill>
              <a:latin typeface="Urbanist ExtraLight" panose="020B0A04040200000203" pitchFamily="34" charset="0"/>
              <a:ea typeface="Urbanist ExtraLight" panose="020B0A04040200000203" pitchFamily="34" charset="0"/>
              <a:cs typeface="Urbanist ExtraLight" panose="020B0A04040200000203"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defRPr sz="4400" b="1">
                <a:solidFill>
                  <a:srgbClr val="F1F5F9"/>
                </a:solidFill>
                <a:latin typeface="Urbanist" panose="020B0A04040200000203"/>
              </a:defRPr>
            </a:pPr>
            <a:r>
              <a:t>Threads vs. Processes</a:t>
            </a:r>
          </a:p>
        </p:txBody>
      </p:sp>
      <p:pic>
        <p:nvPicPr>
          <p:cNvPr id="5" name="Picture 4"/>
          <p:cNvPicPr>
            <a:picLocks noChangeAspect="1"/>
          </p:cNvPicPr>
          <p:nvPr/>
        </p:nvPicPr>
        <p:blipFill>
          <a:blip r:embed="rId1"/>
          <a:stretch>
            <a:fillRect/>
          </a:stretch>
        </p:blipFill>
        <p:spPr>
          <a:xfrm>
            <a:off x="457200" y="1600200"/>
            <a:ext cx="10850880" cy="39776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defRPr sz="4400" b="1">
                <a:solidFill>
                  <a:srgbClr val="F1F5F9"/>
                </a:solidFill>
                <a:latin typeface="Urbanist" panose="020B0A04040200000203"/>
              </a:defRPr>
            </a:pPr>
            <a:r>
              <a:t>Threads vs. Processes</a:t>
            </a:r>
          </a:p>
        </p:txBody>
      </p:sp>
      <p:sp>
        <p:nvSpPr>
          <p:cNvPr id="3" name="Content Placeholder 2"/>
          <p:cNvSpPr>
            <a:spLocks noGrp="1"/>
          </p:cNvSpPr>
          <p:nvPr>
            <p:ph idx="1"/>
          </p:nvPr>
        </p:nvSpPr>
        <p:spPr>
          <a:xfrm>
            <a:off x="457199" y="1600200"/>
            <a:ext cx="11255829" cy="4525963"/>
          </a:xfrm>
        </p:spPr>
        <p:txBody>
          <a:bodyPr/>
          <a:lstStyle/>
          <a:p>
            <a:pPr marL="0" indent="0">
              <a:spcAft>
                <a:spcPts val="1400"/>
              </a:spcAft>
              <a:buNone/>
              <a:defRPr sz="2200">
                <a:solidFill>
                  <a:srgbClr val="CBD5E1"/>
                </a:solidFill>
                <a:latin typeface="Urbanist" panose="020B0A04040200000203"/>
              </a:defRPr>
            </a:pPr>
            <a:r>
              <a:rPr dirty="0"/>
              <a:t>Key Distinctions</a:t>
            </a:r>
            <a:endParaRPr dirty="0"/>
          </a:p>
          <a:p>
            <a:pPr marL="0" indent="0">
              <a:spcAft>
                <a:spcPts val="1400"/>
              </a:spcAft>
              <a:buNone/>
              <a:defRPr sz="2200">
                <a:solidFill>
                  <a:srgbClr val="CBD5E1"/>
                </a:solidFill>
                <a:latin typeface="Urbanist" panose="020B0A04040200000203"/>
              </a:defRPr>
            </a:pPr>
            <a:r>
              <a:rPr dirty="0"/>
              <a:t>- Threads share the same memory space within a process.</a:t>
            </a:r>
            <a:endParaRPr dirty="0"/>
          </a:p>
          <a:p>
            <a:pPr marL="0" indent="0">
              <a:spcAft>
                <a:spcPts val="1400"/>
              </a:spcAft>
              <a:buNone/>
              <a:defRPr sz="2200">
                <a:solidFill>
                  <a:srgbClr val="CBD5E1"/>
                </a:solidFill>
                <a:latin typeface="Urbanist" panose="020B0A04040200000203"/>
              </a:defRPr>
            </a:pPr>
            <a:r>
              <a:rPr dirty="0"/>
              <a:t>- Resource Sharing: Threads share code, data, and files.</a:t>
            </a:r>
            <a:endParaRPr dirty="0"/>
          </a:p>
          <a:p>
            <a:pPr marL="0" indent="0">
              <a:spcAft>
                <a:spcPts val="1400"/>
              </a:spcAft>
              <a:buNone/>
              <a:defRPr sz="2200">
                <a:solidFill>
                  <a:srgbClr val="CBD5E1"/>
                </a:solidFill>
                <a:latin typeface="Urbanist" panose="020B0A04040200000203"/>
              </a:defRPr>
            </a:pPr>
            <a:r>
              <a:rPr dirty="0"/>
              <a:t>- Overhead: Threads are 'lightweight'; faster creation than processes.</a:t>
            </a:r>
            <a:endParaRPr dirty="0"/>
          </a:p>
          <a:p>
            <a:pPr marL="0" indent="0">
              <a:spcAft>
                <a:spcPts val="1400"/>
              </a:spcAft>
              <a:buNone/>
              <a:defRPr sz="2200">
                <a:solidFill>
                  <a:srgbClr val="CBD5E1"/>
                </a:solidFill>
                <a:latin typeface="Urbanist" panose="020B0A04040200000203"/>
              </a:defRPr>
            </a:pPr>
            <a:r>
              <a:rPr dirty="0"/>
              <a:t>- Risk: A bug in one thread can crash the entire process.</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8"/>
          <p:cNvSpPr>
            <a:spLocks noGrp="1" noRot="1" noChangeAspect="1" noMove="1" noResize="1" noEditPoints="1" noAdjustHandles="1" noChangeArrowheads="1" noChangeShapeType="1" noTextEdit="1"/>
          </p:cNvSpPr>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10"/>
          <p:cNvSpPr>
            <a:spLocks noGrp="1" noRot="1" noChangeAspect="1" noMove="1" noResize="1" noEditPoints="1" noAdjustHandles="1" noChangeArrowheads="1" noChangeShapeType="1" noTextEdit="1"/>
          </p:cNvSpPr>
          <p:nvPr/>
        </p:nvSpPr>
        <p:spPr>
          <a:xfrm>
            <a:off x="0" y="891540"/>
            <a:ext cx="722376" cy="5071110"/>
          </a:xfrm>
          <a:prstGeom prst="rect">
            <a:avLst/>
          </a:prstGeom>
          <a:solidFill>
            <a:srgbClr val="4C52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그림 3"/>
          <p:cNvPicPr>
            <a:picLocks noChangeAspect="1"/>
          </p:cNvPicPr>
          <p:nvPr/>
        </p:nvPicPr>
        <p:blipFill>
          <a:blip r:embed="rId1"/>
          <a:stretch>
            <a:fillRect/>
          </a:stretch>
        </p:blipFill>
        <p:spPr>
          <a:xfrm>
            <a:off x="1623534" y="0"/>
            <a:ext cx="9667002" cy="6815237"/>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defRPr sz="4400" b="1">
                <a:solidFill>
                  <a:srgbClr val="F1F5F9"/>
                </a:solidFill>
                <a:latin typeface="Urbanist" panose="020B0A04040200000203"/>
              </a:defRPr>
            </a:pPr>
            <a:r>
              <a:rPr dirty="0"/>
              <a:t>Synchronization Challenges</a:t>
            </a:r>
            <a:endParaRPr dirty="0"/>
          </a:p>
        </p:txBody>
      </p:sp>
      <p:sp>
        <p:nvSpPr>
          <p:cNvPr id="3" name="Content Placeholder 2"/>
          <p:cNvSpPr>
            <a:spLocks noGrp="1"/>
          </p:cNvSpPr>
          <p:nvPr>
            <p:ph idx="1"/>
          </p:nvPr>
        </p:nvSpPr>
        <p:spPr>
          <a:xfrm>
            <a:off x="457200" y="1600200"/>
            <a:ext cx="11277600" cy="4525963"/>
          </a:xfrm>
        </p:spPr>
        <p:txBody>
          <a:bodyPr/>
          <a:lstStyle/>
          <a:p>
            <a:pPr marL="0" indent="0">
              <a:spcAft>
                <a:spcPts val="1400"/>
              </a:spcAft>
              <a:buNone/>
              <a:defRPr sz="2200">
                <a:solidFill>
                  <a:srgbClr val="CBD5E1"/>
                </a:solidFill>
                <a:latin typeface="Urbanist" panose="020B0A04040200000203"/>
              </a:defRPr>
            </a:pPr>
            <a:r>
              <a:rPr dirty="0"/>
              <a:t>- Race Conditions: Simultaneous access leads to unpredictable outcomes.</a:t>
            </a:r>
            <a:endParaRPr dirty="0"/>
          </a:p>
          <a:p>
            <a:pPr marL="0" indent="0">
              <a:spcAft>
                <a:spcPts val="1400"/>
              </a:spcAft>
              <a:buNone/>
              <a:defRPr sz="2200">
                <a:solidFill>
                  <a:srgbClr val="CBD5E1"/>
                </a:solidFill>
                <a:latin typeface="Urbanist" panose="020B0A04040200000203"/>
              </a:defRPr>
            </a:pPr>
            <a:r>
              <a:rPr dirty="0"/>
              <a:t>- Deadlocks: Threads wait indefinitely for each other to release resources.</a:t>
            </a:r>
            <a:endParaRPr dirty="0"/>
          </a:p>
          <a:p>
            <a:pPr marL="0" indent="0">
              <a:spcAft>
                <a:spcPts val="1400"/>
              </a:spcAft>
              <a:buNone/>
              <a:defRPr sz="2200">
                <a:solidFill>
                  <a:srgbClr val="CBD5E1"/>
                </a:solidFill>
                <a:latin typeface="Urbanist" panose="020B0A04040200000203"/>
              </a:defRPr>
            </a:pPr>
            <a:r>
              <a:rPr dirty="0"/>
              <a:t>- Context Switching: CPU overhead when switching threads.</a:t>
            </a:r>
            <a:endParaRPr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p:cNvSpPr>
            <a:spLocks noGrp="1" noRot="1" noChangeAspect="1" noMove="1" noResize="1" noEditPoints="1" noAdjustHandles="1" noChangeArrowheads="1" noChangeShapeType="1" noTextEdit="1"/>
          </p:cNvSpPr>
          <p:nvPr/>
        </p:nvSpPr>
        <p:spPr>
          <a:xfrm rot="10800000">
            <a:off x="-1" y="6140785"/>
            <a:ext cx="6095997" cy="711252"/>
          </a:xfrm>
          <a:prstGeom prst="rect">
            <a:avLst/>
          </a:prstGeom>
          <a:gradFill flip="none" rotWithShape="1">
            <a:gsLst>
              <a:gs pos="10000">
                <a:schemeClr val="tx2">
                  <a:lumMod val="50000"/>
                  <a:alpha val="10000"/>
                </a:schemeClr>
              </a:gs>
              <a:gs pos="100000">
                <a:schemeClr val="tx2">
                  <a:lumMod val="60000"/>
                  <a:lumOff val="40000"/>
                  <a:alpha val="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p:cNvSpPr>
            <a:spLocks noGrp="1" noRot="1" noChangeAspect="1" noMove="1" noResize="1" noEditPoints="1" noAdjustHandles="1" noChangeArrowheads="1" noChangeShapeType="1" noTextEdit="1"/>
          </p:cNvSpPr>
          <p:nvPr/>
        </p:nvSpPr>
        <p:spPr>
          <a:xfrm>
            <a:off x="3048" y="0"/>
            <a:ext cx="1218895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p:cNvGrpSpPr>
            <a:grpSpLocks noGrp="1" noRot="1" noChangeAspect="1" noMove="1" noResize="1" noUngrp="1"/>
          </p:cNvGrpSpPr>
          <p:nvPr/>
        </p:nvGrpSpPr>
        <p:grpSpPr>
          <a:xfrm>
            <a:off x="1" y="2075420"/>
            <a:ext cx="12048729" cy="4093306"/>
            <a:chOff x="1" y="2075420"/>
            <a:chExt cx="12048729" cy="4093306"/>
          </a:xfrm>
        </p:grpSpPr>
        <p:sp>
          <p:nvSpPr>
            <p:cNvPr id="22" name="Oval 21"/>
            <p:cNvSpPr/>
            <p:nvPr/>
          </p:nvSpPr>
          <p:spPr>
            <a:xfrm rot="4500000">
              <a:off x="7942191" y="2507571"/>
              <a:ext cx="3563871" cy="3563871"/>
            </a:xfrm>
            <a:prstGeom prst="ellipse">
              <a:avLst/>
            </a:prstGeom>
            <a:noFill/>
            <a:ln w="31750">
              <a:gradFill>
                <a:gsLst>
                  <a:gs pos="0">
                    <a:schemeClr val="tx2">
                      <a:lumMod val="60000"/>
                      <a:lumOff val="40000"/>
                      <a:alpha val="1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p:cNvSpPr/>
            <p:nvPr/>
          </p:nvSpPr>
          <p:spPr>
            <a:xfrm rot="16200000">
              <a:off x="10435065" y="4048931"/>
              <a:ext cx="1381607" cy="1381607"/>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p:cNvSpPr/>
            <p:nvPr/>
          </p:nvSpPr>
          <p:spPr>
            <a:xfrm rot="16200000">
              <a:off x="1" y="2075420"/>
              <a:ext cx="3144364" cy="3144364"/>
            </a:xfrm>
            <a:prstGeom prst="ellipse">
              <a:avLst/>
            </a:prstGeom>
            <a:gradFill>
              <a:gsLst>
                <a:gs pos="0">
                  <a:schemeClr val="tx2">
                    <a:lumMod val="75000"/>
                    <a:alpha val="20000"/>
                  </a:schemeClr>
                </a:gs>
                <a:gs pos="100000">
                  <a:schemeClr val="tx2">
                    <a:lumMod val="5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p:cNvSpPr/>
            <p:nvPr/>
          </p:nvSpPr>
          <p:spPr>
            <a:xfrm rot="12600000">
              <a:off x="10150845" y="4270841"/>
              <a:ext cx="1897885" cy="1897885"/>
            </a:xfrm>
            <a:prstGeom prst="ellipse">
              <a:avLst/>
            </a:prstGeom>
            <a:gradFill>
              <a:gsLst>
                <a:gs pos="0">
                  <a:schemeClr val="tx2">
                    <a:lumMod val="75000"/>
                    <a:alpha val="10000"/>
                  </a:schemeClr>
                </a:gs>
                <a:gs pos="100000">
                  <a:schemeClr val="tx2">
                    <a:lumMod val="75000"/>
                    <a:alpha val="2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p:cNvSpPr/>
            <p:nvPr/>
          </p:nvSpPr>
          <p:spPr>
            <a:xfrm rot="4500000">
              <a:off x="2046780" y="3040492"/>
              <a:ext cx="2579322" cy="2579322"/>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p:cNvSpPr/>
            <p:nvPr/>
          </p:nvSpPr>
          <p:spPr>
            <a:xfrm rot="4500000">
              <a:off x="2224640" y="3193975"/>
              <a:ext cx="2243193" cy="2243193"/>
            </a:xfrm>
            <a:prstGeom prst="ellipse">
              <a:avLst/>
            </a:prstGeom>
            <a:noFill/>
            <a:ln w="31750">
              <a:gradFill>
                <a:gsLst>
                  <a:gs pos="0">
                    <a:schemeClr val="tx2">
                      <a:lumMod val="60000"/>
                      <a:lumOff val="40000"/>
                      <a:alpha val="10000"/>
                    </a:schemeClr>
                  </a:gs>
                  <a:gs pos="100000">
                    <a:schemeClr val="tx2">
                      <a:lumMod val="50000"/>
                      <a:alpha val="1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 name="Rectangle 28"/>
          <p:cNvSpPr>
            <a:spLocks noGrp="1" noRot="1" noChangeAspect="1" noMove="1" noResize="1" noEditPoints="1" noAdjustHandles="1" noChangeArrowheads="1" noChangeShapeType="1" noTextEdit="1"/>
          </p:cNvSpPr>
          <p:nvPr/>
        </p:nvSpPr>
        <p:spPr>
          <a:xfrm>
            <a:off x="0" y="0"/>
            <a:ext cx="12188952" cy="6858000"/>
          </a:xfrm>
          <a:prstGeom prst="rect">
            <a:avLst/>
          </a:prstGeom>
          <a:solidFill>
            <a:schemeClr val="tx1">
              <a:alpha val="5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5" y="630936"/>
            <a:ext cx="5330275" cy="1951075"/>
          </a:xfrm>
          <a:noFill/>
        </p:spPr>
        <p:txBody>
          <a:bodyPr vert="horz" lIns="91440" tIns="45720" rIns="91440" bIns="45720" rtlCol="0" anchor="t">
            <a:normAutofit/>
          </a:bodyPr>
          <a:lstStyle/>
          <a:p>
            <a:pPr algn="l" defTabSz="914400">
              <a:defRPr sz="4400" b="1">
                <a:solidFill>
                  <a:srgbClr val="F1F5F9"/>
                </a:solidFill>
                <a:latin typeface="Urbanist" panose="020B0A04040200000203"/>
              </a:defRPr>
            </a:pPr>
            <a:r>
              <a:rPr lang="en-US" sz="4800" kern="1200">
                <a:solidFill>
                  <a:schemeClr val="bg1"/>
                </a:solidFill>
                <a:latin typeface="Urbanist" panose="020B0A04040200000203" pitchFamily="34" charset="0"/>
                <a:ea typeface="Urbanist" panose="020B0A04040200000203" pitchFamily="34" charset="0"/>
                <a:cs typeface="Urbanist" panose="020B0A04040200000203" pitchFamily="34" charset="0"/>
              </a:rPr>
              <a:t>Race Condition</a:t>
            </a:r>
            <a:endParaRPr lang="en-US" sz="4800" kern="1200">
              <a:solidFill>
                <a:schemeClr val="bg1"/>
              </a:solidFill>
              <a:latin typeface="Urbanist" panose="020B0A04040200000203" pitchFamily="34" charset="0"/>
              <a:ea typeface="Urbanist" panose="020B0A04040200000203" pitchFamily="34" charset="0"/>
              <a:cs typeface="Urbanist" panose="020B0A04040200000203" pitchFamily="34" charset="0"/>
            </a:endParaRPr>
          </a:p>
        </p:txBody>
      </p:sp>
      <p:sp>
        <p:nvSpPr>
          <p:cNvPr id="3" name="Content Placeholder 2"/>
          <p:cNvSpPr>
            <a:spLocks noGrp="1"/>
          </p:cNvSpPr>
          <p:nvPr>
            <p:ph idx="1"/>
          </p:nvPr>
        </p:nvSpPr>
        <p:spPr>
          <a:xfrm>
            <a:off x="6167718" y="630936"/>
            <a:ext cx="4992469" cy="1951087"/>
          </a:xfrm>
          <a:noFill/>
        </p:spPr>
        <p:txBody>
          <a:bodyPr vert="horz" lIns="91440" tIns="45720" rIns="91440" bIns="45720" rtlCol="0" anchor="t">
            <a:normAutofit/>
          </a:bodyPr>
          <a:lstStyle/>
          <a:p>
            <a:pPr marL="0" indent="0" defTabSz="914400">
              <a:spcBef>
                <a:spcPts val="1000"/>
              </a:spcBef>
              <a:spcAft>
                <a:spcPts val="1400"/>
              </a:spcAft>
              <a:buNone/>
              <a:defRPr sz="2200">
                <a:solidFill>
                  <a:srgbClr val="CBD5E1"/>
                </a:solidFill>
                <a:latin typeface="Urbanist" panose="020B0A04040200000203"/>
              </a:defRPr>
            </a:pPr>
            <a:r>
              <a:rPr lang="en-US" sz="2400" kern="1200" dirty="0">
                <a:solidFill>
                  <a:schemeClr val="bg1"/>
                </a:solidFill>
                <a:latin typeface="Urbanist" panose="020B0A04040200000203" pitchFamily="34" charset="0"/>
                <a:ea typeface="Urbanist" panose="020B0A04040200000203" pitchFamily="34" charset="0"/>
                <a:cs typeface="Urbanist" panose="020B0A04040200000203" pitchFamily="34" charset="0"/>
              </a:rPr>
              <a:t>Shared variable is accessed by several processes/threads concurrently </a:t>
            </a:r>
            <a:endParaRPr lang="en-US" sz="2400" kern="1200" dirty="0">
              <a:solidFill>
                <a:schemeClr val="bg1"/>
              </a:solidFill>
              <a:latin typeface="Urbanist" panose="020B0A04040200000203" pitchFamily="34" charset="0"/>
              <a:ea typeface="Urbanist" panose="020B0A04040200000203" pitchFamily="34" charset="0"/>
              <a:cs typeface="Urbanist" panose="020B0A04040200000203" pitchFamily="34" charset="0"/>
            </a:endParaRPr>
          </a:p>
          <a:p>
            <a:pPr marL="0" indent="0" defTabSz="914400">
              <a:spcBef>
                <a:spcPts val="1000"/>
              </a:spcBef>
              <a:spcAft>
                <a:spcPts val="1400"/>
              </a:spcAft>
              <a:buNone/>
              <a:defRPr sz="2200">
                <a:solidFill>
                  <a:srgbClr val="CBD5E1"/>
                </a:solidFill>
                <a:latin typeface="Urbanist" panose="020B0A04040200000203"/>
              </a:defRPr>
            </a:pPr>
            <a:r>
              <a:rPr lang="en-US" sz="2400" kern="1200" dirty="0">
                <a:solidFill>
                  <a:schemeClr val="bg1"/>
                </a:solidFill>
                <a:latin typeface="Urbanist" panose="020B0A04040200000203" pitchFamily="34" charset="0"/>
                <a:ea typeface="Urbanist" panose="020B0A04040200000203" pitchFamily="34" charset="0"/>
                <a:cs typeface="Urbanist" panose="020B0A04040200000203" pitchFamily="34" charset="0"/>
              </a:rPr>
              <a:t>-&gt; Data Inconsistency</a:t>
            </a:r>
            <a:endParaRPr lang="en-US" sz="2400" kern="1200" dirty="0">
              <a:solidFill>
                <a:schemeClr val="bg1"/>
              </a:solidFill>
              <a:latin typeface="Urbanist" panose="020B0A04040200000203" pitchFamily="34" charset="0"/>
              <a:ea typeface="Urbanist" panose="020B0A04040200000203" pitchFamily="34" charset="0"/>
              <a:cs typeface="Urbanist" panose="020B0A04040200000203" pitchFamily="34" charset="0"/>
            </a:endParaRPr>
          </a:p>
        </p:txBody>
      </p:sp>
      <p:sp>
        <p:nvSpPr>
          <p:cNvPr id="31" name="Rectangle 30"/>
          <p:cNvSpPr>
            <a:spLocks noGrp="1" noRot="1" noChangeAspect="1" noMove="1" noResize="1" noEditPoints="1" noAdjustHandles="1" noChangeArrowheads="1" noChangeShapeType="1" noTextEdit="1"/>
          </p:cNvSpPr>
          <p:nvPr/>
        </p:nvSpPr>
        <p:spPr>
          <a:xfrm rot="16200000">
            <a:off x="10438146" y="1042605"/>
            <a:ext cx="2796461" cy="711252"/>
          </a:xfrm>
          <a:prstGeom prst="rect">
            <a:avLst/>
          </a:prstGeom>
          <a:gradFill flip="none" rotWithShape="1">
            <a:gsLst>
              <a:gs pos="0">
                <a:schemeClr val="tx2">
                  <a:lumMod val="40000"/>
                  <a:lumOff val="60000"/>
                  <a:alpha val="0"/>
                </a:schemeClr>
              </a:gs>
              <a:gs pos="100000">
                <a:schemeClr val="tx2">
                  <a:lumMod val="75000"/>
                  <a:alpha val="1000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p:cNvGrpSpPr>
            <a:grpSpLocks noGrp="1" noRot="1" noChangeAspect="1" noMove="1" noResize="1" noUngrp="1"/>
          </p:cNvGrpSpPr>
          <p:nvPr/>
        </p:nvGrpSpPr>
        <p:grpSpPr>
          <a:xfrm>
            <a:off x="11259539" y="317578"/>
            <a:ext cx="548640" cy="549007"/>
            <a:chOff x="7029447" y="3514725"/>
            <a:chExt cx="1285875" cy="549007"/>
          </a:xfrm>
        </p:grpSpPr>
        <p:cxnSp>
          <p:nvCxnSpPr>
            <p:cNvPr id="34" name="Straight Connector 33"/>
            <p:cNvCxnSpPr/>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grpSp>
        <p:nvGrpSpPr>
          <p:cNvPr id="39" name="Group 38"/>
          <p:cNvGrpSpPr>
            <a:grpSpLocks noGrp="1" noRot="1" noChangeAspect="1" noMove="1" noResize="1" noUngrp="1"/>
          </p:cNvGrpSpPr>
          <p:nvPr/>
        </p:nvGrpSpPr>
        <p:grpSpPr>
          <a:xfrm rot="5400000">
            <a:off x="616345" y="5940560"/>
            <a:ext cx="1285875" cy="549007"/>
            <a:chOff x="7029447" y="3514725"/>
            <a:chExt cx="1285875" cy="549007"/>
          </a:xfrm>
        </p:grpSpPr>
        <p:cxnSp>
          <p:nvCxnSpPr>
            <p:cNvPr id="40" name="Straight Connector 39"/>
            <p:cNvCxnSpPr/>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pic>
        <p:nvPicPr>
          <p:cNvPr id="7" name="그림 6"/>
          <p:cNvPicPr>
            <a:picLocks noChangeAspect="1"/>
          </p:cNvPicPr>
          <p:nvPr/>
        </p:nvPicPr>
        <p:blipFill>
          <a:blip r:embed="rId1"/>
          <a:srcRect t="1417" r="-2" b="-2"/>
          <a:stretch>
            <a:fillRect/>
          </a:stretch>
        </p:blipFill>
        <p:spPr>
          <a:xfrm>
            <a:off x="6081357" y="2856400"/>
            <a:ext cx="5209846" cy="3492497"/>
          </a:xfrm>
          <a:prstGeom prst="rect">
            <a:avLst/>
          </a:prstGeom>
        </p:spPr>
      </p:pic>
      <p:grpSp>
        <p:nvGrpSpPr>
          <p:cNvPr id="45" name="Group 44"/>
          <p:cNvGrpSpPr>
            <a:grpSpLocks noGrp="1" noRot="1" noChangeAspect="1" noMove="1" noResize="1" noUngrp="1"/>
          </p:cNvGrpSpPr>
          <p:nvPr/>
        </p:nvGrpSpPr>
        <p:grpSpPr>
          <a:xfrm rot="16200000">
            <a:off x="474193" y="2900856"/>
            <a:ext cx="304800" cy="429768"/>
            <a:chOff x="215328" y="-46937"/>
            <a:chExt cx="304800" cy="2773841"/>
          </a:xfrm>
        </p:grpSpPr>
        <p:cxnSp>
          <p:nvCxnSpPr>
            <p:cNvPr id="46" name="Straight Connector 45"/>
            <p:cNvCxnSpPr/>
            <p:nvPr/>
          </p:nvCxnSpPr>
          <p:spPr>
            <a:xfrm>
              <a:off x="2153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a:off x="3169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a:off x="4185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201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pic>
        <p:nvPicPr>
          <p:cNvPr id="5" name="그림 4"/>
          <p:cNvPicPr>
            <a:picLocks noChangeAspect="1"/>
          </p:cNvPicPr>
          <p:nvPr/>
        </p:nvPicPr>
        <p:blipFill>
          <a:blip r:embed="rId2"/>
          <a:srcRect r="-2" b="1051"/>
          <a:stretch>
            <a:fillRect/>
          </a:stretch>
        </p:blipFill>
        <p:spPr>
          <a:xfrm>
            <a:off x="886160" y="2809070"/>
            <a:ext cx="5209836" cy="3492497"/>
          </a:xfrm>
          <a:prstGeom prst="rect">
            <a:avLst/>
          </a:prstGeom>
        </p:spPr>
      </p:pic>
      <p:sp>
        <p:nvSpPr>
          <p:cNvPr id="8" name="Content Placeholder 2"/>
          <p:cNvSpPr txBox="1"/>
          <p:nvPr/>
        </p:nvSpPr>
        <p:spPr>
          <a:xfrm>
            <a:off x="777660" y="2020901"/>
            <a:ext cx="4992469" cy="587057"/>
          </a:xfrm>
          <a:prstGeom prst="rect">
            <a:avLst/>
          </a:prstGeom>
          <a:noFill/>
        </p:spPr>
        <p:txBody>
          <a:bodyPr vert="horz" lIns="91440" tIns="45720" rIns="91440" bIns="45720" rtlCol="0" anchor="t">
            <a:normAutofit/>
          </a:bodyPr>
          <a:lst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a:lstStyle>
          <a:p>
            <a:pPr marL="0" indent="0" defTabSz="914400">
              <a:spcBef>
                <a:spcPts val="1000"/>
              </a:spcBef>
              <a:spcAft>
                <a:spcPts val="1400"/>
              </a:spcAft>
              <a:buFont typeface="Arial" panose="020B0604020202020204"/>
              <a:buNone/>
              <a:defRPr sz="2200">
                <a:solidFill>
                  <a:srgbClr val="CBD5E1"/>
                </a:solidFill>
                <a:latin typeface="Urbanist" panose="020B0A04040200000203"/>
              </a:defRPr>
            </a:pPr>
            <a:r>
              <a:rPr lang="en-US" sz="2400" dirty="0">
                <a:solidFill>
                  <a:schemeClr val="bg1"/>
                </a:solidFill>
                <a:latin typeface="Urbanist" panose="020B0A04040200000203" pitchFamily="34" charset="0"/>
                <a:ea typeface="Urbanist" panose="020B0A04040200000203" pitchFamily="34" charset="0"/>
                <a:cs typeface="Urbanist" panose="020B0A04040200000203" pitchFamily="34" charset="0"/>
              </a:rPr>
              <a:t>**Critical Section</a:t>
            </a:r>
            <a:endParaRPr lang="en-US" sz="2400" dirty="0">
              <a:solidFill>
                <a:schemeClr val="bg1"/>
              </a:solidFill>
              <a:latin typeface="Urbanist" panose="020B0A04040200000203" pitchFamily="34" charset="0"/>
              <a:ea typeface="Urbanist" panose="020B0A04040200000203" pitchFamily="34" charset="0"/>
              <a:cs typeface="Urbanist" panose="020B0A04040200000203"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331088" y="565739"/>
            <a:ext cx="9745883" cy="1124949"/>
          </a:xfrm>
        </p:spPr>
        <p:txBody>
          <a:bodyPr>
            <a:normAutofit/>
          </a:bodyPr>
          <a:lstStyle/>
          <a:p>
            <a:pPr>
              <a:defRPr sz="4400" b="1">
                <a:solidFill>
                  <a:srgbClr val="F1F5F9"/>
                </a:solidFill>
                <a:latin typeface="Urbanist" panose="020B0A04040200000203"/>
              </a:defRPr>
            </a:pPr>
            <a:r>
              <a:rPr lang="en-US" altLang="ko-KR">
                <a:solidFill>
                  <a:schemeClr val="bg1"/>
                </a:solidFill>
              </a:rPr>
              <a:t>Synchronization Requirements</a:t>
            </a:r>
            <a:endParaRPr lang="en-US">
              <a:solidFill>
                <a:schemeClr val="bg1"/>
              </a:solidFill>
            </a:endParaRPr>
          </a:p>
        </p:txBody>
      </p:sp>
      <p:sp>
        <p:nvSpPr>
          <p:cNvPr id="11" name="Freeform: Shape 10"/>
          <p:cNvSpPr>
            <a:spLocks noGrp="1" noRot="1" noChangeAspect="1" noMove="1" noResize="1" noEditPoints="1" noAdjustHandles="1" noChangeArrowheads="1" noChangeShapeType="1" noTextEdit="1"/>
          </p:cNvSpPr>
          <p:nvPr/>
        </p:nvSpPr>
        <p:spPr>
          <a:xfrm>
            <a:off x="0" y="681037"/>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dirty="0">
              <a:solidFill>
                <a:schemeClr val="lt1"/>
              </a:solidFill>
            </a:endParaRPr>
          </a:p>
        </p:txBody>
      </p:sp>
      <p:sp>
        <p:nvSpPr>
          <p:cNvPr id="13" name="Freeform: Shape 12"/>
          <p:cNvSpPr>
            <a:spLocks noGrp="1" noRot="1" noChangeAspect="1" noMove="1" noResize="1" noEditPoints="1" noAdjustHandles="1" noChangeArrowheads="1" noChangeShapeType="1" noTextEdit="1"/>
          </p:cNvSpPr>
          <p:nvPr/>
        </p:nvSpPr>
        <p:spPr>
          <a:xfrm>
            <a:off x="0" y="1116069"/>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p:cNvSpPr>
            <a:spLocks noGrp="1" noRot="1" noChangeAspect="1" noMove="1" noResize="1" noEditPoints="1" noAdjustHandles="1" noChangeArrowheads="1" noChangeShapeType="1" noTextEdit="1"/>
          </p:cNvSpPr>
          <p:nvPr/>
        </p:nvSpPr>
        <p:spPr>
          <a:xfrm>
            <a:off x="836766" y="2256427"/>
            <a:ext cx="10855283" cy="3963398"/>
          </a:xfrm>
          <a:prstGeom prst="rect">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p:cNvSpPr>
            <a:spLocks noGrp="1" noRot="1" noChangeAspect="1" noMove="1" noResize="1" noEditPoints="1" noAdjustHandles="1" noChangeArrowheads="1" noChangeShapeType="1" noTextEdit="1"/>
          </p:cNvSpPr>
          <p:nvPr/>
        </p:nvSpPr>
        <p:spPr>
          <a:xfrm>
            <a:off x="838200" y="2256427"/>
            <a:ext cx="10853849" cy="3955009"/>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p:cNvSpPr>
            <a:spLocks noGrp="1" noRot="1" noChangeAspect="1" noMove="1" noResize="1" noEditPoints="1" noAdjustHandles="1" noChangeArrowheads="1" noChangeShapeType="1" noTextEdit="1"/>
          </p:cNvSpPr>
          <p:nvPr/>
        </p:nvSpPr>
        <p:spPr>
          <a:xfrm>
            <a:off x="735106" y="2125615"/>
            <a:ext cx="10855283" cy="3974760"/>
          </a:xfrm>
          <a:prstGeom prst="rect">
            <a:avLst/>
          </a:prstGeom>
          <a:solidFill>
            <a:schemeClr val="bg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p:cNvGraphicFramePr>
            <a:graphicFrameLocks noGrp="1"/>
          </p:cNvGraphicFramePr>
          <p:nvPr>
            <p:ph idx="1"/>
          </p:nvPr>
        </p:nvGraphicFramePr>
        <p:xfrm>
          <a:off x="1093694" y="2425605"/>
          <a:ext cx="10260106" cy="3371571"/>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p:cNvSpPr>
            <a:spLocks noGrp="1" noRot="1" noChangeAspect="1" noMove="1" noResize="1" noEditPoints="1" noAdjustHandles="1" noChangeArrowheads="1" noChangeShapeType="1" noTextEdit="1"/>
          </p:cNvSpPr>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56532" y="643467"/>
            <a:ext cx="11210925" cy="744836"/>
          </a:xfrm>
        </p:spPr>
        <p:txBody>
          <a:bodyPr vert="horz" lIns="91440" tIns="45720" rIns="91440" bIns="45720" rtlCol="0" anchor="ctr">
            <a:normAutofit/>
          </a:bodyPr>
          <a:lstStyle/>
          <a:p>
            <a:pPr defTabSz="914400">
              <a:lnSpc>
                <a:spcPct val="90000"/>
              </a:lnSpc>
              <a:defRPr sz="4400" b="1">
                <a:solidFill>
                  <a:srgbClr val="F1F5F9"/>
                </a:solidFill>
                <a:latin typeface="Urbanist" panose="020B0A04040200000203"/>
              </a:defRPr>
            </a:pPr>
            <a:r>
              <a:rPr lang="en-US" sz="3200" kern="1200" dirty="0">
                <a:solidFill>
                  <a:schemeClr val="bg1"/>
                </a:solidFill>
                <a:latin typeface="Urbanist" panose="020B0A04040200000203" pitchFamily="34" charset="0"/>
                <a:ea typeface="Urbanist" panose="020B0A04040200000203" pitchFamily="34" charset="0"/>
                <a:cs typeface="Urbanist" panose="020B0A04040200000203" pitchFamily="34" charset="0"/>
              </a:rPr>
              <a:t>Synchronization Solutions</a:t>
            </a:r>
            <a:endParaRPr lang="en-US" sz="3200" kern="1200" dirty="0">
              <a:solidFill>
                <a:schemeClr val="bg1"/>
              </a:solidFill>
              <a:latin typeface="Urbanist" panose="020B0A04040200000203" pitchFamily="34" charset="0"/>
              <a:ea typeface="Urbanist" panose="020B0A04040200000203" pitchFamily="34" charset="0"/>
              <a:cs typeface="Urbanist" panose="020B0A04040200000203" pitchFamily="34" charset="0"/>
            </a:endParaRPr>
          </a:p>
        </p:txBody>
      </p:sp>
      <p:pic>
        <p:nvPicPr>
          <p:cNvPr id="7" name="내용 개체 틀 6"/>
          <p:cNvPicPr>
            <a:picLocks noGrp="1" noChangeAspect="1"/>
          </p:cNvPicPr>
          <p:nvPr>
            <p:ph idx="1"/>
          </p:nvPr>
        </p:nvPicPr>
        <p:blipFill>
          <a:blip r:embed="rId1"/>
          <a:stretch>
            <a:fillRect/>
          </a:stretch>
        </p:blipFill>
        <p:spPr>
          <a:xfrm>
            <a:off x="709461" y="1999754"/>
            <a:ext cx="10905066" cy="2099224"/>
          </a:xfrm>
          <a:prstGeom prst="rect">
            <a:avLst/>
          </a:prstGeom>
        </p:spPr>
      </p:pic>
      <p:sp>
        <p:nvSpPr>
          <p:cNvPr id="8" name="Content Placeholder 2"/>
          <p:cNvSpPr txBox="1"/>
          <p:nvPr/>
        </p:nvSpPr>
        <p:spPr>
          <a:xfrm>
            <a:off x="1631019" y="4416552"/>
            <a:ext cx="4087368" cy="1528317"/>
          </a:xfrm>
          <a:prstGeom prst="rect">
            <a:avLst/>
          </a:prstGeom>
        </p:spPr>
        <p:txBody>
          <a:bodyPr vert="horz" lIns="91440" tIns="45720" rIns="91440" bIns="45720" rtlCol="0">
            <a:normAutofit lnSpcReduction="10000"/>
          </a:bodyPr>
          <a:lst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a:lstStyle>
          <a:p>
            <a:pPr marL="0" indent="0">
              <a:spcAft>
                <a:spcPts val="1400"/>
              </a:spcAft>
              <a:buNone/>
              <a:defRPr sz="2200">
                <a:solidFill>
                  <a:srgbClr val="CBD5E1"/>
                </a:solidFill>
                <a:latin typeface="Urbanist" panose="020B0A04040200000203"/>
              </a:defRPr>
            </a:pPr>
            <a:r>
              <a:rPr lang="en-US" sz="2200" dirty="0">
                <a:solidFill>
                  <a:srgbClr val="FF0000"/>
                </a:solidFill>
                <a:latin typeface="Urbanist" panose="020B0A04040200000203"/>
              </a:rPr>
              <a:t>Inefficient</a:t>
            </a:r>
            <a:endParaRPr lang="en-US" sz="2200" dirty="0">
              <a:solidFill>
                <a:srgbClr val="FF0000"/>
              </a:solidFill>
              <a:latin typeface="Urbanist" panose="020B0A04040200000203"/>
            </a:endParaRPr>
          </a:p>
          <a:p>
            <a:pPr>
              <a:spcAft>
                <a:spcPts val="1400"/>
              </a:spcAft>
              <a:buFontTx/>
              <a:buChar char="-"/>
              <a:defRPr sz="2200">
                <a:solidFill>
                  <a:srgbClr val="CBD5E1"/>
                </a:solidFill>
                <a:latin typeface="Urbanist" panose="020B0A04040200000203"/>
              </a:defRPr>
            </a:pPr>
            <a:r>
              <a:rPr lang="en-US" sz="2200" dirty="0">
                <a:solidFill>
                  <a:srgbClr val="FF0000"/>
                </a:solidFill>
                <a:latin typeface="Urbanist" panose="020B0A04040200000203"/>
              </a:rPr>
              <a:t>CPU wasting</a:t>
            </a:r>
            <a:endParaRPr lang="en-US" sz="2200" dirty="0">
              <a:solidFill>
                <a:srgbClr val="FF0000"/>
              </a:solidFill>
              <a:latin typeface="Urbanist" panose="020B0A04040200000203"/>
            </a:endParaRPr>
          </a:p>
          <a:p>
            <a:pPr>
              <a:spcAft>
                <a:spcPts val="1400"/>
              </a:spcAft>
              <a:buFontTx/>
              <a:buChar char="-"/>
              <a:defRPr sz="2200">
                <a:solidFill>
                  <a:srgbClr val="CBD5E1"/>
                </a:solidFill>
                <a:latin typeface="Urbanist" panose="020B0A04040200000203"/>
              </a:defRPr>
            </a:pPr>
            <a:r>
              <a:rPr lang="en-US" sz="2200" dirty="0">
                <a:solidFill>
                  <a:srgbClr val="FF0000"/>
                </a:solidFill>
                <a:latin typeface="Urbanist" panose="020B0A04040200000203"/>
              </a:rPr>
              <a:t>Priority Inversion</a:t>
            </a:r>
            <a:endParaRPr lang="en-US" sz="2200" dirty="0">
              <a:solidFill>
                <a:srgbClr val="FF0000"/>
              </a:solidFill>
              <a:latin typeface="Urbanist" panose="020B0A04040200000203"/>
            </a:endParaRPr>
          </a:p>
        </p:txBody>
      </p:sp>
      <p:sp>
        <p:nvSpPr>
          <p:cNvPr id="9" name="Content Placeholder 2"/>
          <p:cNvSpPr txBox="1"/>
          <p:nvPr/>
        </p:nvSpPr>
        <p:spPr>
          <a:xfrm>
            <a:off x="6776043" y="4285488"/>
            <a:ext cx="4087368" cy="1528317"/>
          </a:xfrm>
          <a:prstGeom prst="rect">
            <a:avLst/>
          </a:prstGeom>
        </p:spPr>
        <p:txBody>
          <a:bodyPr vert="horz" lIns="91440" tIns="45720" rIns="91440" bIns="45720" rtlCol="0">
            <a:normAutofit lnSpcReduction="10000"/>
          </a:bodyPr>
          <a:lst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a:lstStyle>
          <a:p>
            <a:pPr marL="0" indent="0">
              <a:spcAft>
                <a:spcPts val="1400"/>
              </a:spcAft>
              <a:buNone/>
              <a:defRPr sz="2200">
                <a:solidFill>
                  <a:srgbClr val="CBD5E1"/>
                </a:solidFill>
                <a:latin typeface="Urbanist" panose="020B0A04040200000203"/>
              </a:defRPr>
            </a:pPr>
            <a:r>
              <a:rPr lang="en-US" sz="2200" dirty="0">
                <a:solidFill>
                  <a:schemeClr val="tx1">
                    <a:lumMod val="95000"/>
                    <a:lumOff val="5000"/>
                  </a:schemeClr>
                </a:solidFill>
                <a:latin typeface="Urbanist" panose="020B0A04040200000203"/>
              </a:rPr>
              <a:t>Efficient</a:t>
            </a:r>
            <a:endParaRPr lang="en-US" sz="2200" dirty="0">
              <a:solidFill>
                <a:schemeClr val="tx1">
                  <a:lumMod val="95000"/>
                  <a:lumOff val="5000"/>
                </a:schemeClr>
              </a:solidFill>
              <a:latin typeface="Urbanist" panose="020B0A04040200000203"/>
            </a:endParaRPr>
          </a:p>
          <a:p>
            <a:pPr>
              <a:spcAft>
                <a:spcPts val="1400"/>
              </a:spcAft>
              <a:buFontTx/>
              <a:buChar char="-"/>
              <a:defRPr sz="2200">
                <a:solidFill>
                  <a:srgbClr val="CBD5E1"/>
                </a:solidFill>
                <a:latin typeface="Urbanist" panose="020B0A04040200000203"/>
              </a:defRPr>
            </a:pPr>
            <a:r>
              <a:rPr lang="en-US" sz="2200" dirty="0">
                <a:solidFill>
                  <a:schemeClr val="tx1">
                    <a:lumMod val="95000"/>
                    <a:lumOff val="5000"/>
                  </a:schemeClr>
                </a:solidFill>
                <a:latin typeface="Urbanist" panose="020B0A04040200000203"/>
              </a:rPr>
              <a:t>Semaphore</a:t>
            </a:r>
            <a:endParaRPr lang="en-US" sz="2200" dirty="0">
              <a:solidFill>
                <a:schemeClr val="tx1">
                  <a:lumMod val="95000"/>
                  <a:lumOff val="5000"/>
                </a:schemeClr>
              </a:solidFill>
              <a:latin typeface="Urbanist" panose="020B0A04040200000203"/>
            </a:endParaRPr>
          </a:p>
          <a:p>
            <a:pPr>
              <a:spcAft>
                <a:spcPts val="1400"/>
              </a:spcAft>
              <a:buFontTx/>
              <a:buChar char="-"/>
              <a:defRPr sz="2200">
                <a:solidFill>
                  <a:srgbClr val="CBD5E1"/>
                </a:solidFill>
                <a:latin typeface="Urbanist" panose="020B0A04040200000203"/>
              </a:defRPr>
            </a:pPr>
            <a:r>
              <a:rPr lang="en-US" sz="2200" dirty="0">
                <a:solidFill>
                  <a:schemeClr val="tx1">
                    <a:lumMod val="95000"/>
                    <a:lumOff val="5000"/>
                  </a:schemeClr>
                </a:solidFill>
                <a:latin typeface="Urbanist" panose="020B0A04040200000203"/>
              </a:rPr>
              <a:t>Monitor (thread-safe)</a:t>
            </a:r>
            <a:endParaRPr lang="en-US" sz="2200" dirty="0">
              <a:solidFill>
                <a:schemeClr val="tx1">
                  <a:lumMod val="95000"/>
                  <a:lumOff val="5000"/>
                </a:schemeClr>
              </a:solidFill>
              <a:latin typeface="Urbanist" panose="020B0A04040200000203"/>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 name="Group 11"/>
          <p:cNvGrpSpPr>
            <a:grpSpLocks noGrp="1" noRot="1" noChangeAspect="1" noMove="1" noResize="1" noUngrp="1"/>
          </p:cNvGrpSpPr>
          <p:nvPr/>
        </p:nvGrpSpPr>
        <p:grpSpPr>
          <a:xfrm>
            <a:off x="785511" y="805742"/>
            <a:ext cx="3647770" cy="3193211"/>
            <a:chOff x="1674895" y="1345036"/>
            <a:chExt cx="5428610" cy="4210939"/>
          </a:xfrm>
        </p:grpSpPr>
        <p:sp>
          <p:nvSpPr>
            <p:cNvPr id="13" name="Rectangle 12"/>
            <p:cNvSpPr/>
            <p:nvPr/>
          </p:nvSpPr>
          <p:spPr>
            <a:xfrm>
              <a:off x="1674895" y="1345036"/>
              <a:ext cx="5428610" cy="4210939"/>
            </a:xfrm>
            <a:prstGeom prst="rect">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1674895" y="1345036"/>
              <a:ext cx="5428610" cy="4210939"/>
            </a:xfrm>
            <a:prstGeom prst="rect">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p:cNvSpPr>
            <a:spLocks noGrp="1" noRot="1" noChangeAspect="1" noMove="1" noResize="1" noEditPoints="1" noAdjustHandles="1" noChangeArrowheads="1" noChangeShapeType="1" noTextEdit="1"/>
          </p:cNvSpPr>
          <p:nvPr/>
        </p:nvSpPr>
        <p:spPr>
          <a:xfrm>
            <a:off x="695315" y="685805"/>
            <a:ext cx="3624947" cy="3193211"/>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740584" y="859808"/>
            <a:ext cx="3543197" cy="2878986"/>
          </a:xfrm>
        </p:spPr>
        <p:txBody>
          <a:bodyPr>
            <a:normAutofit/>
          </a:bodyPr>
          <a:lstStyle/>
          <a:p>
            <a:pPr>
              <a:defRPr sz="4400" b="1">
                <a:solidFill>
                  <a:srgbClr val="F1F5F9"/>
                </a:solidFill>
                <a:latin typeface="Urbanist" panose="020B0A04040200000203"/>
              </a:defRPr>
            </a:pPr>
            <a:r>
              <a:rPr lang="en-US">
                <a:solidFill>
                  <a:schemeClr val="bg1"/>
                </a:solidFill>
              </a:rPr>
              <a:t>Example Code</a:t>
            </a:r>
            <a:endParaRPr lang="en-US">
              <a:solidFill>
                <a:schemeClr val="bg1"/>
              </a:solidFill>
            </a:endParaRPr>
          </a:p>
        </p:txBody>
      </p:sp>
      <p:grpSp>
        <p:nvGrpSpPr>
          <p:cNvPr id="18" name="Graphic 38"/>
          <p:cNvGrpSpPr>
            <a:grpSpLocks noGrp="1" noRot="1" noChangeAspect="1" noMove="1" noResize="1" noUngrp="1"/>
          </p:cNvGrpSpPr>
          <p:nvPr/>
        </p:nvGrpSpPr>
        <p:grpSpPr>
          <a:xfrm>
            <a:off x="0" y="117004"/>
            <a:ext cx="1370098" cy="508993"/>
            <a:chOff x="2267504" y="2540250"/>
            <a:chExt cx="1990951" cy="739640"/>
          </a:xfrm>
          <a:solidFill>
            <a:schemeClr val="bg1"/>
          </a:solidFill>
        </p:grpSpPr>
        <p:sp>
          <p:nvSpPr>
            <p:cNvPr id="19" name="Freeform: Shape 18"/>
            <p:cNvSpPr/>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20" name="Freeform: Shape 19"/>
            <p:cNvSpPr/>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nvGrpSpPr>
          <p:cNvPr id="22" name="Graphic 4"/>
          <p:cNvGrpSpPr>
            <a:grpSpLocks noGrp="1" noRot="1" noChangeAspect="1" noMove="1" noResize="1" noUngrp="1"/>
          </p:cNvGrpSpPr>
          <p:nvPr/>
        </p:nvGrpSpPr>
        <p:grpSpPr>
          <a:xfrm>
            <a:off x="4689048" y="2445529"/>
            <a:ext cx="849365" cy="849366"/>
            <a:chOff x="5829300" y="3162300"/>
            <a:chExt cx="532256" cy="532257"/>
          </a:xfrm>
          <a:solidFill>
            <a:srgbClr val="FFFFFF"/>
          </a:solidFill>
        </p:grpSpPr>
        <p:sp>
          <p:nvSpPr>
            <p:cNvPr id="23" name="Freeform: Shape 22"/>
            <p:cNvSpPr/>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4" name="Freeform: Shape 23"/>
            <p:cNvSpPr/>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5" name="Freeform: Shape 24"/>
            <p:cNvSpPr/>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26" name="Freeform: Shape 25"/>
            <p:cNvSpPr/>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7" name="Freeform: Shape 26"/>
            <p:cNvSpPr/>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8" name="Freeform: Shape 27"/>
            <p:cNvSpPr/>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9" name="Freeform: Shape 28"/>
            <p:cNvSpPr/>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30" name="Freeform: Shape 29"/>
            <p:cNvSpPr/>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1" name="Freeform: Shape 30"/>
            <p:cNvSpPr/>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2" name="Freeform: Shape 31"/>
            <p:cNvSpPr/>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3" name="Freeform: Shape 32"/>
            <p:cNvSpPr/>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4" name="Freeform: Shape 33"/>
            <p:cNvSpPr/>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5" name="Freeform: Shape 34"/>
            <p:cNvSpPr/>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pSp>
        <p:nvGrpSpPr>
          <p:cNvPr id="37" name="Graphic 4"/>
          <p:cNvGrpSpPr>
            <a:grpSpLocks noGrp="1" noRot="1" noChangeAspect="1" noMove="1" noResize="1" noUngrp="1"/>
          </p:cNvGrpSpPr>
          <p:nvPr/>
        </p:nvGrpSpPr>
        <p:grpSpPr>
          <a:xfrm>
            <a:off x="4689048" y="2445529"/>
            <a:ext cx="849365" cy="849366"/>
            <a:chOff x="5829300" y="3162300"/>
            <a:chExt cx="532256" cy="532257"/>
          </a:xfrm>
          <a:solidFill>
            <a:schemeClr val="bg1"/>
          </a:solidFill>
        </p:grpSpPr>
        <p:sp>
          <p:nvSpPr>
            <p:cNvPr id="38" name="Freeform: Shape 37"/>
            <p:cNvSpPr/>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39" name="Freeform: Shape 38"/>
            <p:cNvSpPr/>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40" name="Freeform: Shape 39"/>
            <p:cNvSpPr/>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41" name="Freeform: Shape 40"/>
            <p:cNvSpPr/>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42" name="Freeform: Shape 41"/>
            <p:cNvSpPr/>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43" name="Freeform: Shape 42"/>
            <p:cNvSpPr/>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44" name="Freeform: Shape 43"/>
            <p:cNvSpPr/>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45" name="Freeform: Shape 44"/>
            <p:cNvSpPr/>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46" name="Freeform: Shape 45"/>
            <p:cNvSpPr/>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47" name="Freeform: Shape 46"/>
            <p:cNvSpPr/>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48" name="Freeform: Shape 47"/>
            <p:cNvSpPr/>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49" name="Freeform: Shape 48"/>
            <p:cNvSpPr/>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50" name="Freeform: Shape 49"/>
            <p:cNvSpPr/>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p:cNvGraphicFramePr>
            <a:graphicFrameLocks noGrp="1"/>
          </p:cNvGraphicFramePr>
          <p:nvPr>
            <p:ph idx="1"/>
          </p:nvPr>
        </p:nvGraphicFramePr>
        <p:xfrm>
          <a:off x="3634452" y="1130846"/>
          <a:ext cx="7817590" cy="4921412"/>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5" name="Rectangle 64"/>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p:cNvSpPr>
            <a:spLocks noGrp="1" noRot="1" noChangeAspect="1" noMove="1" noResize="1" noEditPoints="1" noAdjustHandles="1" noChangeArrowheads="1" noChangeShapeType="1" noTextEdit="1"/>
          </p:cNvSpPr>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그림 5" descr="텍스트, 도표, 폰트, 스크린샷이(가) 표시된 사진&#10;&#10;AI 생성 콘텐츠는 정확하지 않을 수 있습니다."/>
          <p:cNvPicPr>
            <a:picLocks noChangeAspect="1"/>
          </p:cNvPicPr>
          <p:nvPr/>
        </p:nvPicPr>
        <p:blipFill>
          <a:blip r:embed="rId1"/>
          <a:stretch>
            <a:fillRect/>
          </a:stretch>
        </p:blipFill>
        <p:spPr>
          <a:xfrm>
            <a:off x="643467" y="743628"/>
            <a:ext cx="10905066" cy="537074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defRPr sz="4400" b="1">
                <a:solidFill>
                  <a:srgbClr val="F1F5F9"/>
                </a:solidFill>
                <a:latin typeface="Urbanist" panose="020B0A04040200000203"/>
              </a:defRPr>
            </a:pPr>
            <a:r>
              <a:rPr lang="en-US"/>
              <a:t>Deadlock</a:t>
            </a:r>
            <a:endParaRPr lang="en-US" dirty="0"/>
          </a:p>
        </p:txBody>
      </p:sp>
      <p:sp>
        <p:nvSpPr>
          <p:cNvPr id="3" name="Content Placeholder 2"/>
          <p:cNvSpPr>
            <a:spLocks noGrp="1"/>
          </p:cNvSpPr>
          <p:nvPr>
            <p:ph idx="1"/>
          </p:nvPr>
        </p:nvSpPr>
        <p:spPr>
          <a:xfrm>
            <a:off x="594361" y="1417638"/>
            <a:ext cx="3410711" cy="4983162"/>
          </a:xfrm>
        </p:spPr>
        <p:txBody>
          <a:bodyPr>
            <a:normAutofit/>
          </a:bodyPr>
          <a:lstStyle/>
          <a:p>
            <a:pPr marL="0" indent="0">
              <a:spcAft>
                <a:spcPts val="1400"/>
              </a:spcAft>
              <a:buNone/>
              <a:defRPr sz="2200">
                <a:solidFill>
                  <a:srgbClr val="CBD5E1"/>
                </a:solidFill>
                <a:latin typeface="Urbanist" panose="020B0A04040200000203"/>
              </a:defRPr>
            </a:pPr>
            <a:r>
              <a:rPr lang="en-US" dirty="0"/>
              <a:t>Definition: the situation when </a:t>
            </a:r>
            <a:r>
              <a:rPr lang="en-US" altLang="ko-KR" sz="2200" dirty="0"/>
              <a:t>a set of processes or threads are all waiting for a resource that is currently held by another process or thread in the same set.</a:t>
            </a:r>
            <a:endParaRPr lang="en-US" altLang="ko-KR" sz="2200" dirty="0"/>
          </a:p>
        </p:txBody>
      </p:sp>
      <p:sp>
        <p:nvSpPr>
          <p:cNvPr id="30" name="TextBox 29"/>
          <p:cNvSpPr txBox="1"/>
          <p:nvPr/>
        </p:nvSpPr>
        <p:spPr>
          <a:xfrm>
            <a:off x="5193792" y="1202402"/>
            <a:ext cx="6126480" cy="5380960"/>
          </a:xfrm>
          <a:prstGeom prst="rect">
            <a:avLst/>
          </a:prstGeom>
          <a:noFill/>
        </p:spPr>
        <p:txBody>
          <a:bodyPr wrap="square">
            <a:spAutoFit/>
          </a:bodyPr>
          <a:lstStyle/>
          <a:p>
            <a:pPr>
              <a:spcAft>
                <a:spcPts val="1400"/>
              </a:spcAft>
              <a:defRPr sz="2200">
                <a:solidFill>
                  <a:srgbClr val="CBD5E1"/>
                </a:solidFill>
                <a:latin typeface="Urbanist" panose="020B0A04040200000203"/>
              </a:defRPr>
            </a:pPr>
            <a:r>
              <a:rPr lang="en-US" altLang="ko-KR" dirty="0"/>
              <a:t>4 Conditions for Deadlock:</a:t>
            </a:r>
            <a:endParaRPr lang="en-US" altLang="ko-KR" dirty="0"/>
          </a:p>
          <a:p>
            <a:pPr lvl="1">
              <a:spcAft>
                <a:spcPts val="1400"/>
              </a:spcAft>
              <a:buFont typeface="Wingdings" panose="05000000000000000000" pitchFamily="2" charset="2"/>
              <a:buChar char="§"/>
              <a:defRPr sz="2200">
                <a:solidFill>
                  <a:srgbClr val="CBD5E1"/>
                </a:solidFill>
                <a:latin typeface="Urbanist" panose="020B0A04040200000203"/>
              </a:defRPr>
            </a:pPr>
            <a:r>
              <a:rPr lang="en-US" altLang="ko-KR" dirty="0"/>
              <a:t>Mutual Exclusion: </a:t>
            </a:r>
            <a:br>
              <a:rPr lang="en-US" altLang="ko-KR" dirty="0"/>
            </a:br>
            <a:r>
              <a:rPr lang="en-US" altLang="ko-KR" sz="1700" dirty="0"/>
              <a:t>Resources must be non-shareable. Only one process/thread can use a resource at a time.</a:t>
            </a:r>
            <a:endParaRPr lang="en-US" altLang="ko-KR" sz="1700" dirty="0"/>
          </a:p>
          <a:p>
            <a:pPr lvl="1">
              <a:spcAft>
                <a:spcPts val="1400"/>
              </a:spcAft>
              <a:buFont typeface="Wingdings" panose="05000000000000000000" pitchFamily="2" charset="2"/>
              <a:buChar char="§"/>
              <a:defRPr sz="2200">
                <a:solidFill>
                  <a:srgbClr val="CBD5E1"/>
                </a:solidFill>
                <a:latin typeface="Urbanist" panose="020B0A04040200000203"/>
              </a:defRPr>
            </a:pPr>
            <a:r>
              <a:rPr lang="en-US" altLang="ko-KR" dirty="0"/>
              <a:t>Hold and Wait: </a:t>
            </a:r>
            <a:br>
              <a:rPr lang="en-US" altLang="ko-KR" dirty="0"/>
            </a:br>
            <a:r>
              <a:rPr lang="en-US" altLang="ko-KR" sz="1700" dirty="0"/>
              <a:t>A process must be holding at least one resource and simultaneously waiting to acquire additional resources currently held by other processes</a:t>
            </a:r>
            <a:endParaRPr lang="en-US" altLang="ko-KR" sz="1700" dirty="0"/>
          </a:p>
          <a:p>
            <a:pPr lvl="1">
              <a:spcAft>
                <a:spcPts val="1400"/>
              </a:spcAft>
              <a:buFont typeface="Wingdings" panose="05000000000000000000" pitchFamily="2" charset="2"/>
              <a:buChar char="§"/>
              <a:defRPr sz="2200">
                <a:solidFill>
                  <a:srgbClr val="CBD5E1"/>
                </a:solidFill>
                <a:latin typeface="Urbanist" panose="020B0A04040200000203"/>
              </a:defRPr>
            </a:pPr>
            <a:r>
              <a:rPr lang="en-US" altLang="ko-KR" dirty="0"/>
              <a:t>No Preemption: </a:t>
            </a:r>
            <a:br>
              <a:rPr lang="en-US" altLang="ko-KR" dirty="0"/>
            </a:br>
            <a:r>
              <a:rPr lang="en-US" altLang="ko-KR" sz="1700" dirty="0"/>
              <a:t>A resource cannot be forcibly taken away from a process; it can only be released voluntarily by the process holding it, after it has completed its task.</a:t>
            </a:r>
            <a:endParaRPr lang="en-US" altLang="ko-KR" sz="1700" dirty="0"/>
          </a:p>
          <a:p>
            <a:pPr lvl="1">
              <a:spcAft>
                <a:spcPts val="1400"/>
              </a:spcAft>
              <a:buFont typeface="Wingdings" panose="05000000000000000000" pitchFamily="2" charset="2"/>
              <a:buChar char="§"/>
              <a:defRPr sz="2200">
                <a:solidFill>
                  <a:srgbClr val="CBD5E1"/>
                </a:solidFill>
                <a:latin typeface="Urbanist" panose="020B0A04040200000203"/>
              </a:defRPr>
            </a:pPr>
            <a:r>
              <a:rPr lang="en-US" altLang="ko-KR" dirty="0"/>
              <a:t>Circular Wait: </a:t>
            </a:r>
            <a:br>
              <a:rPr lang="en-US" altLang="ko-KR" dirty="0"/>
            </a:br>
            <a:r>
              <a:rPr lang="en-US" altLang="ko-KR" sz="1700" dirty="0"/>
              <a:t>A set of waiting processes/threads must exist such that P0 is waiting for a resource held by P1, P1 is waiting for a resource held by P0, ...</a:t>
            </a:r>
            <a:endParaRPr lang="en-US" altLang="ko-KR" sz="1700" dirty="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5" name="Rectangle 34"/>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Oval 36"/>
          <p:cNvSpPr>
            <a:spLocks noGrp="1" noRot="1" noChangeAspect="1" noMove="1" noResize="1" noEditPoints="1" noAdjustHandles="1" noChangeArrowheads="1" noChangeShapeType="1" noTextEdit="1"/>
          </p:cNvSpPr>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p:cNvSpPr>
            <a:spLocks noGrp="1" noRot="1" noChangeAspect="1" noMove="1" noResize="1" noEditPoints="1" noAdjustHandles="1" noChangeArrowheads="1" noChangeShapeType="1" noTextEdit="1"/>
          </p:cNvSpPr>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p:cNvSpPr>
            <a:spLocks noGrp="1" noRot="1" noChangeAspect="1" noMove="1" noResize="1" noEditPoints="1" noAdjustHandles="1" noChangeArrowheads="1" noChangeShapeType="1" noTextEdit="1"/>
          </p:cNvSpPr>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102368" y="1877492"/>
            <a:ext cx="4030132" cy="3215373"/>
          </a:xfrm>
        </p:spPr>
        <p:txBody>
          <a:bodyPr vert="horz" lIns="91440" tIns="45720" rIns="91440" bIns="45720" rtlCol="0" anchor="ctr">
            <a:normAutofit/>
          </a:bodyPr>
          <a:lstStyle/>
          <a:p>
            <a:pPr defTabSz="914400">
              <a:lnSpc>
                <a:spcPct val="90000"/>
              </a:lnSpc>
              <a:defRPr sz="4400" b="1">
                <a:solidFill>
                  <a:srgbClr val="F1F5F9"/>
                </a:solidFill>
                <a:latin typeface="Urbanist" panose="020B0A04040200000203"/>
              </a:defRPr>
            </a:pPr>
            <a:r>
              <a:rPr lang="en-US" sz="6000" kern="1200" dirty="0">
                <a:solidFill>
                  <a:schemeClr val="bg1"/>
                </a:solidFill>
                <a:latin typeface="Urbanist" panose="020B0A04040200000203" pitchFamily="34" charset="0"/>
                <a:ea typeface="Urbanist" panose="020B0A04040200000203" pitchFamily="34" charset="0"/>
                <a:cs typeface="Urbanist" panose="020B0A04040200000203" pitchFamily="34" charset="0"/>
              </a:rPr>
              <a:t>Deadlock Handling</a:t>
            </a:r>
            <a:endParaRPr lang="en-US" sz="6000" kern="1200" dirty="0">
              <a:solidFill>
                <a:schemeClr val="bg1"/>
              </a:solidFill>
              <a:latin typeface="Urbanist" panose="020B0A04040200000203" pitchFamily="34" charset="0"/>
              <a:ea typeface="Urbanist" panose="020B0A04040200000203" pitchFamily="34" charset="0"/>
              <a:cs typeface="Urbanist" panose="020B0A04040200000203" pitchFamily="34" charset="0"/>
            </a:endParaRPr>
          </a:p>
        </p:txBody>
      </p:sp>
      <p:grpSp>
        <p:nvGrpSpPr>
          <p:cNvPr id="43" name="Group 42"/>
          <p:cNvGrpSpPr>
            <a:grpSpLocks noGrp="1" noRot="1" noChangeAspect="1" noMove="1" noResize="1" noUngrp="1"/>
          </p:cNvGrpSpPr>
          <p:nvPr/>
        </p:nvGrpSpPr>
        <p:grpSpPr>
          <a:xfrm>
            <a:off x="0" y="377893"/>
            <a:ext cx="1861854" cy="717514"/>
            <a:chOff x="0" y="377893"/>
            <a:chExt cx="1861854" cy="717514"/>
          </a:xfrm>
          <a:solidFill>
            <a:schemeClr val="bg1"/>
          </a:solidFill>
        </p:grpSpPr>
        <p:sp>
          <p:nvSpPr>
            <p:cNvPr id="44" name="Freeform: Shape 43"/>
            <p:cNvSpPr/>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45" name="Freeform: Shape 44"/>
            <p:cNvSpPr/>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sp>
        <p:nvSpPr>
          <p:cNvPr id="47" name="Graphic 212"/>
          <p:cNvSpPr>
            <a:spLocks noGrp="1" noRot="1" noChangeAspect="1" noMove="1" noResize="1" noEditPoints="1" noAdjustHandles="1" noChangeArrowheads="1" noChangeShapeType="1" noTextEdit="1"/>
          </p:cNvSpPr>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solidFill>
                <a:schemeClr val="lt1"/>
              </a:solidFill>
            </a:endParaRPr>
          </a:p>
        </p:txBody>
      </p:sp>
      <p:sp>
        <p:nvSpPr>
          <p:cNvPr id="49" name="Graphic 212"/>
          <p:cNvSpPr>
            <a:spLocks noGrp="1" noRot="1" noChangeAspect="1" noMove="1" noResize="1" noEditPoints="1" noAdjustHandles="1" noChangeArrowheads="1" noChangeShapeType="1" noTextEdit="1"/>
          </p:cNvSpPr>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solidFill>
                <a:schemeClr val="lt1"/>
              </a:solidFill>
            </a:endParaRPr>
          </a:p>
        </p:txBody>
      </p:sp>
      <p:sp>
        <p:nvSpPr>
          <p:cNvPr id="51" name="Oval 50"/>
          <p:cNvSpPr>
            <a:spLocks noGrp="1" noRot="1" noChangeAspect="1" noMove="1" noResize="1" noEditPoints="1" noAdjustHandles="1" noChangeArrowheads="1" noChangeShapeType="1" noTextEdit="1"/>
          </p:cNvSpPr>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
        <p:nvSpPr>
          <p:cNvPr id="53" name="Oval 52"/>
          <p:cNvSpPr>
            <a:spLocks noGrp="1" noRot="1" noChangeAspect="1" noMove="1" noResize="1" noEditPoints="1" noAdjustHandles="1" noChangeArrowheads="1" noChangeShapeType="1" noTextEdit="1"/>
          </p:cNvSpPr>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
        <p:nvSpPr>
          <p:cNvPr id="30" name="TextBox 29"/>
          <p:cNvSpPr txBox="1"/>
          <p:nvPr/>
        </p:nvSpPr>
        <p:spPr>
          <a:xfrm>
            <a:off x="5843256" y="2265165"/>
            <a:ext cx="5743160" cy="3267534"/>
          </a:xfrm>
          <a:prstGeom prst="rect">
            <a:avLst/>
          </a:prstGeom>
        </p:spPr>
        <p:txBody>
          <a:bodyPr vert="horz" lIns="91440" tIns="45720" rIns="91440" bIns="45720" rtlCol="0">
            <a:normAutofit/>
          </a:bodyPr>
          <a:lstStyle/>
          <a:p>
            <a:pPr marL="1085850" lvl="1" indent="-571500" defTabSz="914400">
              <a:lnSpc>
                <a:spcPct val="90000"/>
              </a:lnSpc>
              <a:spcAft>
                <a:spcPts val="1400"/>
              </a:spcAft>
              <a:buFont typeface="Wingdings" panose="05000000000000000000" pitchFamily="2" charset="2"/>
              <a:buChar char="§"/>
              <a:defRPr sz="2200">
                <a:solidFill>
                  <a:srgbClr val="CBD5E1"/>
                </a:solidFill>
                <a:latin typeface="Urbanist" panose="020B0A04040200000203"/>
              </a:defRPr>
            </a:pPr>
            <a:r>
              <a:rPr lang="en-US" altLang="ko-KR" sz="3600" dirty="0">
                <a:solidFill>
                  <a:schemeClr val="bg1"/>
                </a:solidFill>
              </a:rPr>
              <a:t>Ignorance</a:t>
            </a:r>
            <a:endParaRPr lang="en-US" altLang="ko-KR" sz="3600" dirty="0">
              <a:solidFill>
                <a:schemeClr val="bg1"/>
              </a:solidFill>
            </a:endParaRPr>
          </a:p>
          <a:p>
            <a:pPr marL="1085850" lvl="1" indent="-571500" defTabSz="914400">
              <a:lnSpc>
                <a:spcPct val="90000"/>
              </a:lnSpc>
              <a:spcAft>
                <a:spcPts val="1400"/>
              </a:spcAft>
              <a:buFont typeface="Wingdings" panose="05000000000000000000" pitchFamily="2" charset="2"/>
              <a:buChar char="§"/>
              <a:defRPr sz="2200">
                <a:solidFill>
                  <a:srgbClr val="CBD5E1"/>
                </a:solidFill>
                <a:latin typeface="Urbanist" panose="020B0A04040200000203"/>
              </a:defRPr>
            </a:pPr>
            <a:r>
              <a:rPr lang="en-US" altLang="ko-KR" sz="3600" dirty="0">
                <a:solidFill>
                  <a:schemeClr val="bg1"/>
                </a:solidFill>
              </a:rPr>
              <a:t>Prevention</a:t>
            </a:r>
            <a:endParaRPr lang="en-US" altLang="ko-KR" sz="3600" dirty="0">
              <a:solidFill>
                <a:schemeClr val="bg1"/>
              </a:solidFill>
            </a:endParaRPr>
          </a:p>
          <a:p>
            <a:pPr marL="1085850" lvl="1" indent="-571500" defTabSz="914400">
              <a:lnSpc>
                <a:spcPct val="90000"/>
              </a:lnSpc>
              <a:spcAft>
                <a:spcPts val="1400"/>
              </a:spcAft>
              <a:buFont typeface="Wingdings" panose="05000000000000000000" pitchFamily="2" charset="2"/>
              <a:buChar char="§"/>
              <a:defRPr sz="2200">
                <a:solidFill>
                  <a:srgbClr val="CBD5E1"/>
                </a:solidFill>
                <a:latin typeface="Urbanist" panose="020B0A04040200000203"/>
              </a:defRPr>
            </a:pPr>
            <a:r>
              <a:rPr lang="en-US" altLang="ko-KR" sz="3600" dirty="0">
                <a:solidFill>
                  <a:schemeClr val="bg1"/>
                </a:solidFill>
              </a:rPr>
              <a:t>Avoidance</a:t>
            </a:r>
            <a:endParaRPr lang="en-US" altLang="ko-KR" sz="3600" dirty="0">
              <a:solidFill>
                <a:schemeClr val="bg1"/>
              </a:solidFill>
            </a:endParaRPr>
          </a:p>
          <a:p>
            <a:pPr marL="1085850" lvl="1" indent="-571500" defTabSz="914400">
              <a:lnSpc>
                <a:spcPct val="90000"/>
              </a:lnSpc>
              <a:spcAft>
                <a:spcPts val="1400"/>
              </a:spcAft>
              <a:buFont typeface="Wingdings" panose="05000000000000000000" pitchFamily="2" charset="2"/>
              <a:buChar char="§"/>
              <a:defRPr sz="2200">
                <a:solidFill>
                  <a:srgbClr val="CBD5E1"/>
                </a:solidFill>
                <a:latin typeface="Urbanist" panose="020B0A04040200000203"/>
              </a:defRPr>
            </a:pPr>
            <a:r>
              <a:rPr lang="en-US" altLang="ko-KR" sz="3600" dirty="0">
                <a:solidFill>
                  <a:schemeClr val="bg1"/>
                </a:solidFill>
              </a:rPr>
              <a:t>Detection &amp;Recovery</a:t>
            </a:r>
            <a:endParaRPr lang="en-US" altLang="ko-KR" sz="3600" dirty="0">
              <a:solidFill>
                <a:schemeClr val="bg1"/>
              </a:solidFill>
            </a:endParaRPr>
          </a:p>
        </p:txBody>
      </p:sp>
      <p:grpSp>
        <p:nvGrpSpPr>
          <p:cNvPr id="55" name="Graphic 185"/>
          <p:cNvGrpSpPr>
            <a:grpSpLocks noGrp="1" noRot="1" noChangeAspect="1" noMove="1" noResize="1" noUngrp="1"/>
          </p:cNvGrpSpPr>
          <p:nvPr/>
        </p:nvGrpSpPr>
        <p:grpSpPr>
          <a:xfrm>
            <a:off x="9812239" y="6139464"/>
            <a:ext cx="1054466" cy="469689"/>
            <a:chOff x="9841624" y="4115729"/>
            <a:chExt cx="602169" cy="268223"/>
          </a:xfrm>
          <a:solidFill>
            <a:schemeClr val="bg1"/>
          </a:solidFill>
        </p:grpSpPr>
        <p:sp>
          <p:nvSpPr>
            <p:cNvPr id="56" name="Freeform: Shape 55"/>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7" name="Freeform: Shape 56"/>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8" name="Freeform: Shape 57"/>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9" name="Freeform: Shape 58"/>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60" name="Freeform: Shape 59"/>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3" name="그림 2"/>
          <p:cNvPicPr>
            <a:picLocks noChangeAspect="1"/>
          </p:cNvPicPr>
          <p:nvPr/>
        </p:nvPicPr>
        <p:blipFill>
          <a:blip r:embed="rId1"/>
          <a:stretch>
            <a:fillRect/>
          </a:stretch>
        </p:blipFill>
        <p:spPr>
          <a:xfrm>
            <a:off x="0" y="188784"/>
            <a:ext cx="12192000" cy="6480432"/>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 name="Group 11"/>
          <p:cNvGrpSpPr>
            <a:grpSpLocks noGrp="1" noRot="1" noChangeAspect="1" noMove="1" noResize="1" noUngrp="1"/>
          </p:cNvGrpSpPr>
          <p:nvPr/>
        </p:nvGrpSpPr>
        <p:grpSpPr>
          <a:xfrm>
            <a:off x="785511" y="805742"/>
            <a:ext cx="3647770" cy="3193211"/>
            <a:chOff x="1674895" y="1345036"/>
            <a:chExt cx="5428610" cy="4210939"/>
          </a:xfrm>
        </p:grpSpPr>
        <p:sp>
          <p:nvSpPr>
            <p:cNvPr id="13" name="Rectangle 12"/>
            <p:cNvSpPr/>
            <p:nvPr/>
          </p:nvSpPr>
          <p:spPr>
            <a:xfrm>
              <a:off x="1674895" y="1345036"/>
              <a:ext cx="5428610" cy="4210939"/>
            </a:xfrm>
            <a:prstGeom prst="rect">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1674895" y="1345036"/>
              <a:ext cx="5428610" cy="4210939"/>
            </a:xfrm>
            <a:prstGeom prst="rect">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p:cNvSpPr>
            <a:spLocks noGrp="1" noRot="1" noChangeAspect="1" noMove="1" noResize="1" noEditPoints="1" noAdjustHandles="1" noChangeArrowheads="1" noChangeShapeType="1" noTextEdit="1"/>
          </p:cNvSpPr>
          <p:nvPr/>
        </p:nvSpPr>
        <p:spPr>
          <a:xfrm>
            <a:off x="695315" y="685805"/>
            <a:ext cx="3624947" cy="3193211"/>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740584" y="859808"/>
            <a:ext cx="3543197" cy="2878986"/>
          </a:xfrm>
        </p:spPr>
        <p:txBody>
          <a:bodyPr>
            <a:normAutofit/>
          </a:bodyPr>
          <a:lstStyle/>
          <a:p>
            <a:pPr>
              <a:defRPr sz="4400" b="1">
                <a:solidFill>
                  <a:srgbClr val="F1F5F9"/>
                </a:solidFill>
                <a:latin typeface="Urbanist" panose="020B0A04040200000203"/>
              </a:defRPr>
            </a:pPr>
            <a:r>
              <a:rPr lang="en-US" dirty="0">
                <a:solidFill>
                  <a:schemeClr val="bg1"/>
                </a:solidFill>
              </a:rPr>
              <a:t>Example Code</a:t>
            </a:r>
            <a:endParaRPr lang="en-US" dirty="0">
              <a:solidFill>
                <a:schemeClr val="bg1"/>
              </a:solidFill>
            </a:endParaRPr>
          </a:p>
        </p:txBody>
      </p:sp>
      <p:grpSp>
        <p:nvGrpSpPr>
          <p:cNvPr id="18" name="Graphic 38"/>
          <p:cNvGrpSpPr>
            <a:grpSpLocks noGrp="1" noRot="1" noChangeAspect="1" noMove="1" noResize="1" noUngrp="1"/>
          </p:cNvGrpSpPr>
          <p:nvPr/>
        </p:nvGrpSpPr>
        <p:grpSpPr>
          <a:xfrm>
            <a:off x="0" y="117004"/>
            <a:ext cx="1370098" cy="508993"/>
            <a:chOff x="2267504" y="2540250"/>
            <a:chExt cx="1990951" cy="739640"/>
          </a:xfrm>
          <a:solidFill>
            <a:schemeClr val="bg1"/>
          </a:solidFill>
        </p:grpSpPr>
        <p:sp>
          <p:nvSpPr>
            <p:cNvPr id="19" name="Freeform: Shape 18"/>
            <p:cNvSpPr/>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20" name="Freeform: Shape 19"/>
            <p:cNvSpPr/>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nvGrpSpPr>
          <p:cNvPr id="22" name="Graphic 4"/>
          <p:cNvGrpSpPr>
            <a:grpSpLocks noGrp="1" noRot="1" noChangeAspect="1" noMove="1" noResize="1" noUngrp="1"/>
          </p:cNvGrpSpPr>
          <p:nvPr/>
        </p:nvGrpSpPr>
        <p:grpSpPr>
          <a:xfrm>
            <a:off x="4689048" y="2445529"/>
            <a:ext cx="849365" cy="849366"/>
            <a:chOff x="5829300" y="3162300"/>
            <a:chExt cx="532256" cy="532257"/>
          </a:xfrm>
          <a:solidFill>
            <a:srgbClr val="FFFFFF"/>
          </a:solidFill>
        </p:grpSpPr>
        <p:sp>
          <p:nvSpPr>
            <p:cNvPr id="23" name="Freeform: Shape 22"/>
            <p:cNvSpPr/>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4" name="Freeform: Shape 23"/>
            <p:cNvSpPr/>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5" name="Freeform: Shape 24"/>
            <p:cNvSpPr/>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26" name="Freeform: Shape 25"/>
            <p:cNvSpPr/>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7" name="Freeform: Shape 26"/>
            <p:cNvSpPr/>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8" name="Freeform: Shape 27"/>
            <p:cNvSpPr/>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9" name="Freeform: Shape 28"/>
            <p:cNvSpPr/>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30" name="Freeform: Shape 29"/>
            <p:cNvSpPr/>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1" name="Freeform: Shape 30"/>
            <p:cNvSpPr/>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2" name="Freeform: Shape 31"/>
            <p:cNvSpPr/>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3" name="Freeform: Shape 32"/>
            <p:cNvSpPr/>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4" name="Freeform: Shape 33"/>
            <p:cNvSpPr/>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5" name="Freeform: Shape 34"/>
            <p:cNvSpPr/>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pSp>
        <p:nvGrpSpPr>
          <p:cNvPr id="37" name="Graphic 4"/>
          <p:cNvGrpSpPr>
            <a:grpSpLocks noGrp="1" noRot="1" noChangeAspect="1" noMove="1" noResize="1" noUngrp="1"/>
          </p:cNvGrpSpPr>
          <p:nvPr/>
        </p:nvGrpSpPr>
        <p:grpSpPr>
          <a:xfrm>
            <a:off x="4689048" y="2445529"/>
            <a:ext cx="849365" cy="849366"/>
            <a:chOff x="5829300" y="3162300"/>
            <a:chExt cx="532256" cy="532257"/>
          </a:xfrm>
          <a:solidFill>
            <a:schemeClr val="bg1"/>
          </a:solidFill>
        </p:grpSpPr>
        <p:sp>
          <p:nvSpPr>
            <p:cNvPr id="38" name="Freeform: Shape 37"/>
            <p:cNvSpPr/>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39" name="Freeform: Shape 38"/>
            <p:cNvSpPr/>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40" name="Freeform: Shape 39"/>
            <p:cNvSpPr/>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41" name="Freeform: Shape 40"/>
            <p:cNvSpPr/>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42" name="Freeform: Shape 41"/>
            <p:cNvSpPr/>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43" name="Freeform: Shape 42"/>
            <p:cNvSpPr/>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44" name="Freeform: Shape 43"/>
            <p:cNvSpPr/>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45" name="Freeform: Shape 44"/>
            <p:cNvSpPr/>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46" name="Freeform: Shape 45"/>
            <p:cNvSpPr/>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47" name="Freeform: Shape 46"/>
            <p:cNvSpPr/>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48" name="Freeform: Shape 47"/>
            <p:cNvSpPr/>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49" name="Freeform: Shape 48"/>
            <p:cNvSpPr/>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50" name="Freeform: Shape 49"/>
            <p:cNvSpPr/>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p:cNvGraphicFramePr>
            <a:graphicFrameLocks noGrp="1"/>
          </p:cNvGraphicFramePr>
          <p:nvPr>
            <p:ph idx="1"/>
          </p:nvPr>
        </p:nvGraphicFramePr>
        <p:xfrm>
          <a:off x="3634452" y="1130846"/>
          <a:ext cx="7817590" cy="4921412"/>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panose="020B0A04040200000203"/>
              </a:defRPr>
            </a:pPr>
            <a:r>
              <a:rPr lang="en-US" dirty="0"/>
              <a:t>#3: </a:t>
            </a:r>
            <a:r>
              <a:rPr lang="en-US" dirty="0" smtClean="0"/>
              <a:t>Memory Management</a:t>
            </a:r>
            <a:endParaRPr dirty="0"/>
          </a:p>
        </p:txBody>
      </p:sp>
      <p:sp>
        <p:nvSpPr>
          <p:cNvPr id="3" name="Subtitle 2"/>
          <p:cNvSpPr>
            <a:spLocks noGrp="1"/>
          </p:cNvSpPr>
          <p:nvPr>
            <p:ph type="subTitle" idx="1"/>
          </p:nvPr>
        </p:nvSpPr>
        <p:spPr>
          <a:xfrm>
            <a:off x="1371599" y="3886200"/>
            <a:ext cx="9396919" cy="1752600"/>
          </a:xfrm>
        </p:spPr>
        <p:txBody>
          <a:bodyPr/>
          <a:lstStyle/>
          <a:p>
            <a:pPr>
              <a:defRPr sz="2800">
                <a:solidFill>
                  <a:srgbClr val="CBD5E1"/>
                </a:solidFill>
                <a:latin typeface="Urbanist" panose="020B0A04040200000203"/>
              </a:defRPr>
            </a:pPr>
            <a:r>
              <a:rPr lang="en-US" sz="2800" dirty="0" smtClean="0"/>
              <a:t>Where the process </a:t>
            </a:r>
            <a:r>
              <a:rPr lang="en-US" sz="2800" dirty="0"/>
              <a:t>living</a:t>
            </a:r>
            <a:endParaRPr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1" name="Rectangle 30"/>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p:cNvSpPr>
            <a:spLocks noGrp="1" noRot="1" noChangeAspect="1" noMove="1" noResize="1" noEditPoints="1" noAdjustHandles="1" noChangeArrowheads="1" noChangeShapeType="1" noTextEdit="1"/>
          </p:cNvSpPr>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Rectangle 34"/>
          <p:cNvSpPr>
            <a:spLocks noGrp="1" noRot="1" noChangeAspect="1" noMove="1" noResize="1" noEditPoints="1" noAdjustHandles="1" noChangeArrowheads="1" noChangeShapeType="1" noTextEdit="1"/>
          </p:cNvSpPr>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p:cNvSpPr>
            <a:spLocks noGrp="1" noRot="1" noChangeAspect="1" noMove="1" noResize="1" noEditPoints="1" noAdjustHandles="1" noChangeArrowheads="1" noChangeShapeType="1" noTextEdit="1"/>
          </p:cNvSpPr>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eform: Shape 38"/>
          <p:cNvSpPr>
            <a:spLocks noGrp="1" noRot="1" noChangeAspect="1" noMove="1" noResize="1" noEditPoints="1" noAdjustHandles="1" noChangeArrowheads="1" noChangeShapeType="1" noTextEdit="1"/>
          </p:cNvSpPr>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1" name="Isosceles Triangle 40"/>
          <p:cNvSpPr>
            <a:spLocks noGrp="1" noRot="1" noChangeAspect="1" noMove="1" noResize="1" noEditPoints="1" noAdjustHandles="1" noChangeArrowheads="1" noChangeShapeType="1" noTextEdit="1"/>
          </p:cNvSpPr>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그림 2" descr="텍스트, 스크린샷, 도표, 디자인이(가) 표시된 사진&#10;&#10;AI 생성 콘텐츠는 정확하지 않을 수 있습니다."/>
          <p:cNvPicPr>
            <a:picLocks noChangeAspect="1"/>
          </p:cNvPicPr>
          <p:nvPr/>
        </p:nvPicPr>
        <p:blipFill>
          <a:blip r:embed="rId1"/>
          <a:stretch>
            <a:fillRect/>
          </a:stretch>
        </p:blipFill>
        <p:spPr>
          <a:xfrm>
            <a:off x="913614" y="643467"/>
            <a:ext cx="10364771" cy="5571065"/>
          </a:xfrm>
          <a:prstGeom prst="rect">
            <a:avLst/>
          </a:prstGeom>
          <a:ln>
            <a:noFill/>
          </a:ln>
        </p:spPr>
      </p:pic>
      <p:sp>
        <p:nvSpPr>
          <p:cNvPr id="43" name="Isosceles Triangle 42"/>
          <p:cNvSpPr>
            <a:spLocks noGrp="1" noRot="1" noChangeAspect="1" noMove="1" noResize="1" noEditPoints="1" noAdjustHandles="1" noChangeArrowheads="1" noChangeShapeType="1" noTextEdit="1"/>
          </p:cNvSpPr>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1" name="Rectangle 30"/>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p:cNvSpPr>
            <a:spLocks noGrp="1" noRot="1" noChangeAspect="1" noMove="1" noResize="1" noEditPoints="1" noAdjustHandles="1" noChangeArrowheads="1" noChangeShapeType="1" noTextEdit="1"/>
          </p:cNvSpPr>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Rectangle 34"/>
          <p:cNvSpPr>
            <a:spLocks noGrp="1" noRot="1" noChangeAspect="1" noMove="1" noResize="1" noEditPoints="1" noAdjustHandles="1" noChangeArrowheads="1" noChangeShapeType="1" noTextEdit="1"/>
          </p:cNvSpPr>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p:cNvSpPr>
            <a:spLocks noGrp="1" noRot="1" noChangeAspect="1" noMove="1" noResize="1" noEditPoints="1" noAdjustHandles="1" noChangeArrowheads="1" noChangeShapeType="1" noTextEdit="1"/>
          </p:cNvSpPr>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eform: Shape 38"/>
          <p:cNvSpPr>
            <a:spLocks noGrp="1" noRot="1" noChangeAspect="1" noMove="1" noResize="1" noEditPoints="1" noAdjustHandles="1" noChangeArrowheads="1" noChangeShapeType="1" noTextEdit="1"/>
          </p:cNvSpPr>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1" name="Isosceles Triangle 40"/>
          <p:cNvSpPr>
            <a:spLocks noGrp="1" noRot="1" noChangeAspect="1" noMove="1" noResize="1" noEditPoints="1" noAdjustHandles="1" noChangeArrowheads="1" noChangeShapeType="1" noTextEdit="1"/>
          </p:cNvSpPr>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Isosceles Triangle 42"/>
          <p:cNvSpPr>
            <a:spLocks noGrp="1" noRot="1" noChangeAspect="1" noMove="1" noResize="1" noEditPoints="1" noAdjustHandles="1" noChangeArrowheads="1" noChangeShapeType="1" noTextEdit="1"/>
          </p:cNvSpPr>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그림 3"/>
          <p:cNvPicPr>
            <a:picLocks noChangeAspect="1"/>
          </p:cNvPicPr>
          <p:nvPr/>
        </p:nvPicPr>
        <p:blipFill>
          <a:blip r:embed="rId1"/>
          <a:stretch>
            <a:fillRect/>
          </a:stretch>
        </p:blipFill>
        <p:spPr>
          <a:xfrm>
            <a:off x="5404294" y="197621"/>
            <a:ext cx="6467475" cy="6457950"/>
          </a:xfrm>
          <a:prstGeom prst="rect">
            <a:avLst/>
          </a:prstGeom>
        </p:spPr>
      </p:pic>
      <p:pic>
        <p:nvPicPr>
          <p:cNvPr id="6" name="그림 5"/>
          <p:cNvPicPr>
            <a:picLocks noChangeAspect="1"/>
          </p:cNvPicPr>
          <p:nvPr/>
        </p:nvPicPr>
        <p:blipFill>
          <a:blip r:embed="rId2"/>
          <a:stretch>
            <a:fillRect/>
          </a:stretch>
        </p:blipFill>
        <p:spPr>
          <a:xfrm>
            <a:off x="248383" y="83321"/>
            <a:ext cx="4705350" cy="668655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8"/>
          <p:cNvSpPr>
            <a:spLocks noGrp="1" noRot="1" noChangeAspect="1" noMove="1" noResize="1" noEditPoints="1" noAdjustHandles="1" noChangeArrowheads="1" noChangeShapeType="1" noTextEdit="1"/>
          </p:cNvSpPr>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0"/>
          <p:cNvSpPr>
            <a:spLocks noGrp="1" noRot="1" noChangeAspect="1" noMove="1" noResize="1" noEditPoints="1" noAdjustHandles="1" noChangeArrowheads="1" noChangeShapeType="1" noTextEdit="1"/>
          </p:cNvSpPr>
          <p:nvPr/>
        </p:nvSpPr>
        <p:spPr>
          <a:xfrm>
            <a:off x="0" y="0"/>
            <a:ext cx="2013557" cy="6858000"/>
          </a:xfrm>
          <a:prstGeom prst="rect">
            <a:avLst/>
          </a:prstGeom>
          <a:solidFill>
            <a:srgbClr val="5251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defTabSz="914400">
              <a:lnSpc>
                <a:spcPct val="90000"/>
              </a:lnSpc>
              <a:defRPr sz="4400" b="1">
                <a:solidFill>
                  <a:srgbClr val="F1F5F9"/>
                </a:solidFill>
                <a:latin typeface="Urbanist" panose="020B0A04040200000203"/>
              </a:defRPr>
            </a:pPr>
            <a:r>
              <a:rPr lang="en-US" sz="2600" kern="1200" dirty="0">
                <a:solidFill>
                  <a:srgbClr val="FFFFFF"/>
                </a:solidFill>
                <a:latin typeface="Urbanist" panose="020B0A04040200000203" pitchFamily="34" charset="0"/>
                <a:ea typeface="Urbanist" panose="020B0A04040200000203" pitchFamily="34" charset="0"/>
                <a:cs typeface="Urbanist" panose="020B0A04040200000203" pitchFamily="34" charset="0"/>
              </a:rPr>
              <a:t>Threads vs. Processes</a:t>
            </a:r>
            <a:endParaRPr lang="en-US" sz="2600" kern="1200" dirty="0">
              <a:solidFill>
                <a:srgbClr val="FFFFFF"/>
              </a:solidFill>
              <a:latin typeface="Urbanist" panose="020B0A04040200000203" pitchFamily="34" charset="0"/>
              <a:ea typeface="Urbanist" panose="020B0A04040200000203" pitchFamily="34" charset="0"/>
              <a:cs typeface="Urbanist" panose="020B0A04040200000203" pitchFamily="34" charset="0"/>
            </a:endParaRPr>
          </a:p>
        </p:txBody>
      </p:sp>
      <p:pic>
        <p:nvPicPr>
          <p:cNvPr id="4" name="그림 3"/>
          <p:cNvPicPr>
            <a:picLocks noChangeAspect="1"/>
          </p:cNvPicPr>
          <p:nvPr/>
        </p:nvPicPr>
        <p:blipFill>
          <a:blip r:embed="rId1"/>
          <a:stretch>
            <a:fillRect/>
          </a:stretch>
        </p:blipFill>
        <p:spPr>
          <a:xfrm>
            <a:off x="4038600" y="1836917"/>
            <a:ext cx="7188199" cy="3180777"/>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3" name="그림 2"/>
          <p:cNvPicPr>
            <a:picLocks noChangeAspect="1"/>
          </p:cNvPicPr>
          <p:nvPr/>
        </p:nvPicPr>
        <p:blipFill>
          <a:blip r:embed="rId1"/>
          <a:stretch>
            <a:fillRect/>
          </a:stretch>
        </p:blipFill>
        <p:spPr>
          <a:xfrm>
            <a:off x="0" y="35066"/>
            <a:ext cx="12192000" cy="6787867"/>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1"/>
          <a:stretch>
            <a:fillRect/>
          </a:stretch>
        </p:blipFill>
        <p:spPr>
          <a:xfrm>
            <a:off x="2695575" y="600075"/>
            <a:ext cx="6800850" cy="565785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3" name="Picture 2"/>
          <p:cNvPicPr>
            <a:picLocks noChangeAspect="1"/>
          </p:cNvPicPr>
          <p:nvPr/>
        </p:nvPicPr>
        <p:blipFill>
          <a:blip r:embed="rId1"/>
          <a:stretch>
            <a:fillRect/>
          </a:stretch>
        </p:blipFill>
        <p:spPr>
          <a:xfrm>
            <a:off x="1438275" y="623887"/>
            <a:ext cx="9315450" cy="5610225"/>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1"/>
          <a:stretch>
            <a:fillRect/>
          </a:stretch>
        </p:blipFill>
        <p:spPr>
          <a:xfrm>
            <a:off x="1359216" y="499110"/>
            <a:ext cx="9517380" cy="573024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4" name="그림 3"/>
          <p:cNvPicPr>
            <a:picLocks noChangeAspect="1"/>
          </p:cNvPicPr>
          <p:nvPr/>
        </p:nvPicPr>
        <p:blipFill>
          <a:blip r:embed="rId1"/>
          <a:stretch>
            <a:fillRect/>
          </a:stretch>
        </p:blipFill>
        <p:spPr>
          <a:xfrm>
            <a:off x="0" y="720766"/>
            <a:ext cx="12192000" cy="5416468"/>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6" name="Rectangle 54"/>
          <p:cNvSpPr>
            <a:spLocks noGrp="1" noRot="1" noChangeAspect="1" noMove="1" noResize="1" noEditPoints="1" noAdjustHandles="1" noChangeArrowheads="1" noChangeShapeType="1" noTextEdit="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793662" y="386930"/>
            <a:ext cx="10066122" cy="1298448"/>
          </a:xfrm>
        </p:spPr>
        <p:txBody>
          <a:bodyPr vert="horz" lIns="91440" tIns="45720" rIns="91440" bIns="45720" rtlCol="0" anchor="b">
            <a:normAutofit/>
          </a:bodyPr>
          <a:lstStyle/>
          <a:p>
            <a:pPr algn="l" defTabSz="914400">
              <a:lnSpc>
                <a:spcPct val="90000"/>
              </a:lnSpc>
              <a:defRPr sz="4400" b="1">
                <a:solidFill>
                  <a:srgbClr val="F1F5F9"/>
                </a:solidFill>
                <a:latin typeface="Urbanist" panose="020B0A04040200000203"/>
              </a:defRPr>
            </a:pPr>
            <a:r>
              <a:rPr lang="en-US" kern="1200" dirty="0">
                <a:solidFill>
                  <a:schemeClr val="tx1"/>
                </a:solidFill>
                <a:latin typeface="Urbanist ExtraLight" panose="020B0A04040200000203" pitchFamily="34" charset="0"/>
                <a:ea typeface="Urbanist ExtraLight" panose="020B0A04040200000203" pitchFamily="34" charset="0"/>
                <a:cs typeface="Urbanist ExtraLight" panose="020B0A04040200000203" pitchFamily="34" charset="0"/>
              </a:rPr>
              <a:t>Common Causes of Segmentation Fault</a:t>
            </a:r>
            <a:endParaRPr lang="en-US" kern="1200" dirty="0">
              <a:solidFill>
                <a:schemeClr val="tx1"/>
              </a:solidFill>
              <a:latin typeface="Urbanist ExtraLight" panose="020B0A04040200000203" pitchFamily="34" charset="0"/>
              <a:ea typeface="Urbanist ExtraLight" panose="020B0A04040200000203" pitchFamily="34" charset="0"/>
              <a:cs typeface="Urbanist ExtraLight" panose="020B0A04040200000203" pitchFamily="34" charset="0"/>
            </a:endParaRPr>
          </a:p>
        </p:txBody>
      </p:sp>
      <p:sp>
        <p:nvSpPr>
          <p:cNvPr id="77" name="Rectangle 56"/>
          <p:cNvSpPr>
            <a:spLocks noGrp="1" noRot="1" noChangeAspect="1" noMove="1" noResize="1" noEditPoints="1" noAdjustHandles="1" noChangeArrowheads="1" noChangeShapeType="1" noTextEdit="1"/>
          </p:cNvSpPr>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p:cNvSpPr>
            <a:spLocks noGrp="1" noRot="1" noChangeAspect="1" noMove="1" noResize="1" noEditPoints="1" noAdjustHandles="1" noChangeArrowheads="1" noChangeShapeType="1" noTextEdit="1"/>
          </p:cNvSpPr>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p:cNvSpPr txBox="1"/>
          <p:nvPr/>
        </p:nvSpPr>
        <p:spPr>
          <a:xfrm>
            <a:off x="265418" y="2475907"/>
            <a:ext cx="5324561" cy="363945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228600" algn="l" defTabSz="914400">
              <a:lnSpc>
                <a:spcPct val="90000"/>
              </a:lnSpc>
              <a:spcAft>
                <a:spcPts val="600"/>
              </a:spcAft>
              <a:buFont typeface="Arial" panose="020B0604020202020204" pitchFamily="34" charset="0"/>
              <a:buChar char="•"/>
            </a:pPr>
            <a:r>
              <a:rPr lang="en-US" sz="3200" b="1" dirty="0" err="1">
                <a:latin typeface="Urbanist ExtraLight" panose="020B0A04040200000203" pitchFamily="34" charset="0"/>
                <a:ea typeface="Urbanist ExtraLight" panose="020B0A04040200000203" pitchFamily="34" charset="0"/>
                <a:cs typeface="Urbanist ExtraLight" panose="020B0A04040200000203" pitchFamily="34" charset="0"/>
              </a:rPr>
              <a:t>Derefencing</a:t>
            </a:r>
            <a:r>
              <a:rPr lang="en-US" sz="3200" b="1" dirty="0">
                <a:latin typeface="Urbanist ExtraLight" panose="020B0A04040200000203" pitchFamily="34" charset="0"/>
                <a:ea typeface="Urbanist ExtraLight" panose="020B0A04040200000203" pitchFamily="34" charset="0"/>
                <a:cs typeface="Urbanist ExtraLight" panose="020B0A04040200000203" pitchFamily="34" charset="0"/>
              </a:rPr>
              <a:t> a Null Pointer</a:t>
            </a:r>
            <a:endParaRPr lang="en-US" sz="3200" b="1" dirty="0">
              <a:latin typeface="Urbanist ExtraLight" panose="020B0A04040200000203" pitchFamily="34" charset="0"/>
              <a:ea typeface="Urbanist ExtraLight" panose="020B0A04040200000203" pitchFamily="34" charset="0"/>
              <a:cs typeface="Urbanist ExtraLight" panose="020B0A04040200000203" pitchFamily="34" charset="0"/>
            </a:endParaRPr>
          </a:p>
          <a:p>
            <a:pPr marL="571500" indent="-228600" algn="l" defTabSz="914400">
              <a:lnSpc>
                <a:spcPct val="90000"/>
              </a:lnSpc>
              <a:spcAft>
                <a:spcPts val="600"/>
              </a:spcAft>
              <a:buFont typeface="Arial" panose="020B0604020202020204" pitchFamily="34" charset="0"/>
              <a:buChar char="•"/>
            </a:pPr>
            <a:r>
              <a:rPr lang="en-US" sz="3200" b="1" dirty="0">
                <a:latin typeface="Urbanist ExtraLight" panose="020B0A04040200000203" pitchFamily="34" charset="0"/>
                <a:ea typeface="Urbanist ExtraLight" panose="020B0A04040200000203" pitchFamily="34" charset="0"/>
                <a:cs typeface="Urbanist ExtraLight" panose="020B0A04040200000203" pitchFamily="34" charset="0"/>
              </a:rPr>
              <a:t>Buffer Overflows</a:t>
            </a:r>
            <a:endParaRPr lang="en-US" sz="3200" b="1" dirty="0">
              <a:latin typeface="Urbanist ExtraLight" panose="020B0A04040200000203" pitchFamily="34" charset="0"/>
              <a:ea typeface="Urbanist ExtraLight" panose="020B0A04040200000203" pitchFamily="34" charset="0"/>
              <a:cs typeface="Urbanist ExtraLight" panose="020B0A04040200000203" pitchFamily="34" charset="0"/>
            </a:endParaRPr>
          </a:p>
          <a:p>
            <a:pPr marL="571500" indent="-228600" algn="l" defTabSz="914400">
              <a:lnSpc>
                <a:spcPct val="90000"/>
              </a:lnSpc>
              <a:spcAft>
                <a:spcPts val="600"/>
              </a:spcAft>
              <a:buFont typeface="Arial" panose="020B0604020202020204" pitchFamily="34" charset="0"/>
              <a:buChar char="•"/>
            </a:pPr>
            <a:r>
              <a:rPr lang="en-US" sz="3200" b="1" dirty="0">
                <a:latin typeface="Urbanist ExtraLight" panose="020B0A04040200000203" pitchFamily="34" charset="0"/>
                <a:ea typeface="Urbanist ExtraLight" panose="020B0A04040200000203" pitchFamily="34" charset="0"/>
                <a:cs typeface="Urbanist ExtraLight" panose="020B0A04040200000203" pitchFamily="34" charset="0"/>
              </a:rPr>
              <a:t>Dangling Pointers</a:t>
            </a:r>
            <a:endParaRPr lang="en-US" sz="3200" b="1" dirty="0">
              <a:latin typeface="Urbanist ExtraLight" panose="020B0A04040200000203" pitchFamily="34" charset="0"/>
              <a:ea typeface="Urbanist ExtraLight" panose="020B0A04040200000203" pitchFamily="34" charset="0"/>
              <a:cs typeface="Urbanist ExtraLight" panose="020B0A04040200000203" pitchFamily="34" charset="0"/>
            </a:endParaRPr>
          </a:p>
        </p:txBody>
      </p:sp>
      <p:pic>
        <p:nvPicPr>
          <p:cNvPr id="4" name="그림 3"/>
          <p:cNvPicPr>
            <a:picLocks noChangeAspect="1"/>
          </p:cNvPicPr>
          <p:nvPr/>
        </p:nvPicPr>
        <p:blipFill>
          <a:blip r:embed="rId1"/>
          <a:stretch>
            <a:fillRect/>
          </a:stretch>
        </p:blipFill>
        <p:spPr>
          <a:xfrm>
            <a:off x="5911532" y="2487277"/>
            <a:ext cx="5150277" cy="3708199"/>
          </a:xfrm>
          <a:prstGeom prst="rect">
            <a:avLst/>
          </a:prstGeom>
        </p:spPr>
      </p:pic>
      <p:sp>
        <p:nvSpPr>
          <p:cNvPr id="78" name="Rectangle 60"/>
          <p:cNvSpPr>
            <a:spLocks noGrp="1" noRot="1" noChangeAspect="1" noMove="1" noResize="1" noEditPoints="1" noAdjustHandles="1" noChangeArrowheads="1" noChangeShapeType="1" noTextEdit="1"/>
          </p:cNvSpPr>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 name="Group 11"/>
          <p:cNvGrpSpPr>
            <a:grpSpLocks noGrp="1" noRot="1" noChangeAspect="1" noMove="1" noResize="1" noUngrp="1"/>
          </p:cNvGrpSpPr>
          <p:nvPr/>
        </p:nvGrpSpPr>
        <p:grpSpPr>
          <a:xfrm>
            <a:off x="785511" y="805742"/>
            <a:ext cx="3647770" cy="3193211"/>
            <a:chOff x="1674895" y="1345036"/>
            <a:chExt cx="5428610" cy="4210939"/>
          </a:xfrm>
        </p:grpSpPr>
        <p:sp>
          <p:nvSpPr>
            <p:cNvPr id="13" name="Rectangle 12"/>
            <p:cNvSpPr/>
            <p:nvPr/>
          </p:nvSpPr>
          <p:spPr>
            <a:xfrm>
              <a:off x="1674895" y="1345036"/>
              <a:ext cx="5428610" cy="4210939"/>
            </a:xfrm>
            <a:prstGeom prst="rect">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1674895" y="1345036"/>
              <a:ext cx="5428610" cy="4210939"/>
            </a:xfrm>
            <a:prstGeom prst="rect">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p:cNvSpPr>
            <a:spLocks noGrp="1" noRot="1" noChangeAspect="1" noMove="1" noResize="1" noEditPoints="1" noAdjustHandles="1" noChangeArrowheads="1" noChangeShapeType="1" noTextEdit="1"/>
          </p:cNvSpPr>
          <p:nvPr/>
        </p:nvSpPr>
        <p:spPr>
          <a:xfrm>
            <a:off x="695315" y="685805"/>
            <a:ext cx="3624947" cy="3193211"/>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740584" y="859808"/>
            <a:ext cx="3543197" cy="2878986"/>
          </a:xfrm>
        </p:spPr>
        <p:txBody>
          <a:bodyPr>
            <a:normAutofit/>
          </a:bodyPr>
          <a:lstStyle/>
          <a:p>
            <a:pPr>
              <a:defRPr sz="4400" b="1">
                <a:solidFill>
                  <a:srgbClr val="F1F5F9"/>
                </a:solidFill>
                <a:latin typeface="Urbanist" panose="020B0A04040200000203"/>
              </a:defRPr>
            </a:pPr>
            <a:r>
              <a:rPr lang="en-US" dirty="0">
                <a:solidFill>
                  <a:schemeClr val="bg1"/>
                </a:solidFill>
              </a:rPr>
              <a:t>Example Code</a:t>
            </a:r>
            <a:endParaRPr lang="en-US" dirty="0">
              <a:solidFill>
                <a:schemeClr val="bg1"/>
              </a:solidFill>
            </a:endParaRPr>
          </a:p>
        </p:txBody>
      </p:sp>
      <p:grpSp>
        <p:nvGrpSpPr>
          <p:cNvPr id="18" name="Graphic 38"/>
          <p:cNvGrpSpPr>
            <a:grpSpLocks noGrp="1" noRot="1" noChangeAspect="1" noMove="1" noResize="1" noUngrp="1"/>
          </p:cNvGrpSpPr>
          <p:nvPr/>
        </p:nvGrpSpPr>
        <p:grpSpPr>
          <a:xfrm>
            <a:off x="0" y="117004"/>
            <a:ext cx="1370098" cy="508993"/>
            <a:chOff x="2267504" y="2540250"/>
            <a:chExt cx="1990951" cy="739640"/>
          </a:xfrm>
          <a:solidFill>
            <a:schemeClr val="bg1"/>
          </a:solidFill>
        </p:grpSpPr>
        <p:sp>
          <p:nvSpPr>
            <p:cNvPr id="19" name="Freeform: Shape 18"/>
            <p:cNvSpPr/>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20" name="Freeform: Shape 19"/>
            <p:cNvSpPr/>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nvGrpSpPr>
          <p:cNvPr id="22" name="Graphic 4"/>
          <p:cNvGrpSpPr>
            <a:grpSpLocks noGrp="1" noRot="1" noChangeAspect="1" noMove="1" noResize="1" noUngrp="1"/>
          </p:cNvGrpSpPr>
          <p:nvPr/>
        </p:nvGrpSpPr>
        <p:grpSpPr>
          <a:xfrm>
            <a:off x="4689048" y="2445529"/>
            <a:ext cx="849365" cy="849366"/>
            <a:chOff x="5829300" y="3162300"/>
            <a:chExt cx="532256" cy="532257"/>
          </a:xfrm>
          <a:solidFill>
            <a:srgbClr val="FFFFFF"/>
          </a:solidFill>
        </p:grpSpPr>
        <p:sp>
          <p:nvSpPr>
            <p:cNvPr id="23" name="Freeform: Shape 22"/>
            <p:cNvSpPr/>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4" name="Freeform: Shape 23"/>
            <p:cNvSpPr/>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5" name="Freeform: Shape 24"/>
            <p:cNvSpPr/>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26" name="Freeform: Shape 25"/>
            <p:cNvSpPr/>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7" name="Freeform: Shape 26"/>
            <p:cNvSpPr/>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8" name="Freeform: Shape 27"/>
            <p:cNvSpPr/>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9" name="Freeform: Shape 28"/>
            <p:cNvSpPr/>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30" name="Freeform: Shape 29"/>
            <p:cNvSpPr/>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1" name="Freeform: Shape 30"/>
            <p:cNvSpPr/>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2" name="Freeform: Shape 31"/>
            <p:cNvSpPr/>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3" name="Freeform: Shape 32"/>
            <p:cNvSpPr/>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4" name="Freeform: Shape 33"/>
            <p:cNvSpPr/>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5" name="Freeform: Shape 34"/>
            <p:cNvSpPr/>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pSp>
        <p:nvGrpSpPr>
          <p:cNvPr id="37" name="Graphic 4"/>
          <p:cNvGrpSpPr>
            <a:grpSpLocks noGrp="1" noRot="1" noChangeAspect="1" noMove="1" noResize="1" noUngrp="1"/>
          </p:cNvGrpSpPr>
          <p:nvPr/>
        </p:nvGrpSpPr>
        <p:grpSpPr>
          <a:xfrm>
            <a:off x="4689048" y="2445529"/>
            <a:ext cx="849365" cy="849366"/>
            <a:chOff x="5829300" y="3162300"/>
            <a:chExt cx="532256" cy="532257"/>
          </a:xfrm>
          <a:solidFill>
            <a:schemeClr val="bg1"/>
          </a:solidFill>
        </p:grpSpPr>
        <p:sp>
          <p:nvSpPr>
            <p:cNvPr id="38" name="Freeform: Shape 37"/>
            <p:cNvSpPr/>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39" name="Freeform: Shape 38"/>
            <p:cNvSpPr/>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40" name="Freeform: Shape 39"/>
            <p:cNvSpPr/>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41" name="Freeform: Shape 40"/>
            <p:cNvSpPr/>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42" name="Freeform: Shape 41"/>
            <p:cNvSpPr/>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43" name="Freeform: Shape 42"/>
            <p:cNvSpPr/>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44" name="Freeform: Shape 43"/>
            <p:cNvSpPr/>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45" name="Freeform: Shape 44"/>
            <p:cNvSpPr/>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46" name="Freeform: Shape 45"/>
            <p:cNvSpPr/>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47" name="Freeform: Shape 46"/>
            <p:cNvSpPr/>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48" name="Freeform: Shape 47"/>
            <p:cNvSpPr/>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49" name="Freeform: Shape 48"/>
            <p:cNvSpPr/>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50" name="Freeform: Shape 49"/>
            <p:cNvSpPr/>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sp>
        <p:nvSpPr>
          <p:cNvPr id="6" name="Title 1"/>
          <p:cNvSpPr txBox="1"/>
          <p:nvPr/>
        </p:nvSpPr>
        <p:spPr>
          <a:xfrm>
            <a:off x="5838976" y="1006036"/>
            <a:ext cx="5764760" cy="2878986"/>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571500" algn="l">
              <a:buFontTx/>
              <a:buChar char="-"/>
              <a:defRPr sz="4400" b="1">
                <a:solidFill>
                  <a:srgbClr val="F1F5F9"/>
                </a:solidFill>
                <a:latin typeface="Urbanist" panose="020B0A04040200000203"/>
              </a:defRPr>
            </a:pPr>
            <a:r>
              <a:rPr lang="en-US" altLang="ko-KR" sz="3600" b="1" dirty="0">
                <a:latin typeface="Urbanist ExtraLight" panose="020B0A04040200000203" pitchFamily="34" charset="0"/>
                <a:ea typeface="Urbanist ExtraLight" panose="020B0A04040200000203" pitchFamily="34" charset="0"/>
                <a:cs typeface="Urbanist ExtraLight" panose="020B0A04040200000203" pitchFamily="34" charset="0"/>
              </a:rPr>
              <a:t>Stack Overflow</a:t>
            </a:r>
            <a:endParaRPr lang="en-US" altLang="ko-KR" sz="3600" b="1" dirty="0">
              <a:latin typeface="Urbanist ExtraLight" panose="020B0A04040200000203" pitchFamily="34" charset="0"/>
              <a:ea typeface="Urbanist ExtraLight" panose="020B0A04040200000203" pitchFamily="34" charset="0"/>
              <a:cs typeface="Urbanist ExtraLight" panose="020B0A04040200000203" pitchFamily="34" charset="0"/>
            </a:endParaRPr>
          </a:p>
          <a:p>
            <a:pPr marL="571500" indent="-571500" algn="l">
              <a:buFontTx/>
              <a:buChar char="-"/>
              <a:defRPr sz="4400" b="1">
                <a:solidFill>
                  <a:srgbClr val="F1F5F9"/>
                </a:solidFill>
                <a:latin typeface="Urbanist" panose="020B0A04040200000203"/>
              </a:defRPr>
            </a:pPr>
            <a:r>
              <a:rPr lang="en-US" sz="3600" b="1" dirty="0">
                <a:solidFill>
                  <a:schemeClr val="bg1"/>
                </a:solidFill>
                <a:latin typeface="Urbanist ExtraLight" panose="020B0A04040200000203" pitchFamily="34" charset="0"/>
                <a:ea typeface="Urbanist ExtraLight" panose="020B0A04040200000203" pitchFamily="34" charset="0"/>
                <a:cs typeface="Urbanist ExtraLight" panose="020B0A04040200000203" pitchFamily="34" charset="0"/>
              </a:rPr>
              <a:t>Memory Leak</a:t>
            </a:r>
            <a:endParaRPr lang="en-US" sz="3600" b="1" dirty="0">
              <a:solidFill>
                <a:schemeClr val="bg1"/>
              </a:solidFill>
              <a:latin typeface="Urbanist ExtraLight" panose="020B0A04040200000203" pitchFamily="34" charset="0"/>
              <a:ea typeface="Urbanist ExtraLight" panose="020B0A04040200000203" pitchFamily="34" charset="0"/>
              <a:cs typeface="Urbanist ExtraLight" panose="020B0A04040200000203" pitchFamily="34" charset="0"/>
            </a:endParaRPr>
          </a:p>
          <a:p>
            <a:pPr marL="571500" indent="-571500" algn="l">
              <a:buFontTx/>
              <a:buChar char="-"/>
              <a:defRPr sz="4400" b="1">
                <a:solidFill>
                  <a:srgbClr val="F1F5F9"/>
                </a:solidFill>
                <a:latin typeface="Urbanist" panose="020B0A04040200000203"/>
              </a:defRPr>
            </a:pPr>
            <a:r>
              <a:rPr lang="en-US" sz="3600" b="1" dirty="0">
                <a:solidFill>
                  <a:schemeClr val="bg1"/>
                </a:solidFill>
                <a:latin typeface="Urbanist ExtraLight" panose="020B0A04040200000203" pitchFamily="34" charset="0"/>
                <a:ea typeface="Urbanist ExtraLight" panose="020B0A04040200000203" pitchFamily="34" charset="0"/>
                <a:cs typeface="Urbanist ExtraLight" panose="020B0A04040200000203" pitchFamily="34" charset="0"/>
              </a:rPr>
              <a:t>Poor Cache</a:t>
            </a:r>
            <a:endParaRPr lang="en-US" sz="3600" b="1" dirty="0">
              <a:solidFill>
                <a:schemeClr val="bg1"/>
              </a:solidFill>
              <a:latin typeface="Urbanist ExtraLight" panose="020B0A04040200000203" pitchFamily="34" charset="0"/>
              <a:ea typeface="Urbanist ExtraLight" panose="020B0A04040200000203" pitchFamily="34" charset="0"/>
              <a:cs typeface="Urbanist ExtraLight" panose="020B0A04040200000203" pitchFamily="34" charset="0"/>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panose="020B0A04040200000203"/>
              </a:defRPr>
            </a:pPr>
            <a:r>
              <a:rPr lang="en-US" dirty="0"/>
              <a:t>#4: </a:t>
            </a:r>
            <a:r>
              <a:rPr lang="en-US" altLang="ko-KR" sz="6000" b="1" dirty="0"/>
              <a:t>File System</a:t>
            </a:r>
            <a:endParaRPr dirty="0"/>
          </a:p>
        </p:txBody>
      </p:sp>
      <p:sp>
        <p:nvSpPr>
          <p:cNvPr id="3" name="Subtitle 2"/>
          <p:cNvSpPr>
            <a:spLocks noGrp="1"/>
          </p:cNvSpPr>
          <p:nvPr>
            <p:ph type="subTitle" idx="1"/>
          </p:nvPr>
        </p:nvSpPr>
        <p:spPr>
          <a:xfrm>
            <a:off x="1371599" y="3886200"/>
            <a:ext cx="9396919" cy="1752600"/>
          </a:xfrm>
        </p:spPr>
        <p:txBody>
          <a:bodyPr/>
          <a:lstStyle/>
          <a:p>
            <a:pPr>
              <a:defRPr sz="2800">
                <a:solidFill>
                  <a:srgbClr val="CBD5E1"/>
                </a:solidFill>
                <a:latin typeface="Urbanist" panose="020B0A04040200000203"/>
              </a:defRPr>
            </a:pPr>
            <a:r>
              <a:rPr lang="en-US" sz="2800" dirty="0" smtClean="0"/>
              <a:t>Long-term &amp; large disk space</a:t>
            </a:r>
            <a:endParaRPr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defRPr sz="4400" b="1">
                <a:solidFill>
                  <a:srgbClr val="F1F5F9"/>
                </a:solidFill>
                <a:latin typeface="Urbanist" panose="020B0A04040200000203"/>
              </a:defRPr>
            </a:pPr>
            <a:r>
              <a:rPr lang="en-US" altLang="ko-KR" b="1" dirty="0"/>
              <a:t>File Operations / System Calls</a:t>
            </a:r>
            <a:endParaRPr dirty="0"/>
          </a:p>
        </p:txBody>
      </p:sp>
      <p:sp>
        <p:nvSpPr>
          <p:cNvPr id="3" name="Content Placeholder 2"/>
          <p:cNvSpPr>
            <a:spLocks noGrp="1"/>
          </p:cNvSpPr>
          <p:nvPr>
            <p:ph idx="1"/>
          </p:nvPr>
        </p:nvSpPr>
        <p:spPr>
          <a:xfrm>
            <a:off x="457200" y="1600200"/>
            <a:ext cx="5934456" cy="4525963"/>
          </a:xfrm>
        </p:spPr>
        <p:txBody>
          <a:bodyPr/>
          <a:lstStyle/>
          <a:p>
            <a:pPr marL="0" indent="0">
              <a:spcAft>
                <a:spcPts val="1400"/>
              </a:spcAft>
              <a:buNone/>
              <a:defRPr sz="2200">
                <a:solidFill>
                  <a:srgbClr val="CBD5E1"/>
                </a:solidFill>
                <a:latin typeface="Urbanist" panose="020B0A04040200000203"/>
              </a:defRPr>
            </a:pPr>
            <a:r>
              <a:rPr lang="en-US" dirty="0"/>
              <a:t>I/O methods (</a:t>
            </a:r>
            <a:r>
              <a:rPr lang="en-US" dirty="0" err="1"/>
              <a:t>file.read</a:t>
            </a:r>
            <a:r>
              <a:rPr lang="en-US" dirty="0"/>
              <a:t>(), </a:t>
            </a:r>
            <a:r>
              <a:rPr lang="en-US" dirty="0" err="1"/>
              <a:t>file.write</a:t>
            </a:r>
            <a:r>
              <a:rPr lang="en-US" dirty="0"/>
              <a:t>()) are wrappers around OS system calls like open, read, write, seek, and lock. </a:t>
            </a:r>
            <a:br>
              <a:rPr lang="en-US" dirty="0"/>
            </a:br>
            <a:r>
              <a:rPr lang="en-US" dirty="0"/>
              <a:t>-&gt; debug file corruption and concurrency issues.</a:t>
            </a:r>
            <a:endParaRPr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defRPr sz="4400" b="1">
                <a:solidFill>
                  <a:srgbClr val="F1F5F9"/>
                </a:solidFill>
                <a:latin typeface="Urbanist" panose="020B0A04040200000203"/>
              </a:defRPr>
            </a:pPr>
            <a:r>
              <a:rPr lang="en-US" altLang="ko-KR" b="1" dirty="0"/>
              <a:t>File Access Methods</a:t>
            </a:r>
            <a:endParaRPr dirty="0"/>
          </a:p>
        </p:txBody>
      </p:sp>
      <p:sp>
        <p:nvSpPr>
          <p:cNvPr id="3" name="Content Placeholder 2"/>
          <p:cNvSpPr>
            <a:spLocks noGrp="1"/>
          </p:cNvSpPr>
          <p:nvPr>
            <p:ph idx="1"/>
          </p:nvPr>
        </p:nvSpPr>
        <p:spPr>
          <a:xfrm>
            <a:off x="457200" y="1600200"/>
            <a:ext cx="11484864" cy="4525963"/>
          </a:xfrm>
        </p:spPr>
        <p:txBody>
          <a:bodyPr/>
          <a:lstStyle/>
          <a:p>
            <a:pPr marL="0" indent="0">
              <a:spcAft>
                <a:spcPts val="1400"/>
              </a:spcAft>
              <a:buNone/>
              <a:defRPr sz="2200">
                <a:solidFill>
                  <a:srgbClr val="CBD5E1"/>
                </a:solidFill>
                <a:latin typeface="Urbanist" panose="020B0A04040200000203"/>
              </a:defRPr>
            </a:pPr>
            <a:r>
              <a:rPr lang="en-US" dirty="0"/>
              <a:t>The OS supports two critical access methods for applications:	</a:t>
            </a:r>
            <a:endParaRPr lang="en-US" dirty="0"/>
          </a:p>
          <a:p>
            <a:pPr marL="457200" indent="-457200">
              <a:spcAft>
                <a:spcPts val="1400"/>
              </a:spcAft>
              <a:buAutoNum type="arabicPeriod"/>
              <a:defRPr sz="2200">
                <a:solidFill>
                  <a:srgbClr val="CBD5E1"/>
                </a:solidFill>
                <a:latin typeface="Urbanist" panose="020B0A04040200000203"/>
              </a:defRPr>
            </a:pPr>
            <a:r>
              <a:rPr lang="en-US" b="1" dirty="0"/>
              <a:t>Sequential Access: </a:t>
            </a:r>
            <a:br>
              <a:rPr lang="en-US" dirty="0"/>
            </a:br>
            <a:r>
              <a:rPr lang="en-US" dirty="0"/>
              <a:t>Reading/writing bytes in order (e.g., writing log files, reading a network stream).	</a:t>
            </a:r>
            <a:endParaRPr lang="en-US" dirty="0"/>
          </a:p>
          <a:p>
            <a:pPr marL="457200" indent="-457200">
              <a:spcAft>
                <a:spcPts val="1400"/>
              </a:spcAft>
              <a:buAutoNum type="arabicPeriod"/>
              <a:defRPr sz="2200">
                <a:solidFill>
                  <a:srgbClr val="CBD5E1"/>
                </a:solidFill>
                <a:latin typeface="Urbanist" panose="020B0A04040200000203"/>
              </a:defRPr>
            </a:pPr>
            <a:r>
              <a:rPr lang="en-US" b="1" dirty="0"/>
              <a:t>Direct / Random Access: </a:t>
            </a:r>
            <a:br>
              <a:rPr lang="en-US" dirty="0"/>
            </a:br>
            <a:r>
              <a:rPr lang="en-US" dirty="0"/>
              <a:t>Reading/writing specific blocks of data non-sequentially. This is the foundation for all databases (e.g., MySQL, PostgreSQL, MongoDB), making it highly relevant for data persistence.</a:t>
            </a:r>
            <a:endParaRPr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defRPr sz="4400" b="1">
                <a:solidFill>
                  <a:srgbClr val="F1F5F9"/>
                </a:solidFill>
                <a:latin typeface="Urbanist" panose="020B0A04040200000203"/>
              </a:defRPr>
            </a:pPr>
            <a:r>
              <a:rPr lang="en-US" altLang="ko-KR" b="1" dirty="0"/>
              <a:t>Directory Structure</a:t>
            </a:r>
            <a:endParaRPr dirty="0"/>
          </a:p>
        </p:txBody>
      </p:sp>
      <p:sp>
        <p:nvSpPr>
          <p:cNvPr id="3" name="Content Placeholder 2"/>
          <p:cNvSpPr>
            <a:spLocks noGrp="1"/>
          </p:cNvSpPr>
          <p:nvPr>
            <p:ph idx="1"/>
          </p:nvPr>
        </p:nvSpPr>
        <p:spPr>
          <a:xfrm>
            <a:off x="457200" y="1600200"/>
            <a:ext cx="4325112" cy="4525963"/>
          </a:xfrm>
        </p:spPr>
        <p:txBody>
          <a:bodyPr/>
          <a:lstStyle/>
          <a:p>
            <a:pPr marL="0" indent="0">
              <a:spcAft>
                <a:spcPts val="1400"/>
              </a:spcAft>
              <a:buNone/>
              <a:defRPr sz="2200">
                <a:solidFill>
                  <a:srgbClr val="CBD5E1"/>
                </a:solidFill>
                <a:latin typeface="Urbanist" panose="020B0A04040200000203"/>
              </a:defRPr>
            </a:pPr>
            <a:r>
              <a:rPr lang="en-US" dirty="0"/>
              <a:t>Most modern operating systems use a </a:t>
            </a:r>
            <a:r>
              <a:rPr lang="en-US" b="1" dirty="0"/>
              <a:t>Tree-Structured Directory </a:t>
            </a:r>
            <a:r>
              <a:rPr lang="en-US" dirty="0"/>
              <a:t>(like Linux's / or Windows' C:\). </a:t>
            </a:r>
            <a:br>
              <a:rPr lang="en-US" dirty="0"/>
            </a:br>
            <a:r>
              <a:rPr lang="en-US" dirty="0"/>
              <a:t>-&gt; Setting up relative paths in configuration files and deployed application bundles.</a:t>
            </a:r>
            <a:endParaRPr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defRPr sz="4400" b="1">
                <a:solidFill>
                  <a:srgbClr val="F1F5F9"/>
                </a:solidFill>
                <a:latin typeface="Urbanist" panose="020B0A04040200000203"/>
              </a:defRPr>
            </a:pPr>
            <a:r>
              <a:rPr lang="en-US" altLang="ko-KR" b="1" dirty="0"/>
              <a:t>File Protection &amp; Security</a:t>
            </a:r>
            <a:endParaRPr dirty="0"/>
          </a:p>
        </p:txBody>
      </p:sp>
      <p:sp>
        <p:nvSpPr>
          <p:cNvPr id="3" name="Content Placeholder 2"/>
          <p:cNvSpPr>
            <a:spLocks noGrp="1"/>
          </p:cNvSpPr>
          <p:nvPr>
            <p:ph idx="1"/>
          </p:nvPr>
        </p:nvSpPr>
        <p:spPr>
          <a:xfrm>
            <a:off x="457200" y="1600200"/>
            <a:ext cx="4325112" cy="4525963"/>
          </a:xfrm>
        </p:spPr>
        <p:txBody>
          <a:bodyPr/>
          <a:lstStyle/>
          <a:p>
            <a:pPr marL="0" indent="0">
              <a:spcAft>
                <a:spcPts val="1400"/>
              </a:spcAft>
              <a:buNone/>
              <a:defRPr sz="2200">
                <a:solidFill>
                  <a:srgbClr val="CBD5E1"/>
                </a:solidFill>
                <a:latin typeface="Urbanist" panose="020B0A04040200000203"/>
              </a:defRPr>
            </a:pPr>
            <a:r>
              <a:rPr lang="en-US" dirty="0"/>
              <a:t>File protection is implemented using Access Control Lists (ACLs) or simplified permissions. For servers running on Linux (Ext4), this is the </a:t>
            </a:r>
            <a:r>
              <a:rPr lang="en-US" dirty="0" err="1"/>
              <a:t>rwx</a:t>
            </a:r>
            <a:r>
              <a:rPr lang="en-US" dirty="0"/>
              <a:t> (read, write, execute) model.</a:t>
            </a:r>
            <a:endParaRPr lang="en-US" dirty="0"/>
          </a:p>
          <a:p>
            <a:pPr marL="0" indent="0">
              <a:spcAft>
                <a:spcPts val="1400"/>
              </a:spcAft>
              <a:buNone/>
              <a:defRPr sz="2200">
                <a:solidFill>
                  <a:srgbClr val="CBD5E1"/>
                </a:solidFill>
                <a:latin typeface="Urbanist" panose="020B0A04040200000203"/>
              </a:defRPr>
            </a:pPr>
            <a:r>
              <a:rPr lang="en-US" dirty="0"/>
              <a:t>octal permissions (e.g., </a:t>
            </a:r>
            <a:r>
              <a:rPr lang="en-US" dirty="0" err="1"/>
              <a:t>chmod</a:t>
            </a:r>
            <a:r>
              <a:rPr lang="en-US" dirty="0"/>
              <a:t> 755 or </a:t>
            </a:r>
            <a:r>
              <a:rPr lang="en-US" dirty="0" err="1"/>
              <a:t>chmod</a:t>
            </a:r>
            <a:r>
              <a:rPr lang="en-US" dirty="0"/>
              <a:t> 600) to secure configuration files, private keys, and data directories to prevent unauthorized access by other users or processes on the server.</a:t>
            </a:r>
            <a:endParaRPr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defRPr sz="4400" b="1">
                <a:solidFill>
                  <a:srgbClr val="F1F5F9"/>
                </a:solidFill>
                <a:latin typeface="Urbanist" panose="020B0A04040200000203"/>
              </a:defRPr>
            </a:pPr>
            <a:r>
              <a:rPr lang="en-US" altLang="ko-KR" b="1" dirty="0"/>
              <a:t>File Allocation Methods (</a:t>
            </a:r>
            <a:r>
              <a:rPr lang="en-US" altLang="ko-KR" b="1" dirty="0" err="1"/>
              <a:t>i</a:t>
            </a:r>
            <a:r>
              <a:rPr lang="en-US" altLang="ko-KR" b="1" dirty="0"/>
              <a:t>-nodes)</a:t>
            </a:r>
            <a:endParaRPr dirty="0"/>
          </a:p>
        </p:txBody>
      </p:sp>
      <p:sp>
        <p:nvSpPr>
          <p:cNvPr id="3" name="Content Placeholder 2"/>
          <p:cNvSpPr>
            <a:spLocks noGrp="1"/>
          </p:cNvSpPr>
          <p:nvPr>
            <p:ph idx="1"/>
          </p:nvPr>
        </p:nvSpPr>
        <p:spPr>
          <a:xfrm>
            <a:off x="457200" y="1600200"/>
            <a:ext cx="4325112" cy="4525963"/>
          </a:xfrm>
        </p:spPr>
        <p:txBody>
          <a:bodyPr/>
          <a:lstStyle/>
          <a:p>
            <a:pPr marL="0" indent="0">
              <a:spcAft>
                <a:spcPts val="1400"/>
              </a:spcAft>
              <a:buNone/>
              <a:defRPr sz="2200">
                <a:solidFill>
                  <a:srgbClr val="CBD5E1"/>
                </a:solidFill>
                <a:latin typeface="Urbanist" panose="020B0A04040200000203"/>
              </a:defRPr>
            </a:pPr>
            <a:r>
              <a:rPr lang="en-US" dirty="0"/>
              <a:t>The most common method on modern Linux systems is Indexed Allocation (which uses </a:t>
            </a:r>
            <a:r>
              <a:rPr lang="en-US" dirty="0" err="1"/>
              <a:t>i</a:t>
            </a:r>
            <a:r>
              <a:rPr lang="en-US" dirty="0"/>
              <a:t>-nodes). This structure is important for understanding why certain file metadata operations are fast and how disk fragmentation can affect application I/O performance.</a:t>
            </a:r>
            <a:endParaRPr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1"/>
          <a:stretch>
            <a:fillRect/>
          </a:stretch>
        </p:blipFill>
        <p:spPr>
          <a:xfrm>
            <a:off x="352425" y="1676400"/>
            <a:ext cx="11487150" cy="350520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1"/>
          <a:stretch>
            <a:fillRect/>
          </a:stretch>
        </p:blipFill>
        <p:spPr>
          <a:xfrm>
            <a:off x="1543050" y="1076325"/>
            <a:ext cx="9105900" cy="470535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 name="Group 11"/>
          <p:cNvGrpSpPr>
            <a:grpSpLocks noGrp="1" noRot="1" noChangeAspect="1" noMove="1" noResize="1" noUngrp="1"/>
          </p:cNvGrpSpPr>
          <p:nvPr/>
        </p:nvGrpSpPr>
        <p:grpSpPr>
          <a:xfrm>
            <a:off x="785511" y="805742"/>
            <a:ext cx="3647770" cy="3193211"/>
            <a:chOff x="1674895" y="1345036"/>
            <a:chExt cx="5428610" cy="4210939"/>
          </a:xfrm>
        </p:grpSpPr>
        <p:sp>
          <p:nvSpPr>
            <p:cNvPr id="13" name="Rectangle 12"/>
            <p:cNvSpPr/>
            <p:nvPr/>
          </p:nvSpPr>
          <p:spPr>
            <a:xfrm>
              <a:off x="1674895" y="1345036"/>
              <a:ext cx="5428610" cy="4210939"/>
            </a:xfrm>
            <a:prstGeom prst="rect">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1674895" y="1345036"/>
              <a:ext cx="5428610" cy="4210939"/>
            </a:xfrm>
            <a:prstGeom prst="rect">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p:cNvSpPr>
            <a:spLocks noGrp="1" noRot="1" noChangeAspect="1" noMove="1" noResize="1" noEditPoints="1" noAdjustHandles="1" noChangeArrowheads="1" noChangeShapeType="1" noTextEdit="1"/>
          </p:cNvSpPr>
          <p:nvPr/>
        </p:nvSpPr>
        <p:spPr>
          <a:xfrm>
            <a:off x="695315" y="685805"/>
            <a:ext cx="3624947" cy="3193211"/>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740584" y="859808"/>
            <a:ext cx="3543197" cy="2878986"/>
          </a:xfrm>
        </p:spPr>
        <p:txBody>
          <a:bodyPr>
            <a:normAutofit/>
          </a:bodyPr>
          <a:lstStyle/>
          <a:p>
            <a:pPr>
              <a:defRPr sz="4400" b="1">
                <a:solidFill>
                  <a:srgbClr val="F1F5F9"/>
                </a:solidFill>
                <a:latin typeface="Urbanist" panose="020B0A04040200000203"/>
              </a:defRPr>
            </a:pPr>
            <a:r>
              <a:rPr lang="en-US" dirty="0">
                <a:solidFill>
                  <a:schemeClr val="bg1"/>
                </a:solidFill>
              </a:rPr>
              <a:t>Example Code</a:t>
            </a:r>
            <a:endParaRPr lang="en-US" dirty="0">
              <a:solidFill>
                <a:schemeClr val="bg1"/>
              </a:solidFill>
            </a:endParaRPr>
          </a:p>
        </p:txBody>
      </p:sp>
      <p:grpSp>
        <p:nvGrpSpPr>
          <p:cNvPr id="18" name="Graphic 38"/>
          <p:cNvGrpSpPr>
            <a:grpSpLocks noGrp="1" noRot="1" noChangeAspect="1" noMove="1" noResize="1" noUngrp="1"/>
          </p:cNvGrpSpPr>
          <p:nvPr/>
        </p:nvGrpSpPr>
        <p:grpSpPr>
          <a:xfrm>
            <a:off x="0" y="117004"/>
            <a:ext cx="1370098" cy="508993"/>
            <a:chOff x="2267504" y="2540250"/>
            <a:chExt cx="1990951" cy="739640"/>
          </a:xfrm>
          <a:solidFill>
            <a:schemeClr val="bg1"/>
          </a:solidFill>
        </p:grpSpPr>
        <p:sp>
          <p:nvSpPr>
            <p:cNvPr id="19" name="Freeform: Shape 18"/>
            <p:cNvSpPr/>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20" name="Freeform: Shape 19"/>
            <p:cNvSpPr/>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nvGrpSpPr>
          <p:cNvPr id="22" name="Graphic 4"/>
          <p:cNvGrpSpPr>
            <a:grpSpLocks noGrp="1" noRot="1" noChangeAspect="1" noMove="1" noResize="1" noUngrp="1"/>
          </p:cNvGrpSpPr>
          <p:nvPr/>
        </p:nvGrpSpPr>
        <p:grpSpPr>
          <a:xfrm>
            <a:off x="4689048" y="2445529"/>
            <a:ext cx="849365" cy="849366"/>
            <a:chOff x="5829300" y="3162300"/>
            <a:chExt cx="532256" cy="532257"/>
          </a:xfrm>
          <a:solidFill>
            <a:srgbClr val="FFFFFF"/>
          </a:solidFill>
        </p:grpSpPr>
        <p:sp>
          <p:nvSpPr>
            <p:cNvPr id="23" name="Freeform: Shape 22"/>
            <p:cNvSpPr/>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4" name="Freeform: Shape 23"/>
            <p:cNvSpPr/>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5" name="Freeform: Shape 24"/>
            <p:cNvSpPr/>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26" name="Freeform: Shape 25"/>
            <p:cNvSpPr/>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7" name="Freeform: Shape 26"/>
            <p:cNvSpPr/>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8" name="Freeform: Shape 27"/>
            <p:cNvSpPr/>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9" name="Freeform: Shape 28"/>
            <p:cNvSpPr/>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30" name="Freeform: Shape 29"/>
            <p:cNvSpPr/>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1" name="Freeform: Shape 30"/>
            <p:cNvSpPr/>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2" name="Freeform: Shape 31"/>
            <p:cNvSpPr/>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3" name="Freeform: Shape 32"/>
            <p:cNvSpPr/>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4" name="Freeform: Shape 33"/>
            <p:cNvSpPr/>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5" name="Freeform: Shape 34"/>
            <p:cNvSpPr/>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pSp>
        <p:nvGrpSpPr>
          <p:cNvPr id="37" name="Graphic 4"/>
          <p:cNvGrpSpPr>
            <a:grpSpLocks noGrp="1" noRot="1" noChangeAspect="1" noMove="1" noResize="1" noUngrp="1"/>
          </p:cNvGrpSpPr>
          <p:nvPr/>
        </p:nvGrpSpPr>
        <p:grpSpPr>
          <a:xfrm>
            <a:off x="4689048" y="2445529"/>
            <a:ext cx="849365" cy="849366"/>
            <a:chOff x="5829300" y="3162300"/>
            <a:chExt cx="532256" cy="532257"/>
          </a:xfrm>
          <a:solidFill>
            <a:schemeClr val="bg1"/>
          </a:solidFill>
        </p:grpSpPr>
        <p:sp>
          <p:nvSpPr>
            <p:cNvPr id="38" name="Freeform: Shape 37"/>
            <p:cNvSpPr/>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39" name="Freeform: Shape 38"/>
            <p:cNvSpPr/>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40" name="Freeform: Shape 39"/>
            <p:cNvSpPr/>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41" name="Freeform: Shape 40"/>
            <p:cNvSpPr/>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42" name="Freeform: Shape 41"/>
            <p:cNvSpPr/>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43" name="Freeform: Shape 42"/>
            <p:cNvSpPr/>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44" name="Freeform: Shape 43"/>
            <p:cNvSpPr/>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45" name="Freeform: Shape 44"/>
            <p:cNvSpPr/>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46" name="Freeform: Shape 45"/>
            <p:cNvSpPr/>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47" name="Freeform: Shape 46"/>
            <p:cNvSpPr/>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48" name="Freeform: Shape 47"/>
            <p:cNvSpPr/>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49" name="Freeform: Shape 48"/>
            <p:cNvSpPr/>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50" name="Freeform: Shape 49"/>
            <p:cNvSpPr/>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sp>
        <p:nvSpPr>
          <p:cNvPr id="6" name="Title 1"/>
          <p:cNvSpPr txBox="1"/>
          <p:nvPr/>
        </p:nvSpPr>
        <p:spPr>
          <a:xfrm>
            <a:off x="5838976" y="1006036"/>
            <a:ext cx="5764760" cy="2878986"/>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defRPr sz="4400" b="1">
                <a:solidFill>
                  <a:srgbClr val="F1F5F9"/>
                </a:solidFill>
                <a:latin typeface="Urbanist" panose="020B0A04040200000203"/>
              </a:defRPr>
            </a:pPr>
            <a:r>
              <a:rPr lang="en-US" altLang="ko-KR" b="1" dirty="0"/>
              <a:t>Blocking vs Non Blocking I/O</a:t>
            </a:r>
            <a:endParaRPr lang="en-US" b="1" dirty="0">
              <a:solidFill>
                <a:schemeClr val="bg1"/>
              </a:solidFill>
              <a:latin typeface="Urbanist" panose="020B0A04040200000203"/>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defRPr sz="4400" b="1">
                <a:solidFill>
                  <a:srgbClr val="F1F5F9"/>
                </a:solidFill>
                <a:latin typeface="Urbanist" panose="020B0A04040200000203"/>
              </a:defRPr>
            </a:pPr>
            <a:r>
              <a:rPr lang="en-US" altLang="ko-KR" b="1" dirty="0"/>
              <a:t>User-Kernel I/O Boundary</a:t>
            </a:r>
            <a:endParaRPr dirty="0"/>
          </a:p>
        </p:txBody>
      </p:sp>
      <p:sp>
        <p:nvSpPr>
          <p:cNvPr id="3" name="Content Placeholder 2"/>
          <p:cNvSpPr>
            <a:spLocks noGrp="1"/>
          </p:cNvSpPr>
          <p:nvPr>
            <p:ph idx="1"/>
          </p:nvPr>
        </p:nvSpPr>
        <p:spPr>
          <a:xfrm>
            <a:off x="457200" y="1600200"/>
            <a:ext cx="8718062" cy="4525963"/>
          </a:xfrm>
        </p:spPr>
        <p:txBody>
          <a:bodyPr>
            <a:normAutofit fontScale="92500" lnSpcReduction="10000"/>
          </a:bodyPr>
          <a:lstStyle/>
          <a:p>
            <a:pPr>
              <a:spcAft>
                <a:spcPts val="1400"/>
              </a:spcAft>
              <a:buFont typeface="Wingdings" panose="05000000000000000000" pitchFamily="2" charset="2"/>
              <a:buChar char="§"/>
              <a:defRPr sz="2200">
                <a:solidFill>
                  <a:srgbClr val="CBD5E1"/>
                </a:solidFill>
                <a:latin typeface="Urbanist" panose="020B0A04040200000203"/>
              </a:defRPr>
            </a:pPr>
            <a:r>
              <a:rPr lang="en-US" dirty="0"/>
              <a:t>All I/O operations executed in your application must cross the boundary from User Mode to Kernel Mode via a System Call </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Software Layers: Application code uses User Level Libraries. These library functions translate your request into a system call to the OS kernel.</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Kernel Mediation (System Calls): A software interrupt (or Trap) is generated to transfer control from your user application to the OS kernel. The kernel then takes over, handling the device-specific request using its Device Driver.</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Abstraction: The OS provides a universal Device Independent Software layer  that uses generic functions (like read or write) to abstract away the complexity of different physical devices (like hard drives vs. network cards). This is why the same I/O function can be used for files or sockets.</a:t>
            </a:r>
            <a:endParaRPr dirty="0"/>
          </a:p>
        </p:txBody>
      </p:sp>
    </p:spTree>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defRPr sz="4400" b="1">
                <a:solidFill>
                  <a:srgbClr val="F1F5F9"/>
                </a:solidFill>
                <a:latin typeface="Urbanist" panose="020B0A04040200000203"/>
              </a:defRPr>
            </a:pPr>
            <a:r>
              <a:rPr lang="en-US" altLang="ko-KR" b="1" dirty="0"/>
              <a:t>High-Performance I/O Models (Interrupts and DMA)</a:t>
            </a:r>
            <a:endParaRPr dirty="0"/>
          </a:p>
        </p:txBody>
      </p:sp>
      <p:sp>
        <p:nvSpPr>
          <p:cNvPr id="3" name="Content Placeholder 2"/>
          <p:cNvSpPr>
            <a:spLocks noGrp="1"/>
          </p:cNvSpPr>
          <p:nvPr>
            <p:ph idx="1"/>
          </p:nvPr>
        </p:nvSpPr>
        <p:spPr>
          <a:xfrm>
            <a:off x="457200" y="1600200"/>
            <a:ext cx="8718062" cy="4525963"/>
          </a:xfrm>
        </p:spPr>
        <p:txBody>
          <a:bodyPr>
            <a:normAutofit/>
          </a:bodyPr>
          <a:lstStyle/>
          <a:p>
            <a:pPr>
              <a:spcAft>
                <a:spcPts val="1400"/>
              </a:spcAft>
              <a:buFont typeface="Wingdings" panose="05000000000000000000" pitchFamily="2" charset="2"/>
              <a:buChar char="§"/>
              <a:defRPr sz="2200">
                <a:solidFill>
                  <a:srgbClr val="CBD5E1"/>
                </a:solidFill>
                <a:latin typeface="Urbanist" panose="020B0A04040200000203"/>
              </a:defRPr>
            </a:pPr>
            <a:r>
              <a:rPr lang="en-US" dirty="0"/>
              <a:t>The OS uses different techniques to manage I/O, which dictates the performance characteristics of your application's I/O calls. These models explain the difference between blocking and non-blocking/asynchronous operations.</a:t>
            </a:r>
            <a:endParaRPr dirty="0"/>
          </a:p>
        </p:txBody>
      </p:sp>
    </p:spTree>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11406554" cy="1143000"/>
          </a:xfrm>
        </p:spPr>
        <p:txBody>
          <a:bodyPr>
            <a:normAutofit/>
          </a:bodyPr>
          <a:lstStyle/>
          <a:p>
            <a:pPr algn="l">
              <a:defRPr sz="4400" b="1">
                <a:solidFill>
                  <a:srgbClr val="F1F5F9"/>
                </a:solidFill>
                <a:latin typeface="Urbanist" panose="020B0A04040200000203"/>
              </a:defRPr>
            </a:pPr>
            <a:r>
              <a:rPr lang="en-US" altLang="ko-KR" b="1" dirty="0"/>
              <a:t>Interrupt-Driven I/O (Enables Non-Blocking)</a:t>
            </a:r>
            <a:endParaRPr dirty="0"/>
          </a:p>
        </p:txBody>
      </p:sp>
      <p:sp>
        <p:nvSpPr>
          <p:cNvPr id="3" name="Content Placeholder 2"/>
          <p:cNvSpPr>
            <a:spLocks noGrp="1"/>
          </p:cNvSpPr>
          <p:nvPr>
            <p:ph idx="1"/>
          </p:nvPr>
        </p:nvSpPr>
        <p:spPr>
          <a:xfrm>
            <a:off x="457200" y="1600200"/>
            <a:ext cx="8718062" cy="4525963"/>
          </a:xfrm>
        </p:spPr>
        <p:txBody>
          <a:bodyPr>
            <a:normAutofit fontScale="92500" lnSpcReduction="10000"/>
          </a:bodyPr>
          <a:lstStyle/>
          <a:p>
            <a:pPr>
              <a:spcAft>
                <a:spcPts val="1400"/>
              </a:spcAft>
              <a:buFont typeface="Wingdings" panose="05000000000000000000" pitchFamily="2" charset="2"/>
              <a:buChar char="§"/>
              <a:defRPr sz="2200">
                <a:solidFill>
                  <a:srgbClr val="CBD5E1"/>
                </a:solidFill>
                <a:latin typeface="Urbanist" panose="020B0A04040200000203"/>
              </a:defRPr>
            </a:pPr>
            <a:r>
              <a:rPr lang="en-US" dirty="0"/>
              <a:t>This is the fundamental mechanism that allows a backend server to handle many concurrent connections without the CPU getting stuck waiting for one slow I/O operation.</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The Wait: The CPU issues an I/O command and immediately moves on to execute other work (doing something else) The process that requested the I/O is typically put into a waiting/blocked state.</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The Notification: When the hardware device completes the I/O operation (e.g., a network packet arrives), the device controller issues a hardware Interrupt to the CPU</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Outcome: This mechanism maximizes CPU utilization. In Node.js, this is key to the single-threaded event loop. In Java and Python, it allows frameworks/libraries (like Netty or </a:t>
            </a:r>
            <a:r>
              <a:rPr lang="en-US" dirty="0" err="1"/>
              <a:t>asyncio</a:t>
            </a:r>
            <a:r>
              <a:rPr lang="en-US" dirty="0"/>
              <a:t>) to schedule other tasks while waiting for I/O completion.</a:t>
            </a:r>
            <a:endParaRPr dirty="0"/>
          </a:p>
        </p:txBody>
      </p:sp>
    </p:spTree>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11406554" cy="1143000"/>
          </a:xfrm>
        </p:spPr>
        <p:txBody>
          <a:bodyPr>
            <a:normAutofit fontScale="90000"/>
          </a:bodyPr>
          <a:lstStyle/>
          <a:p>
            <a:pPr algn="l">
              <a:defRPr sz="4400" b="1">
                <a:solidFill>
                  <a:srgbClr val="F1F5F9"/>
                </a:solidFill>
                <a:latin typeface="Urbanist" panose="020B0A04040200000203"/>
              </a:defRPr>
            </a:pPr>
            <a:r>
              <a:rPr lang="en-US" altLang="ko-KR" b="1" dirty="0"/>
              <a:t>Direct Memory Access (DMA) (Enables Fast Data Transfer)</a:t>
            </a:r>
            <a:endParaRPr dirty="0"/>
          </a:p>
        </p:txBody>
      </p:sp>
      <p:sp>
        <p:nvSpPr>
          <p:cNvPr id="3" name="Content Placeholder 2"/>
          <p:cNvSpPr>
            <a:spLocks noGrp="1"/>
          </p:cNvSpPr>
          <p:nvPr>
            <p:ph idx="1"/>
          </p:nvPr>
        </p:nvSpPr>
        <p:spPr>
          <a:xfrm>
            <a:off x="457200" y="1600200"/>
            <a:ext cx="8718062" cy="4525963"/>
          </a:xfrm>
        </p:spPr>
        <p:txBody>
          <a:bodyPr>
            <a:normAutofit fontScale="92500" lnSpcReduction="10000"/>
          </a:bodyPr>
          <a:lstStyle/>
          <a:p>
            <a:pPr marL="0" indent="0">
              <a:spcAft>
                <a:spcPts val="1400"/>
              </a:spcAft>
              <a:buNone/>
              <a:defRPr sz="2200">
                <a:solidFill>
                  <a:srgbClr val="CBD5E1"/>
                </a:solidFill>
                <a:latin typeface="Urbanist" panose="020B0A04040200000203"/>
              </a:defRPr>
            </a:pPr>
            <a:r>
              <a:rPr lang="en-US" altLang="ko-KR" sz="2200" dirty="0"/>
              <a:t>DMA is crucial for reducing CPU load during large data transfers, which is common in high-throughput backend services (e.g., streaming large files or handling high-volume network traffic).</a:t>
            </a:r>
            <a:endParaRPr lang="en-US" altLang="ko-KR" sz="2200" dirty="0"/>
          </a:p>
          <a:p>
            <a:pPr marL="0" indent="0">
              <a:spcAft>
                <a:spcPts val="1400"/>
              </a:spcAft>
              <a:buNone/>
              <a:defRPr sz="2200">
                <a:solidFill>
                  <a:srgbClr val="CBD5E1"/>
                </a:solidFill>
                <a:latin typeface="Urbanist" panose="020B0A04040200000203"/>
              </a:defRPr>
            </a:pPr>
            <a:r>
              <a:rPr lang="en-US" altLang="ko-KR" sz="2200" b="1" dirty="0"/>
              <a:t>Bypassing the CPU:</a:t>
            </a:r>
            <a:r>
              <a:rPr lang="en-US" altLang="ko-KR" sz="2200" dirty="0"/>
              <a:t> After the CPU initiates the I/O operation, the </a:t>
            </a:r>
            <a:r>
              <a:rPr lang="en-US" altLang="ko-KR" sz="2200" b="1" dirty="0"/>
              <a:t>DMA Controller</a:t>
            </a:r>
            <a:r>
              <a:rPr lang="en-US" altLang="ko-KR" sz="2200" dirty="0"/>
              <a:t> takes over the data transfer. Data is moved directly from the device (e.g., a network card) to the main memory (RAM) </a:t>
            </a:r>
            <a:r>
              <a:rPr lang="en-US" altLang="ko-KR" sz="2200" b="1" dirty="0"/>
              <a:t>without passing through the CPU registers byte-by-byte</a:t>
            </a:r>
            <a:endParaRPr lang="en-US" altLang="ko-KR" sz="2200" b="1" dirty="0"/>
          </a:p>
          <a:p>
            <a:pPr marL="0" indent="0">
              <a:spcAft>
                <a:spcPts val="1400"/>
              </a:spcAft>
              <a:buNone/>
              <a:defRPr sz="2200">
                <a:solidFill>
                  <a:srgbClr val="CBD5E1"/>
                </a:solidFill>
                <a:latin typeface="Urbanist" panose="020B0A04040200000203"/>
              </a:defRPr>
            </a:pPr>
            <a:r>
              <a:rPr lang="en-US" altLang="ko-KR" sz="2200" b="1" dirty="0"/>
              <a:t>The Single Interrupt:</a:t>
            </a:r>
            <a:r>
              <a:rPr lang="en-US" altLang="ko-KR" sz="2200" dirty="0"/>
              <a:t> The DMA controller issues only </a:t>
            </a:r>
            <a:r>
              <a:rPr lang="en-US" altLang="ko-KR" sz="2200" b="1" dirty="0"/>
              <a:t>one interrupt</a:t>
            </a:r>
            <a:r>
              <a:rPr lang="en-US" altLang="ko-KR" sz="2200" dirty="0"/>
              <a:t> to the CPU when the entire block of data transfer is complete, instead of interrupting for every small I/O buffer</a:t>
            </a:r>
            <a:endParaRPr lang="en-US" altLang="ko-KR" sz="2200" dirty="0"/>
          </a:p>
          <a:p>
            <a:pPr marL="0" indent="0">
              <a:spcAft>
                <a:spcPts val="1400"/>
              </a:spcAft>
              <a:buNone/>
              <a:defRPr sz="2200">
                <a:solidFill>
                  <a:srgbClr val="CBD5E1"/>
                </a:solidFill>
                <a:latin typeface="Urbanist" panose="020B0A04040200000203"/>
              </a:defRPr>
            </a:pPr>
            <a:r>
              <a:rPr lang="en-US" altLang="ko-KR" sz="2200" b="1" dirty="0"/>
              <a:t>Outcome:</a:t>
            </a:r>
            <a:r>
              <a:rPr lang="en-US" altLang="ko-KR" sz="2200" dirty="0"/>
              <a:t> This significantly reduces the overhead on the CPU and is the basis for high-efficiency I/O, often referred to as </a:t>
            </a:r>
            <a:r>
              <a:rPr lang="en-US" altLang="ko-KR" sz="2200" b="1" dirty="0"/>
              <a:t>"Zero-Copy"</a:t>
            </a:r>
            <a:r>
              <a:rPr lang="en-US" altLang="ko-KR" sz="2200" dirty="0"/>
              <a:t> in high-performance networking architectures.</a:t>
            </a:r>
            <a:endParaRPr dirty="0"/>
          </a:p>
        </p:txBody>
      </p:sp>
    </p:spTree>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panose="020B0A04040200000203"/>
              </a:defRPr>
            </a:pPr>
            <a:r>
              <a:rPr lang="en-US" dirty="0" smtClean="0"/>
              <a:t>#5: </a:t>
            </a:r>
            <a:r>
              <a:rPr lang="en-US" altLang="ko-KR" sz="6000" b="1" dirty="0" smtClean="0"/>
              <a:t>Socket </a:t>
            </a:r>
            <a:r>
              <a:rPr lang="en-US" altLang="ko-KR" sz="6000" b="1" dirty="0"/>
              <a:t>&amp; Networking</a:t>
            </a:r>
            <a:endParaRPr dirty="0"/>
          </a:p>
        </p:txBody>
      </p:sp>
      <p:sp>
        <p:nvSpPr>
          <p:cNvPr id="3" name="Subtitle 2"/>
          <p:cNvSpPr>
            <a:spLocks noGrp="1"/>
          </p:cNvSpPr>
          <p:nvPr>
            <p:ph type="subTitle" idx="1"/>
          </p:nvPr>
        </p:nvSpPr>
        <p:spPr>
          <a:xfrm>
            <a:off x="1371599" y="3886200"/>
            <a:ext cx="9396919" cy="1752600"/>
          </a:xfrm>
        </p:spPr>
        <p:txBody>
          <a:bodyPr/>
          <a:lstStyle/>
          <a:p>
            <a:pPr>
              <a:defRPr sz="2800">
                <a:solidFill>
                  <a:srgbClr val="CBD5E1"/>
                </a:solidFill>
                <a:latin typeface="Urbanist" panose="020B0A04040200000203"/>
              </a:defRPr>
            </a:pPr>
            <a:r>
              <a:rPr lang="en-US" sz="2800" dirty="0" smtClean="0"/>
              <a:t>Most common way </a:t>
            </a:r>
            <a:r>
              <a:rPr lang="en-US" sz="2800" dirty="0"/>
              <a:t>of Inter Process Communication</a:t>
            </a:r>
            <a:endParaRPr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3" name="그림 2"/>
          <p:cNvPicPr>
            <a:picLocks noChangeAspect="1"/>
          </p:cNvPicPr>
          <p:nvPr/>
        </p:nvPicPr>
        <p:blipFill>
          <a:blip r:embed="rId1"/>
          <a:stretch>
            <a:fillRect/>
          </a:stretch>
        </p:blipFill>
        <p:spPr>
          <a:xfrm>
            <a:off x="285750" y="61912"/>
            <a:ext cx="11620500" cy="6734175"/>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defRPr sz="4400" b="1">
                <a:solidFill>
                  <a:srgbClr val="F1F5F9"/>
                </a:solidFill>
                <a:latin typeface="Urbanist" panose="020B0A04040200000203"/>
              </a:defRPr>
            </a:pPr>
            <a:r>
              <a:rPr lang="en-US" altLang="ko-KR" b="1" dirty="0"/>
              <a:t>Network Stack</a:t>
            </a:r>
            <a:endParaRPr dirty="0"/>
          </a:p>
        </p:txBody>
      </p:sp>
      <p:sp>
        <p:nvSpPr>
          <p:cNvPr id="3" name="Content Placeholder 2"/>
          <p:cNvSpPr>
            <a:spLocks noGrp="1"/>
          </p:cNvSpPr>
          <p:nvPr>
            <p:ph idx="1"/>
          </p:nvPr>
        </p:nvSpPr>
        <p:spPr>
          <a:xfrm>
            <a:off x="457200" y="1600200"/>
            <a:ext cx="8718062" cy="4525963"/>
          </a:xfrm>
        </p:spPr>
        <p:txBody>
          <a:bodyPr/>
          <a:lstStyle/>
          <a:p>
            <a:pPr>
              <a:spcAft>
                <a:spcPts val="1400"/>
              </a:spcAft>
              <a:buFont typeface="Wingdings" panose="05000000000000000000" pitchFamily="2" charset="2"/>
              <a:buChar char="§"/>
              <a:defRPr sz="2200">
                <a:solidFill>
                  <a:srgbClr val="CBD5E1"/>
                </a:solidFill>
                <a:latin typeface="Urbanist" panose="020B0A04040200000203"/>
              </a:defRPr>
            </a:pPr>
            <a:r>
              <a:rPr lang="en-US" dirty="0"/>
              <a:t>Kernel network buffers and TCP settings</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Send/receive buffers and throughput tuning</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TCP_NODELAY, SO_REUSEADDR, TCP_KEEPALIVE</a:t>
            </a:r>
            <a:endParaRPr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defRPr sz="4400" b="1">
                <a:solidFill>
                  <a:srgbClr val="F1F5F9"/>
                </a:solidFill>
                <a:latin typeface="Urbanist" panose="020B0A04040200000203"/>
              </a:defRPr>
            </a:pPr>
            <a:r>
              <a:rPr lang="en-US" altLang="ko-KR" b="1" dirty="0"/>
              <a:t>Sockets</a:t>
            </a:r>
            <a:endParaRPr dirty="0"/>
          </a:p>
        </p:txBody>
      </p:sp>
      <p:sp>
        <p:nvSpPr>
          <p:cNvPr id="3" name="Content Placeholder 2"/>
          <p:cNvSpPr>
            <a:spLocks noGrp="1"/>
          </p:cNvSpPr>
          <p:nvPr>
            <p:ph idx="1"/>
          </p:nvPr>
        </p:nvSpPr>
        <p:spPr>
          <a:xfrm>
            <a:off x="457200" y="1600200"/>
            <a:ext cx="8718062" cy="4525963"/>
          </a:xfrm>
        </p:spPr>
        <p:txBody>
          <a:bodyPr/>
          <a:lstStyle/>
          <a:p>
            <a:pPr>
              <a:spcAft>
                <a:spcPts val="1400"/>
              </a:spcAft>
              <a:buFont typeface="Wingdings" panose="05000000000000000000" pitchFamily="2" charset="2"/>
              <a:buChar char="§"/>
              <a:defRPr sz="2200">
                <a:solidFill>
                  <a:srgbClr val="CBD5E1"/>
                </a:solidFill>
                <a:latin typeface="Urbanist" panose="020B0A04040200000203"/>
              </a:defRPr>
            </a:pPr>
            <a:r>
              <a:rPr lang="en-US" dirty="0"/>
              <a:t>Socket creation and lifecycle</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Connection states: LISTEN, ESTABLISHED, TIME_WAIT</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TIME_WAIT and port exhaustion issues</a:t>
            </a:r>
            <a:endParaRPr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defRPr sz="4400" b="1">
                <a:solidFill>
                  <a:srgbClr val="F1F5F9"/>
                </a:solidFill>
                <a:latin typeface="Urbanist" panose="020B0A04040200000203"/>
              </a:defRPr>
            </a:pPr>
            <a:r>
              <a:rPr lang="en-US" altLang="ko-KR" b="1" dirty="0"/>
              <a:t>Network Performance Tuning</a:t>
            </a:r>
            <a:endParaRPr dirty="0"/>
          </a:p>
        </p:txBody>
      </p:sp>
      <p:sp>
        <p:nvSpPr>
          <p:cNvPr id="3" name="Content Placeholder 2"/>
          <p:cNvSpPr>
            <a:spLocks noGrp="1"/>
          </p:cNvSpPr>
          <p:nvPr>
            <p:ph idx="1"/>
          </p:nvPr>
        </p:nvSpPr>
        <p:spPr>
          <a:xfrm>
            <a:off x="457200" y="1600200"/>
            <a:ext cx="8718062" cy="4525963"/>
          </a:xfrm>
        </p:spPr>
        <p:txBody>
          <a:bodyPr/>
          <a:lstStyle/>
          <a:p>
            <a:pPr>
              <a:spcAft>
                <a:spcPts val="1400"/>
              </a:spcAft>
              <a:buFont typeface="Wingdings" panose="05000000000000000000" pitchFamily="2" charset="2"/>
              <a:buChar char="§"/>
              <a:defRPr sz="2200">
                <a:solidFill>
                  <a:srgbClr val="CBD5E1"/>
                </a:solidFill>
                <a:latin typeface="Urbanist" panose="020B0A04040200000203"/>
              </a:defRPr>
            </a:pPr>
            <a:r>
              <a:rPr lang="en-US" dirty="0"/>
              <a:t>TCP backlog (listen queue): Impact on connection acceptance</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Connection timeouts: TCP timeout vs application timeout</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Nagle's algorithm and latency</a:t>
            </a:r>
            <a:endParaRPr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panose="020B0A04040200000203"/>
              </a:defRPr>
            </a:pPr>
            <a:r>
              <a:rPr lang="en-US" dirty="0" smtClean="0"/>
              <a:t>#6: </a:t>
            </a:r>
            <a:r>
              <a:rPr lang="en-US" altLang="ko-KR" sz="6000" b="1" dirty="0" smtClean="0"/>
              <a:t>Environment </a:t>
            </a:r>
            <a:r>
              <a:rPr lang="en-US" altLang="ko-KR" sz="6000" b="1" dirty="0"/>
              <a:t>Configuration</a:t>
            </a:r>
            <a:endParaRPr dirty="0"/>
          </a:p>
        </p:txBody>
      </p:sp>
      <p:sp>
        <p:nvSpPr>
          <p:cNvPr id="3" name="Subtitle 2"/>
          <p:cNvSpPr>
            <a:spLocks noGrp="1"/>
          </p:cNvSpPr>
          <p:nvPr>
            <p:ph type="subTitle" idx="1"/>
          </p:nvPr>
        </p:nvSpPr>
        <p:spPr>
          <a:xfrm>
            <a:off x="1371599" y="3886200"/>
            <a:ext cx="9396919" cy="1752600"/>
          </a:xfrm>
        </p:spPr>
        <p:txBody>
          <a:bodyPr/>
          <a:lstStyle/>
          <a:p>
            <a:pPr>
              <a:defRPr sz="2800">
                <a:solidFill>
                  <a:srgbClr val="CBD5E1"/>
                </a:solidFill>
                <a:latin typeface="Urbanist" panose="020B0A04040200000203"/>
              </a:defRPr>
            </a:pPr>
            <a:r>
              <a:rPr lang="en-US" sz="2800" dirty="0"/>
              <a:t>Modern Application Style</a:t>
            </a:r>
            <a:endParaRPr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11023600" cy="1143000"/>
          </a:xfrm>
        </p:spPr>
        <p:txBody>
          <a:bodyPr>
            <a:normAutofit/>
          </a:bodyPr>
          <a:lstStyle/>
          <a:p>
            <a:pPr algn="l">
              <a:defRPr sz="4400" b="1">
                <a:solidFill>
                  <a:srgbClr val="F1F5F9"/>
                </a:solidFill>
                <a:latin typeface="Urbanist" panose="020B0A04040200000203"/>
              </a:defRPr>
            </a:pPr>
            <a:r>
              <a:rPr lang="en-US" altLang="ko-KR" b="1" dirty="0"/>
              <a:t>Environment Variables &amp; Configuration</a:t>
            </a:r>
            <a:endParaRPr dirty="0"/>
          </a:p>
        </p:txBody>
      </p:sp>
      <p:sp>
        <p:nvSpPr>
          <p:cNvPr id="3" name="Content Placeholder 2"/>
          <p:cNvSpPr>
            <a:spLocks noGrp="1"/>
          </p:cNvSpPr>
          <p:nvPr>
            <p:ph idx="1"/>
          </p:nvPr>
        </p:nvSpPr>
        <p:spPr>
          <a:xfrm>
            <a:off x="457200" y="1600200"/>
            <a:ext cx="8718062" cy="4525963"/>
          </a:xfrm>
        </p:spPr>
        <p:txBody>
          <a:bodyPr/>
          <a:lstStyle/>
          <a:p>
            <a:pPr>
              <a:spcAft>
                <a:spcPts val="1400"/>
              </a:spcAft>
              <a:buFont typeface="Wingdings" panose="05000000000000000000" pitchFamily="2" charset="2"/>
              <a:buChar char="§"/>
              <a:defRPr sz="2200">
                <a:solidFill>
                  <a:srgbClr val="CBD5E1"/>
                </a:solidFill>
                <a:latin typeface="Urbanist" panose="020B0A04040200000203"/>
              </a:defRPr>
            </a:pPr>
            <a:r>
              <a:rPr lang="en-US" dirty="0"/>
              <a:t>How OS passes environment to processes</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Resource limits (</a:t>
            </a:r>
            <a:r>
              <a:rPr lang="en-US" dirty="0" err="1"/>
              <a:t>ulimit</a:t>
            </a:r>
            <a:r>
              <a:rPr lang="en-US" dirty="0"/>
              <a:t>): File descriptors, stack size, max processes</a:t>
            </a:r>
            <a:endParaRPr lang="en-US" dirty="0"/>
          </a:p>
          <a:p>
            <a:pPr>
              <a:spcAft>
                <a:spcPts val="1400"/>
              </a:spcAft>
              <a:buFont typeface="Wingdings" panose="05000000000000000000" pitchFamily="2" charset="2"/>
              <a:buChar char="§"/>
              <a:defRPr sz="2200">
                <a:solidFill>
                  <a:srgbClr val="CBD5E1"/>
                </a:solidFill>
                <a:latin typeface="Urbanist" panose="020B0A04040200000203"/>
              </a:defRPr>
            </a:pPr>
            <a:r>
              <a:rPr lang="en-US" dirty="0"/>
              <a:t>Shell environment vs </a:t>
            </a:r>
            <a:r>
              <a:rPr lang="en-US" dirty="0" err="1"/>
              <a:t>systemd</a:t>
            </a:r>
            <a:r>
              <a:rPr lang="en-US" dirty="0"/>
              <a:t> service environment</a:t>
            </a:r>
            <a:endParaRPr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11406554" cy="1143000"/>
          </a:xfrm>
        </p:spPr>
        <p:txBody>
          <a:bodyPr>
            <a:normAutofit/>
          </a:bodyPr>
          <a:lstStyle/>
          <a:p>
            <a:pPr algn="l">
              <a:defRPr sz="4400" b="1">
                <a:solidFill>
                  <a:srgbClr val="F1F5F9"/>
                </a:solidFill>
                <a:latin typeface="Urbanist" panose="020B0A04040200000203"/>
              </a:defRPr>
            </a:pPr>
            <a:r>
              <a:rPr lang="en-US" altLang="ko-KR" b="1" dirty="0"/>
              <a:t>Configuration Best Practices</a:t>
            </a:r>
            <a:endParaRPr dirty="0"/>
          </a:p>
        </p:txBody>
      </p:sp>
      <p:sp>
        <p:nvSpPr>
          <p:cNvPr id="3" name="Content Placeholder 2"/>
          <p:cNvSpPr>
            <a:spLocks noGrp="1"/>
          </p:cNvSpPr>
          <p:nvPr>
            <p:ph idx="1"/>
          </p:nvPr>
        </p:nvSpPr>
        <p:spPr>
          <a:xfrm>
            <a:off x="457200" y="1600200"/>
            <a:ext cx="8718062" cy="4525963"/>
          </a:xfrm>
        </p:spPr>
        <p:txBody>
          <a:bodyPr>
            <a:normAutofit/>
          </a:bodyPr>
          <a:lstStyle/>
          <a:p>
            <a:pPr marL="0" indent="0">
              <a:spcAft>
                <a:spcPts val="1400"/>
              </a:spcAft>
              <a:buNone/>
              <a:defRPr sz="2200">
                <a:solidFill>
                  <a:srgbClr val="CBD5E1"/>
                </a:solidFill>
                <a:latin typeface="Urbanist" panose="020B0A04040200000203"/>
              </a:defRPr>
            </a:pPr>
            <a:r>
              <a:rPr lang="en-US" altLang="ko-KR" sz="2200" dirty="0"/>
              <a:t>Setting appropriate file descriptor limits for servers</a:t>
            </a:r>
            <a:endParaRPr lang="en-US" altLang="ko-KR" sz="2200" dirty="0"/>
          </a:p>
          <a:p>
            <a:pPr marL="0" indent="0">
              <a:spcAft>
                <a:spcPts val="1400"/>
              </a:spcAft>
              <a:buNone/>
              <a:defRPr sz="2200">
                <a:solidFill>
                  <a:srgbClr val="CBD5E1"/>
                </a:solidFill>
                <a:latin typeface="Urbanist" panose="020B0A04040200000203"/>
              </a:defRPr>
            </a:pPr>
            <a:r>
              <a:rPr lang="en-US" altLang="ko-KR" sz="2200" dirty="0"/>
              <a:t>Configuring heap memory for containers</a:t>
            </a:r>
            <a:endParaRPr lang="en-US" altLang="ko-KR" sz="2200" dirty="0"/>
          </a:p>
          <a:p>
            <a:pPr marL="0" indent="0">
              <a:spcAft>
                <a:spcPts val="1400"/>
              </a:spcAft>
              <a:buNone/>
              <a:defRPr sz="2200">
                <a:solidFill>
                  <a:srgbClr val="CBD5E1"/>
                </a:solidFill>
                <a:latin typeface="Urbanist" panose="020B0A04040200000203"/>
              </a:defRPr>
            </a:pPr>
            <a:r>
              <a:rPr lang="en-US" altLang="ko-KR" sz="2200" dirty="0"/>
              <a:t>Thread pool sizing based on CPU count</a:t>
            </a:r>
            <a:endParaRPr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4" name="그림 3"/>
          <p:cNvPicPr>
            <a:picLocks noChangeAspect="1"/>
          </p:cNvPicPr>
          <p:nvPr/>
        </p:nvPicPr>
        <p:blipFill>
          <a:blip r:embed="rId1"/>
          <a:stretch>
            <a:fillRect/>
          </a:stretch>
        </p:blipFill>
        <p:spPr>
          <a:xfrm>
            <a:off x="18745" y="0"/>
            <a:ext cx="12154510" cy="685800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3" name="Picture 2"/>
          <p:cNvPicPr>
            <a:picLocks noChangeAspect="1"/>
          </p:cNvPicPr>
          <p:nvPr/>
        </p:nvPicPr>
        <p:blipFill>
          <a:blip r:embed="rId1"/>
          <a:stretch>
            <a:fillRect/>
          </a:stretch>
        </p:blipFill>
        <p:spPr>
          <a:xfrm>
            <a:off x="766512" y="801103"/>
            <a:ext cx="10683240" cy="5090160"/>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panose="020B0A04040200000203"/>
              </a:defRPr>
            </a:pPr>
            <a:r>
              <a:rPr lang="en-US" dirty="0" smtClean="0">
                <a:solidFill>
                  <a:srgbClr val="00B0F0"/>
                </a:solidFill>
              </a:rPr>
              <a:t>#7: </a:t>
            </a:r>
            <a:r>
              <a:rPr lang="en-US" sz="6000" dirty="0"/>
              <a:t>Practical Examples </a:t>
            </a:r>
            <a:endParaRPr dirty="0">
              <a:solidFill>
                <a:srgbClr val="00B0F0"/>
              </a:solidFill>
            </a:endParaRPr>
          </a:p>
        </p:txBody>
      </p:sp>
      <p:sp>
        <p:nvSpPr>
          <p:cNvPr id="3" name="Subtitle 2"/>
          <p:cNvSpPr>
            <a:spLocks noGrp="1"/>
          </p:cNvSpPr>
          <p:nvPr>
            <p:ph type="subTitle" idx="1"/>
          </p:nvPr>
        </p:nvSpPr>
        <p:spPr>
          <a:xfrm>
            <a:off x="1371599" y="3886200"/>
            <a:ext cx="9396919" cy="1752600"/>
          </a:xfrm>
        </p:spPr>
        <p:txBody>
          <a:bodyPr/>
          <a:lstStyle/>
          <a:p>
            <a:pPr>
              <a:defRPr sz="2800">
                <a:solidFill>
                  <a:srgbClr val="CBD5E1"/>
                </a:solidFill>
                <a:latin typeface="Urbanist" panose="020B0A04040200000203"/>
              </a:defRPr>
            </a:pPr>
            <a:r>
              <a:rPr lang="en-US" sz="2800" dirty="0" smtClean="0"/>
              <a:t>And how to </a:t>
            </a:r>
            <a:r>
              <a:rPr lang="en-US" sz="2800" dirty="0" smtClean="0"/>
              <a:t>handle it in specific </a:t>
            </a:r>
            <a:r>
              <a:rPr lang="en-US" sz="2800" dirty="0" smtClean="0"/>
              <a:t>Programing </a:t>
            </a:r>
            <a:r>
              <a:rPr lang="en-US" sz="2800" dirty="0"/>
              <a:t>Languages</a:t>
            </a:r>
            <a:endParaRPr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panose="020B0A04040200000203"/>
              </a:defRPr>
            </a:pPr>
            <a:r>
              <a:rPr lang="en-US" dirty="0" smtClean="0"/>
              <a:t>I/O Bound problems</a:t>
            </a:r>
            <a:endParaRPr dirty="0"/>
          </a:p>
        </p:txBody>
      </p:sp>
      <p:sp>
        <p:nvSpPr>
          <p:cNvPr id="3" name="Subtitle 2"/>
          <p:cNvSpPr>
            <a:spLocks noGrp="1"/>
          </p:cNvSpPr>
          <p:nvPr>
            <p:ph type="subTitle" idx="1"/>
          </p:nvPr>
        </p:nvSpPr>
        <p:spPr>
          <a:xfrm>
            <a:off x="1371599" y="3886200"/>
            <a:ext cx="9396919" cy="1752600"/>
          </a:xfrm>
        </p:spPr>
        <p:txBody>
          <a:bodyPr/>
          <a:lstStyle/>
          <a:p>
            <a:pPr>
              <a:defRPr sz="2800">
                <a:solidFill>
                  <a:srgbClr val="CBD5E1"/>
                </a:solidFill>
                <a:latin typeface="Urbanist" panose="020B0A04040200000203"/>
              </a:defRPr>
            </a:pPr>
            <a:r>
              <a:rPr lang="en-US" altLang="ko-KR" sz="2800" dirty="0"/>
              <a:t>Efficient synchronous/asynchronous, &amp; non-blocking code.</a:t>
            </a:r>
            <a:endParaRP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panose="020B0A04040200000203"/>
              </a:defRPr>
            </a:pPr>
            <a:r>
              <a:rPr lang="en-US" dirty="0" smtClean="0"/>
              <a:t>CPU Bound problems</a:t>
            </a:r>
            <a:endParaRPr dirty="0"/>
          </a:p>
        </p:txBody>
      </p:sp>
      <p:sp>
        <p:nvSpPr>
          <p:cNvPr id="3" name="Subtitle 2"/>
          <p:cNvSpPr>
            <a:spLocks noGrp="1"/>
          </p:cNvSpPr>
          <p:nvPr>
            <p:ph type="subTitle" idx="1"/>
          </p:nvPr>
        </p:nvSpPr>
        <p:spPr>
          <a:xfrm>
            <a:off x="1371599" y="3886200"/>
            <a:ext cx="9396919" cy="1752600"/>
          </a:xfrm>
        </p:spPr>
        <p:txBody>
          <a:bodyPr/>
          <a:lstStyle/>
          <a:p>
            <a:pPr>
              <a:defRPr sz="2800">
                <a:solidFill>
                  <a:srgbClr val="CBD5E1"/>
                </a:solidFill>
                <a:latin typeface="Urbanist" panose="020B0A04040200000203"/>
              </a:defRPr>
            </a:pPr>
            <a:r>
              <a:rPr lang="en-US" sz="2800" dirty="0" smtClean="0"/>
              <a:t>XXXX</a:t>
            </a:r>
            <a:endParaRPr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txBox="1"/>
          <p:nvPr/>
        </p:nvSpPr>
        <p:spPr>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panose="020B0A04040200000203"/>
              </a:defRPr>
            </a:pPr>
            <a:r>
              <a:rPr lang="en-US" b="1" dirty="0">
                <a:solidFill>
                  <a:srgbClr val="F1F5F9"/>
                </a:solidFill>
                <a:latin typeface="Urbanist" panose="020B0A04040200000203"/>
              </a:rPr>
              <a:t>Language Specifics</a:t>
            </a:r>
            <a:endParaRPr lang="en-US" b="1" dirty="0">
              <a:solidFill>
                <a:srgbClr val="F1F5F9"/>
              </a:solidFill>
              <a:latin typeface="Urbanist" panose="020B0A04040200000203"/>
            </a:endParaRPr>
          </a:p>
        </p:txBody>
      </p:sp>
      <p:sp>
        <p:nvSpPr>
          <p:cNvPr id="4" name="Content Placeholder 2"/>
          <p:cNvSpPr txBox="1"/>
          <p:nvPr/>
        </p:nvSpPr>
        <p:spPr>
          <a:xfrm>
            <a:off x="457200" y="1600200"/>
            <a:ext cx="11125200"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panose="020B0604020202020204"/>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panose="020B0604020202020204"/>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panose="020B0604020202020204"/>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Java: JVM threads map to OS threads (</a:t>
            </a:r>
            <a:r>
              <a:rPr lang="en-US" sz="2200" dirty="0" err="1">
                <a:solidFill>
                  <a:srgbClr val="CBD5E1"/>
                </a:solidFill>
                <a:latin typeface="Urbanist" panose="020B0A04040200000203"/>
              </a:rPr>
              <a:t>ExecutorService</a:t>
            </a:r>
            <a:r>
              <a:rPr lang="en-US" sz="2200" dirty="0">
                <a:solidFill>
                  <a:srgbClr val="CBD5E1"/>
                </a:solidFill>
                <a:latin typeface="Urbanist" panose="020B0A04040200000203"/>
              </a:rPr>
              <a:t>).</a:t>
            </a:r>
            <a:endParaRPr lang="en-US" sz="2200" dirty="0">
              <a:solidFill>
                <a:srgbClr val="CBD5E1"/>
              </a:solidFill>
              <a:latin typeface="Urbanist" panose="020B0A04040200000203"/>
            </a:endParaRPr>
          </a:p>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Python: Limited by GIL (Global Interpreter Lock). Use multiprocessing for CPU tasks.</a:t>
            </a:r>
            <a:endParaRPr lang="en-US" sz="2200" dirty="0">
              <a:solidFill>
                <a:srgbClr val="CBD5E1"/>
              </a:solidFill>
              <a:latin typeface="Urbanist" panose="020B0A04040200000203"/>
            </a:endParaRPr>
          </a:p>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Node.js: Single-threaded Event Loop. Use Worker Threads for CPU tasks.</a:t>
            </a:r>
            <a:endParaRPr lang="en-US" sz="2200" dirty="0">
              <a:solidFill>
                <a:srgbClr val="CBD5E1"/>
              </a:solidFill>
              <a:latin typeface="Urbanist" panose="020B0A04040200000203"/>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txBox="1"/>
          <p:nvPr/>
        </p:nvSpPr>
        <p:spPr>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panose="020B0A04040200000203"/>
              </a:defRPr>
            </a:pPr>
            <a:r>
              <a:rPr lang="en-US" b="1" dirty="0">
                <a:solidFill>
                  <a:srgbClr val="F1F5F9"/>
                </a:solidFill>
                <a:latin typeface="Urbanist" panose="020B0A04040200000203"/>
              </a:rPr>
              <a:t>Language Specifics</a:t>
            </a:r>
            <a:endParaRPr lang="en-US" b="1" dirty="0">
              <a:solidFill>
                <a:srgbClr val="F1F5F9"/>
              </a:solidFill>
              <a:latin typeface="Urbanist" panose="020B0A04040200000203"/>
            </a:endParaRPr>
          </a:p>
        </p:txBody>
      </p:sp>
      <p:sp>
        <p:nvSpPr>
          <p:cNvPr id="4" name="Content Placeholder 2"/>
          <p:cNvSpPr txBox="1"/>
          <p:nvPr/>
        </p:nvSpPr>
        <p:spPr>
          <a:xfrm>
            <a:off x="457200" y="1600200"/>
            <a:ext cx="11125200"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panose="020B0604020202020204"/>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panose="020B0604020202020204"/>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panose="020B0604020202020204"/>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Java: Heap configuration (-</a:t>
            </a:r>
            <a:r>
              <a:rPr lang="en-US" sz="2200" dirty="0" err="1">
                <a:solidFill>
                  <a:srgbClr val="CBD5E1"/>
                </a:solidFill>
                <a:latin typeface="Urbanist" panose="020B0A04040200000203"/>
              </a:rPr>
              <a:t>Xmx</a:t>
            </a:r>
            <a:r>
              <a:rPr lang="en-US" sz="2200" dirty="0">
                <a:solidFill>
                  <a:srgbClr val="CBD5E1"/>
                </a:solidFill>
                <a:latin typeface="Urbanist" panose="020B0A04040200000203"/>
              </a:rPr>
              <a:t>, -</a:t>
            </a:r>
            <a:r>
              <a:rPr lang="en-US" sz="2200" dirty="0" err="1">
                <a:solidFill>
                  <a:srgbClr val="CBD5E1"/>
                </a:solidFill>
                <a:latin typeface="Urbanist" panose="020B0A04040200000203"/>
              </a:rPr>
              <a:t>Xms</a:t>
            </a:r>
            <a:r>
              <a:rPr lang="en-US" sz="2200" dirty="0">
                <a:solidFill>
                  <a:srgbClr val="CBD5E1"/>
                </a:solidFill>
                <a:latin typeface="Urbanist" panose="020B0A04040200000203"/>
              </a:rPr>
              <a:t>); garbage collection tuning</a:t>
            </a:r>
            <a:endParaRPr lang="en-US" sz="2200" dirty="0">
              <a:solidFill>
                <a:srgbClr val="CBD5E1"/>
              </a:solidFill>
              <a:latin typeface="Urbanist" panose="020B0A04040200000203"/>
            </a:endParaRPr>
          </a:p>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Python: Reference counting and garbage collection; memory profiling tools</a:t>
            </a:r>
            <a:endParaRPr lang="en-US" sz="2200" dirty="0">
              <a:solidFill>
                <a:srgbClr val="CBD5E1"/>
              </a:solidFill>
              <a:latin typeface="Urbanist" panose="020B0A04040200000203"/>
            </a:endParaRPr>
          </a:p>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Node.js: V8 heap size limits; memory leaks in event-driven code</a:t>
            </a:r>
            <a:endParaRPr lang="en-US" sz="2200" dirty="0">
              <a:solidFill>
                <a:srgbClr val="CBD5E1"/>
              </a:solidFill>
              <a:latin typeface="Urbanist" panose="020B0A04040200000203"/>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txBox="1"/>
          <p:nvPr/>
        </p:nvSpPr>
        <p:spPr>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panose="020B0A04040200000203"/>
              </a:defRPr>
            </a:pPr>
            <a:r>
              <a:rPr lang="en-US" b="1" dirty="0">
                <a:solidFill>
                  <a:srgbClr val="F1F5F9"/>
                </a:solidFill>
                <a:latin typeface="Urbanist" panose="020B0A04040200000203"/>
              </a:rPr>
              <a:t>Language Specifics</a:t>
            </a:r>
            <a:endParaRPr lang="en-US" b="1" dirty="0">
              <a:solidFill>
                <a:srgbClr val="F1F5F9"/>
              </a:solidFill>
              <a:latin typeface="Urbanist" panose="020B0A04040200000203"/>
            </a:endParaRPr>
          </a:p>
        </p:txBody>
      </p:sp>
      <p:sp>
        <p:nvSpPr>
          <p:cNvPr id="4" name="Content Placeholder 2"/>
          <p:cNvSpPr txBox="1"/>
          <p:nvPr/>
        </p:nvSpPr>
        <p:spPr>
          <a:xfrm>
            <a:off x="457200" y="1600200"/>
            <a:ext cx="11125200"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panose="020B0604020202020204"/>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panose="020B0604020202020204"/>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panose="020B0604020202020204"/>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Java: </a:t>
            </a:r>
            <a:r>
              <a:rPr lang="en-US" sz="2200" dirty="0" err="1">
                <a:solidFill>
                  <a:srgbClr val="CBD5E1"/>
                </a:solidFill>
                <a:latin typeface="Urbanist" panose="020B0A04040200000203"/>
              </a:rPr>
              <a:t>FileInputStream</a:t>
            </a:r>
            <a:r>
              <a:rPr lang="en-US" sz="2200" dirty="0">
                <a:solidFill>
                  <a:srgbClr val="CBD5E1"/>
                </a:solidFill>
                <a:latin typeface="Urbanist" panose="020B0A04040200000203"/>
              </a:rPr>
              <a:t> / </a:t>
            </a:r>
            <a:r>
              <a:rPr lang="en-US" sz="2200" dirty="0" err="1">
                <a:solidFill>
                  <a:srgbClr val="CBD5E1"/>
                </a:solidFill>
                <a:latin typeface="Urbanist" panose="020B0A04040200000203"/>
              </a:rPr>
              <a:t>FileOutputStream</a:t>
            </a:r>
            <a:r>
              <a:rPr lang="en-US" sz="2200" dirty="0">
                <a:solidFill>
                  <a:srgbClr val="CBD5E1"/>
                </a:solidFill>
                <a:latin typeface="Urbanist" panose="020B0A04040200000203"/>
              </a:rPr>
              <a:t> vs buffered streams; NIO channels</a:t>
            </a:r>
            <a:endParaRPr lang="en-US" sz="2200" dirty="0">
              <a:solidFill>
                <a:srgbClr val="CBD5E1"/>
              </a:solidFill>
              <a:latin typeface="Urbanist" panose="020B0A04040200000203"/>
            </a:endParaRPr>
          </a:p>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Python: open() modes; buffering parameters</a:t>
            </a:r>
            <a:endParaRPr lang="en-US" sz="2200" dirty="0">
              <a:solidFill>
                <a:srgbClr val="CBD5E1"/>
              </a:solidFill>
              <a:latin typeface="Urbanist" panose="020B0A04040200000203"/>
            </a:endParaRPr>
          </a:p>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Node.js: fs module; stream API for efficient I/O</a:t>
            </a:r>
            <a:endParaRPr lang="en-US" sz="2200" dirty="0">
              <a:solidFill>
                <a:srgbClr val="CBD5E1"/>
              </a:solidFill>
              <a:latin typeface="Urbanist" panose="020B0A04040200000203"/>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txBox="1"/>
          <p:nvPr/>
        </p:nvSpPr>
        <p:spPr>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panose="020B0A04040200000203"/>
              </a:defRPr>
            </a:pPr>
            <a:r>
              <a:rPr lang="en-US" b="1" dirty="0">
                <a:solidFill>
                  <a:srgbClr val="F1F5F9"/>
                </a:solidFill>
                <a:latin typeface="Urbanist" panose="020B0A04040200000203"/>
              </a:rPr>
              <a:t>Language Specifics</a:t>
            </a:r>
            <a:endParaRPr lang="en-US" b="1" dirty="0">
              <a:solidFill>
                <a:srgbClr val="F1F5F9"/>
              </a:solidFill>
              <a:latin typeface="Urbanist" panose="020B0A04040200000203"/>
            </a:endParaRPr>
          </a:p>
        </p:txBody>
      </p:sp>
      <p:sp>
        <p:nvSpPr>
          <p:cNvPr id="4" name="Content Placeholder 2"/>
          <p:cNvSpPr txBox="1"/>
          <p:nvPr/>
        </p:nvSpPr>
        <p:spPr>
          <a:xfrm>
            <a:off x="457200" y="1600200"/>
            <a:ext cx="11125200"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panose="020B0604020202020204"/>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panose="020B0604020202020204"/>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panose="020B0604020202020204"/>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Java: </a:t>
            </a:r>
            <a:r>
              <a:rPr lang="en-US" sz="2200" dirty="0" err="1">
                <a:solidFill>
                  <a:srgbClr val="CBD5E1"/>
                </a:solidFill>
                <a:latin typeface="Urbanist" panose="020B0A04040200000203"/>
              </a:rPr>
              <a:t>ServerSocket</a:t>
            </a:r>
            <a:r>
              <a:rPr lang="en-US" sz="2200" dirty="0">
                <a:solidFill>
                  <a:srgbClr val="CBD5E1"/>
                </a:solidFill>
                <a:latin typeface="Urbanist" panose="020B0A04040200000203"/>
              </a:rPr>
              <a:t> configuration; socket buffer settings</a:t>
            </a:r>
            <a:endParaRPr lang="en-US" sz="2200" dirty="0">
              <a:solidFill>
                <a:srgbClr val="CBD5E1"/>
              </a:solidFill>
              <a:latin typeface="Urbanist" panose="020B0A04040200000203"/>
            </a:endParaRPr>
          </a:p>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Python: socket module; </a:t>
            </a:r>
            <a:r>
              <a:rPr lang="en-US" sz="2200" dirty="0" err="1">
                <a:solidFill>
                  <a:srgbClr val="CBD5E1"/>
                </a:solidFill>
                <a:latin typeface="Urbanist" panose="020B0A04040200000203"/>
              </a:rPr>
              <a:t>asyncio</a:t>
            </a:r>
            <a:r>
              <a:rPr lang="en-US" sz="2200" dirty="0">
                <a:solidFill>
                  <a:srgbClr val="CBD5E1"/>
                </a:solidFill>
                <a:latin typeface="Urbanist" panose="020B0A04040200000203"/>
              </a:rPr>
              <a:t> for non-blocking sockets</a:t>
            </a:r>
            <a:endParaRPr lang="en-US" sz="2200" dirty="0">
              <a:solidFill>
                <a:srgbClr val="CBD5E1"/>
              </a:solidFill>
              <a:latin typeface="Urbanist" panose="020B0A04040200000203"/>
            </a:endParaRPr>
          </a:p>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Node.js: Server configuration; net module; stream backpressure</a:t>
            </a:r>
            <a:endParaRPr lang="en-US" sz="2200" dirty="0">
              <a:solidFill>
                <a:srgbClr val="CBD5E1"/>
              </a:solidFill>
              <a:latin typeface="Urbanist" panose="020B0A04040200000203"/>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txBox="1"/>
          <p:nvPr/>
        </p:nvSpPr>
        <p:spPr>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panose="020B0A04040200000203"/>
              </a:defRPr>
            </a:pPr>
            <a:r>
              <a:rPr lang="en-US" b="1" dirty="0">
                <a:solidFill>
                  <a:srgbClr val="F1F5F9"/>
                </a:solidFill>
                <a:latin typeface="Urbanist" panose="020B0A04040200000203"/>
              </a:rPr>
              <a:t>Language Specifics</a:t>
            </a:r>
            <a:endParaRPr lang="en-US" b="1" dirty="0">
              <a:solidFill>
                <a:srgbClr val="F1F5F9"/>
              </a:solidFill>
              <a:latin typeface="Urbanist" panose="020B0A04040200000203"/>
            </a:endParaRPr>
          </a:p>
        </p:txBody>
      </p:sp>
      <p:sp>
        <p:nvSpPr>
          <p:cNvPr id="4" name="Content Placeholder 2"/>
          <p:cNvSpPr txBox="1"/>
          <p:nvPr/>
        </p:nvSpPr>
        <p:spPr>
          <a:xfrm>
            <a:off x="457200" y="1600200"/>
            <a:ext cx="11125200"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panose="020B0604020202020204"/>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panose="020B0604020202020204"/>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panose="020B0604020202020204"/>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Java: Thread count affects scheduling; JVM CPU usage patterns</a:t>
            </a:r>
            <a:endParaRPr lang="en-US" sz="2200" dirty="0">
              <a:solidFill>
                <a:srgbClr val="CBD5E1"/>
              </a:solidFill>
              <a:latin typeface="Urbanist" panose="020B0A04040200000203"/>
            </a:endParaRPr>
          </a:p>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Python: Multiprocessing for CPU-bound work to bypass GIL</a:t>
            </a:r>
            <a:endParaRPr lang="en-US" sz="2200" dirty="0">
              <a:solidFill>
                <a:srgbClr val="CBD5E1"/>
              </a:solidFill>
              <a:latin typeface="Urbanist" panose="020B0A04040200000203"/>
            </a:endParaRPr>
          </a:p>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Node.js: </a:t>
            </a:r>
            <a:r>
              <a:rPr lang="en-US" sz="2200" dirty="0" err="1">
                <a:solidFill>
                  <a:srgbClr val="CBD5E1"/>
                </a:solidFill>
                <a:latin typeface="Urbanist" panose="020B0A04040200000203"/>
              </a:rPr>
              <a:t>libuv</a:t>
            </a:r>
            <a:r>
              <a:rPr lang="en-US" sz="2200" dirty="0">
                <a:solidFill>
                  <a:srgbClr val="CBD5E1"/>
                </a:solidFill>
                <a:latin typeface="Urbanist" panose="020B0A04040200000203"/>
              </a:rPr>
              <a:t> thread pool size for blocking operations</a:t>
            </a:r>
            <a:endParaRPr lang="en-US" sz="2200" dirty="0">
              <a:solidFill>
                <a:srgbClr val="CBD5E1"/>
              </a:solidFill>
              <a:latin typeface="Urbanist" panose="020B0A04040200000203"/>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3" name="Title 1"/>
          <p:cNvSpPr txBox="1"/>
          <p:nvPr/>
        </p:nvSpPr>
        <p:spPr>
          <a:xfrm>
            <a:off x="457199" y="160337"/>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panose="020B0A04040200000203"/>
              </a:defRPr>
            </a:pPr>
            <a:r>
              <a:rPr lang="en-US" b="1" dirty="0">
                <a:solidFill>
                  <a:srgbClr val="F1F5F9"/>
                </a:solidFill>
                <a:latin typeface="Urbanist" panose="020B0A04040200000203"/>
              </a:rPr>
              <a:t>Practical Examples</a:t>
            </a:r>
            <a:endParaRPr lang="en-US" b="1" dirty="0">
              <a:solidFill>
                <a:srgbClr val="F1F5F9"/>
              </a:solidFill>
              <a:latin typeface="Urbanist" panose="020B0A04040200000203"/>
            </a:endParaRPr>
          </a:p>
        </p:txBody>
      </p:sp>
      <p:sp>
        <p:nvSpPr>
          <p:cNvPr id="5" name="Content Placeholder 2"/>
          <p:cNvSpPr txBox="1"/>
          <p:nvPr/>
        </p:nvSpPr>
        <p:spPr>
          <a:xfrm>
            <a:off x="457199" y="1600200"/>
            <a:ext cx="11223171"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panose="020B0604020202020204"/>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panose="020B0604020202020204"/>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panose="020B0604020202020204"/>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panose="020B0604020202020204"/>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 Thread Pool Sizing: Balance pool size to match CPU cores.</a:t>
            </a:r>
            <a:endParaRPr lang="en-US" sz="2200" dirty="0">
              <a:solidFill>
                <a:srgbClr val="CBD5E1"/>
              </a:solidFill>
              <a:latin typeface="Urbanist" panose="020B0A04040200000203"/>
            </a:endParaRPr>
          </a:p>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 Async vs Threading: Async for I/O; Threading for CPU tasks.</a:t>
            </a:r>
            <a:endParaRPr lang="en-US" sz="2200" dirty="0">
              <a:solidFill>
                <a:srgbClr val="CBD5E1"/>
              </a:solidFill>
              <a:latin typeface="Urbanist" panose="020B0A04040200000203"/>
            </a:endParaRPr>
          </a:p>
          <a:p>
            <a:pPr algn="l">
              <a:spcAft>
                <a:spcPts val="1400"/>
              </a:spcAft>
              <a:defRPr sz="2200">
                <a:solidFill>
                  <a:srgbClr val="CBD5E1"/>
                </a:solidFill>
                <a:latin typeface="Urbanist" panose="020B0A04040200000203"/>
              </a:defRPr>
            </a:pPr>
            <a:r>
              <a:rPr lang="en-US" sz="2200" dirty="0">
                <a:solidFill>
                  <a:srgbClr val="CBD5E1"/>
                </a:solidFill>
                <a:latin typeface="Urbanist" panose="020B0A04040200000203"/>
              </a:rPr>
              <a:t>- Monitoring: Track thread states and deadlock detection.</a:t>
            </a:r>
            <a:endParaRPr lang="en-US" sz="2200" dirty="0">
              <a:solidFill>
                <a:srgbClr val="CBD5E1"/>
              </a:solidFill>
              <a:latin typeface="Urbanist" panose="020B0A04040200000203"/>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3" name="그림 2"/>
          <p:cNvPicPr>
            <a:picLocks noChangeAspect="1"/>
          </p:cNvPicPr>
          <p:nvPr/>
        </p:nvPicPr>
        <p:blipFill>
          <a:blip r:embed="rId1"/>
          <a:stretch>
            <a:fillRect/>
          </a:stretch>
        </p:blipFill>
        <p:spPr>
          <a:xfrm>
            <a:off x="0" y="1792330"/>
            <a:ext cx="12192000" cy="327333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3" name="그림 2"/>
          <p:cNvPicPr>
            <a:picLocks noChangeAspect="1"/>
          </p:cNvPicPr>
          <p:nvPr/>
        </p:nvPicPr>
        <p:blipFill>
          <a:blip r:embed="rId1"/>
          <a:stretch>
            <a:fillRect/>
          </a:stretch>
        </p:blipFill>
        <p:spPr>
          <a:xfrm>
            <a:off x="0" y="1215107"/>
            <a:ext cx="12192000" cy="4427785"/>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3" name="그림 2"/>
          <p:cNvPicPr>
            <a:picLocks noChangeAspect="1"/>
          </p:cNvPicPr>
          <p:nvPr/>
        </p:nvPicPr>
        <p:blipFill>
          <a:blip r:embed="rId1"/>
          <a:stretch>
            <a:fillRect/>
          </a:stretch>
        </p:blipFill>
        <p:spPr>
          <a:xfrm>
            <a:off x="0" y="1073465"/>
            <a:ext cx="12192000" cy="471106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1"/>
          <a:stretch>
            <a:fillRect/>
          </a:stretch>
        </p:blipFill>
        <p:spPr>
          <a:xfrm>
            <a:off x="495300" y="800100"/>
            <a:ext cx="11201400" cy="5257800"/>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panose="020B0A04040200000203"/>
              </a:defRPr>
            </a:pPr>
            <a:r>
              <a:rPr lang="en-US" dirty="0">
                <a:solidFill>
                  <a:srgbClr val="00B0F0"/>
                </a:solidFill>
              </a:rPr>
              <a:t>Thank you</a:t>
            </a:r>
            <a:endParaRPr dirty="0">
              <a:solidFill>
                <a:srgbClr val="00B0F0"/>
              </a:solidFill>
            </a:endParaRPr>
          </a:p>
        </p:txBody>
      </p:sp>
      <p:sp>
        <p:nvSpPr>
          <p:cNvPr id="3" name="Subtitle 2"/>
          <p:cNvSpPr>
            <a:spLocks noGrp="1"/>
          </p:cNvSpPr>
          <p:nvPr>
            <p:ph type="subTitle" idx="1"/>
          </p:nvPr>
        </p:nvSpPr>
        <p:spPr>
          <a:xfrm>
            <a:off x="1371599" y="3886200"/>
            <a:ext cx="9396919" cy="1752600"/>
          </a:xfrm>
        </p:spPr>
        <p:txBody>
          <a:bodyPr/>
          <a:lstStyle/>
          <a:p>
            <a:pPr>
              <a:defRPr sz="2800">
                <a:solidFill>
                  <a:srgbClr val="CBD5E1"/>
                </a:solidFill>
                <a:latin typeface="Urbanist" panose="020B0A04040200000203"/>
              </a:defRPr>
            </a:pPr>
            <a:r>
              <a:rPr lang="en-US" altLang="ko-KR" sz="2800" dirty="0"/>
              <a:t>I sincerely hope the time you spent was worthwhile and not wasted</a:t>
            </a:r>
            <a:endParaRPr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panose="020B0A04040200000203"/>
              </a:defRPr>
            </a:pPr>
            <a:r>
              <a:rPr lang="en-US" dirty="0" smtClean="0">
                <a:solidFill>
                  <a:srgbClr val="00B0F0"/>
                </a:solidFill>
              </a:rPr>
              <a:t>Quiz and Q&amp;A</a:t>
            </a:r>
            <a:r>
              <a:rPr lang="en-US" dirty="0" smtClean="0">
                <a:solidFill>
                  <a:srgbClr val="00B0F0"/>
                </a:solidFill>
              </a:rPr>
              <a:t> Time</a:t>
            </a:r>
            <a:endParaRPr dirty="0">
              <a:solidFill>
                <a:srgbClr val="00B0F0"/>
              </a:solidFill>
            </a:endParaRPr>
          </a:p>
        </p:txBody>
      </p:sp>
      <p:sp>
        <p:nvSpPr>
          <p:cNvPr id="3" name="Subtitle 2"/>
          <p:cNvSpPr>
            <a:spLocks noGrp="1"/>
          </p:cNvSpPr>
          <p:nvPr>
            <p:ph type="subTitle" idx="1"/>
          </p:nvPr>
        </p:nvSpPr>
        <p:spPr>
          <a:xfrm>
            <a:off x="1371599" y="3886200"/>
            <a:ext cx="9396919" cy="1752600"/>
          </a:xfrm>
        </p:spPr>
        <p:txBody>
          <a:bodyPr/>
          <a:lstStyle/>
          <a:p>
            <a:pPr>
              <a:defRPr sz="2800">
                <a:solidFill>
                  <a:srgbClr val="CBD5E1"/>
                </a:solidFill>
                <a:latin typeface="Urbanist" panose="020B0A04040200000203"/>
              </a:defRPr>
            </a:pPr>
            <a:r>
              <a:rPr lang="en-US" altLang="ko-KR" sz="2800" dirty="0"/>
              <a:t>I sincerely hope the time you spent was worthwhile and not wasted</a:t>
            </a:r>
            <a:endParaRPr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11015</Words>
  <Application>WPS Presentation</Application>
  <PresentationFormat>Widescreen</PresentationFormat>
  <Paragraphs>317</Paragraphs>
  <Slides>84</Slides>
  <Notes>17</Notes>
  <HiddenSlides>1</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84</vt:i4>
      </vt:variant>
    </vt:vector>
  </HeadingPairs>
  <TitlesOfParts>
    <vt:vector size="95" baseType="lpstr">
      <vt:lpstr>Arial</vt:lpstr>
      <vt:lpstr>SimSun</vt:lpstr>
      <vt:lpstr>Wingdings</vt:lpstr>
      <vt:lpstr>Arial</vt:lpstr>
      <vt:lpstr>Urbanist</vt:lpstr>
      <vt:lpstr>Urbanist ExtraLight</vt:lpstr>
      <vt:lpstr>Calibri</vt:lpstr>
      <vt:lpstr>Microsoft YaHei</vt:lpstr>
      <vt:lpstr>Arial Unicode MS</vt:lpstr>
      <vt:lpstr>Urbanist</vt:lpstr>
      <vt:lpstr>Office Theme</vt:lpstr>
      <vt:lpstr>Operating System Essential for Developers</vt:lpstr>
      <vt:lpstr>#1: Introduction #2: CPU Scheduling #3: Memory Management #4: File System #5: Socket &amp; Networking #6: Environment Configuration #7: Practical Examples</vt:lpstr>
      <vt:lpstr>#1: Introduction</vt:lpstr>
      <vt:lpstr>Operating System Fundamentals</vt:lpstr>
      <vt:lpstr>Operating System Roles</vt:lpstr>
      <vt:lpstr>Operating System Fundamentals</vt:lpstr>
      <vt:lpstr>System Call Definition</vt:lpstr>
      <vt:lpstr>#2: CPU Scheduling</vt:lpstr>
      <vt:lpstr>PowerPoint 演示文稿</vt:lpstr>
      <vt:lpstr>PowerPoint 演示文稿</vt:lpstr>
      <vt:lpstr>PowerPoint 演示文稿</vt:lpstr>
      <vt:lpstr>Understanding Processes</vt:lpstr>
      <vt:lpstr>Why It Matters</vt:lpstr>
      <vt:lpstr>PowerPoint 演示文稿</vt:lpstr>
      <vt:lpstr>PowerPoint 演示文稿</vt:lpstr>
      <vt:lpstr>Process Creation &amp; Termination</vt:lpstr>
      <vt:lpstr>Inter Process Communication (IPC)</vt:lpstr>
      <vt:lpstr>CPU Burst I/O Burst  Cycle</vt:lpstr>
      <vt:lpstr>CPU Scheduling</vt:lpstr>
      <vt:lpstr>PowerPoint 演示文稿</vt:lpstr>
      <vt:lpstr>PowerPoint 演示文稿</vt:lpstr>
      <vt:lpstr>Example Code</vt:lpstr>
      <vt:lpstr>Threads vs. Processes</vt:lpstr>
      <vt:lpstr>Threads vs. Processes</vt:lpstr>
      <vt:lpstr>PowerPoint 演示文稿</vt:lpstr>
      <vt:lpstr>Synchronization Challenges</vt:lpstr>
      <vt:lpstr>Race Condition</vt:lpstr>
      <vt:lpstr>Synchronization Requirements</vt:lpstr>
      <vt:lpstr>Synchronization Solutions</vt:lpstr>
      <vt:lpstr>Example Code</vt:lpstr>
      <vt:lpstr>PowerPoint 演示文稿</vt:lpstr>
      <vt:lpstr>Deadlock</vt:lpstr>
      <vt:lpstr>Deadlock Handling</vt:lpstr>
      <vt:lpstr>PowerPoint 演示文稿</vt:lpstr>
      <vt:lpstr>Example Code</vt:lpstr>
      <vt:lpstr>#3: Memory Management</vt:lpstr>
      <vt:lpstr>PowerPoint 演示文稿</vt:lpstr>
      <vt:lpstr>PowerPoint 演示文稿</vt:lpstr>
      <vt:lpstr>Threads vs. Processes</vt:lpstr>
      <vt:lpstr>PowerPoint 演示文稿</vt:lpstr>
      <vt:lpstr>PowerPoint 演示文稿</vt:lpstr>
      <vt:lpstr>PowerPoint 演示文稿</vt:lpstr>
      <vt:lpstr>PowerPoint 演示文稿</vt:lpstr>
      <vt:lpstr>PowerPoint 演示文稿</vt:lpstr>
      <vt:lpstr>Common Causes of Segmentation Fault</vt:lpstr>
      <vt:lpstr>Example Code</vt:lpstr>
      <vt:lpstr>#4: File System</vt:lpstr>
      <vt:lpstr>File Operations / System Calls</vt:lpstr>
      <vt:lpstr>File Access Methods</vt:lpstr>
      <vt:lpstr>Directory Structure</vt:lpstr>
      <vt:lpstr>File Protection &amp; Security</vt:lpstr>
      <vt:lpstr>File Allocation Methods (i-nodes)</vt:lpstr>
      <vt:lpstr>PowerPoint 演示文稿</vt:lpstr>
      <vt:lpstr>PowerPoint 演示文稿</vt:lpstr>
      <vt:lpstr>Example Code</vt:lpstr>
      <vt:lpstr>User-Kernel I/O Boundary</vt:lpstr>
      <vt:lpstr>High-Performance I/O Models (Interrupts and DMA)</vt:lpstr>
      <vt:lpstr>Interrupt-Driven I/O (Enables Non-Blocking)</vt:lpstr>
      <vt:lpstr>Direct Memory Access (DMA) (Enables Fast Data Transfer)</vt:lpstr>
      <vt:lpstr>#5: Socket &amp; Networking</vt:lpstr>
      <vt:lpstr>PowerPoint 演示文稿</vt:lpstr>
      <vt:lpstr>Network Stack</vt:lpstr>
      <vt:lpstr>Sockets</vt:lpstr>
      <vt:lpstr>Network Performance Tuning</vt:lpstr>
      <vt:lpstr>#6: Environment Configuration</vt:lpstr>
      <vt:lpstr>Environment Variables &amp; Configuration</vt:lpstr>
      <vt:lpstr>Configuration Best Practices</vt:lpstr>
      <vt:lpstr>PowerPoint 演示文稿</vt:lpstr>
      <vt:lpstr>PowerPoint 演示文稿</vt:lpstr>
      <vt:lpstr>#7: Practical Examples </vt:lpstr>
      <vt:lpstr>I/O Bound problems</vt:lpstr>
      <vt:lpstr>CPU Bound problems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Thank you</vt:lpstr>
      <vt:lpstr>Quiz and Q&amp;A Time</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Operating System Fundamentals</dc:title>
  <dc:creator/>
  <dc:description>generated using python-pptx</dc:description>
  <cp:lastModifiedBy>An Nguyễn</cp:lastModifiedBy>
  <cp:revision>27</cp:revision>
  <dcterms:created xsi:type="dcterms:W3CDTF">2013-01-27T09:14:00Z</dcterms:created>
  <dcterms:modified xsi:type="dcterms:W3CDTF">2025-12-07T08:52:17Z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E33F2D88956D487A85A77D7B4A1C5037_12</vt:lpwstr>
  </property>
  <property fmtid="{D5CDD505-2E9C-101B-9397-08002B2CF9AE}" pid="3" name="KSOProductBuildVer">
    <vt:lpwstr>1033-12.2.0.23155</vt:lpwstr>
  </property>
</Properties>
</file>