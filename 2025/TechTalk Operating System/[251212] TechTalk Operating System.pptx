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64" r:id="rId3"/>
    <p:sldId id="265" r:id="rId4"/>
    <p:sldId id="257" r:id="rId5"/>
    <p:sldId id="269" r:id="rId6"/>
    <p:sldId id="259" r:id="rId7"/>
    <p:sldId id="279" r:id="rId8"/>
    <p:sldId id="258" r:id="rId9"/>
    <p:sldId id="260" r:id="rId10"/>
    <p:sldId id="283" r:id="rId11"/>
    <p:sldId id="261" r:id="rId12"/>
    <p:sldId id="262" r:id="rId13"/>
    <p:sldId id="266" r:id="rId14"/>
    <p:sldId id="267" r:id="rId15"/>
    <p:sldId id="282" r:id="rId16"/>
    <p:sldId id="280" r:id="rId17"/>
    <p:sldId id="268" r:id="rId18"/>
    <p:sldId id="270" r:id="rId19"/>
    <p:sldId id="271" r:id="rId20"/>
    <p:sldId id="272" r:id="rId21"/>
    <p:sldId id="273" r:id="rId22"/>
    <p:sldId id="275" r:id="rId23"/>
    <p:sldId id="276" r:id="rId24"/>
    <p:sldId id="277" r:id="rId25"/>
    <p:sldId id="278" r:id="rId26"/>
    <p:sldId id="281" r:id="rId27"/>
    <p:sldId id="285" r:id="rId28"/>
    <p:sldId id="284" r:id="rId29"/>
    <p:sldId id="286" r:id="rId30"/>
    <p:sldId id="287" r:id="rId31"/>
    <p:sldId id="288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75" autoAdjust="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4" y="4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6DFF0F-0F5D-467D-BE1D-1BFAA07C801B}" type="datetimeFigureOut">
              <a:rPr lang="en-US" smtClean="0"/>
              <a:t>02/12/2025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639B56-7EE8-402D-B8B5-29A276519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127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639B56-7EE8-402D-B8B5-29A2765198B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657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256243"/>
            <a:ext cx="12192000" cy="1470025"/>
          </a:xfrm>
        </p:spPr>
        <p:txBody>
          <a:bodyPr>
            <a:normAutofit/>
          </a:bodyPr>
          <a:lstStyle/>
          <a:p>
            <a:pPr>
              <a:defRPr sz="6000" b="1">
                <a:solidFill>
                  <a:srgbClr val="38BDF8"/>
                </a:solidFill>
                <a:latin typeface="Urbanist"/>
              </a:defRPr>
            </a:pPr>
            <a:r>
              <a:rPr lang="en-US" dirty="0" smtClean="0"/>
              <a:t>Operating System Fundamentals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9106" y="5105400"/>
            <a:ext cx="5165387" cy="1752600"/>
          </a:xfrm>
        </p:spPr>
        <p:txBody>
          <a:bodyPr>
            <a:normAutofit/>
          </a:bodyPr>
          <a:lstStyle/>
          <a:p>
            <a:pPr algn="l">
              <a:defRPr sz="2800">
                <a:solidFill>
                  <a:srgbClr val="CBD5E1"/>
                </a:solidFill>
                <a:latin typeface="Urbanist"/>
              </a:defRPr>
            </a:pPr>
            <a:r>
              <a:rPr lang="en-US" sz="2400" dirty="0" smtClean="0"/>
              <a:t>Nguyen </a:t>
            </a:r>
            <a:r>
              <a:rPr lang="en-US" sz="2400" dirty="0" err="1" smtClean="0"/>
              <a:t>Thi</a:t>
            </a:r>
            <a:r>
              <a:rPr lang="en-US" sz="2400" dirty="0" smtClean="0"/>
              <a:t> </a:t>
            </a:r>
            <a:r>
              <a:rPr lang="en-US" sz="2400" dirty="0" err="1" smtClean="0"/>
              <a:t>Binh</a:t>
            </a:r>
            <a:r>
              <a:rPr lang="en-US" sz="2400" dirty="0" smtClean="0"/>
              <a:t> An</a:t>
            </a:r>
          </a:p>
          <a:p>
            <a:pPr algn="l">
              <a:defRPr sz="2800">
                <a:solidFill>
                  <a:srgbClr val="CBD5E1"/>
                </a:solidFill>
                <a:latin typeface="Urbanist"/>
              </a:defRPr>
            </a:pPr>
            <a:r>
              <a:rPr lang="en-US" sz="2400" dirty="0" smtClean="0"/>
              <a:t>D&amp;A Development Team</a:t>
            </a:r>
          </a:p>
          <a:p>
            <a:pPr algn="l">
              <a:defRPr sz="2800">
                <a:solidFill>
                  <a:srgbClr val="CBD5E1"/>
                </a:solidFill>
                <a:latin typeface="Urbanist"/>
              </a:defRPr>
            </a:pPr>
            <a:r>
              <a:rPr lang="en-US" sz="2400" dirty="0" smtClean="0"/>
              <a:t>LG CNS Vietnam Build Center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/>
          <a:p>
            <a:pPr>
              <a:defRPr sz="6000" b="1">
                <a:solidFill>
                  <a:srgbClr val="38BDF8"/>
                </a:solidFill>
                <a:latin typeface="Urbanist"/>
              </a:defRPr>
            </a:pPr>
            <a:r>
              <a:rPr lang="en-US" dirty="0" smtClean="0"/>
              <a:t>#</a:t>
            </a:r>
            <a:r>
              <a:rPr dirty="0" smtClean="0"/>
              <a:t>1</a:t>
            </a:r>
            <a:r>
              <a:rPr dirty="0"/>
              <a:t>: </a:t>
            </a:r>
            <a:r>
              <a:rPr lang="en-US" dirty="0" smtClean="0"/>
              <a:t>Key Concepts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3886200"/>
            <a:ext cx="9396919" cy="1752600"/>
          </a:xfrm>
        </p:spPr>
        <p:txBody>
          <a:bodyPr/>
          <a:lstStyle/>
          <a:p>
            <a:pPr>
              <a:defRPr sz="2800">
                <a:solidFill>
                  <a:srgbClr val="CBD5E1"/>
                </a:solidFill>
                <a:latin typeface="Urbanist"/>
              </a:defRPr>
            </a:pPr>
            <a:r>
              <a:rPr lang="en-US" sz="2800" dirty="0"/>
              <a:t>Introduction to </a:t>
            </a:r>
            <a:r>
              <a:rPr lang="en-US" sz="2800" dirty="0" smtClean="0"/>
              <a:t>Operating System </a:t>
            </a:r>
            <a:r>
              <a:rPr lang="en-US" sz="2800" dirty="0"/>
              <a:t>Architecture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8431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/>
          <a:p>
            <a:pPr>
              <a:defRPr sz="6000" b="1">
                <a:solidFill>
                  <a:srgbClr val="38BDF8"/>
                </a:solidFill>
                <a:latin typeface="Urbanist"/>
              </a:defRPr>
            </a:pPr>
            <a:r>
              <a:rPr lang="en-US" dirty="0" smtClean="0"/>
              <a:t>Operating System Fundamentals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752600"/>
          </a:xfrm>
        </p:spPr>
        <p:txBody>
          <a:bodyPr/>
          <a:lstStyle/>
          <a:p>
            <a:pPr>
              <a:defRPr sz="2800">
                <a:solidFill>
                  <a:srgbClr val="CBD5E1"/>
                </a:solidFill>
                <a:latin typeface="Urbanist"/>
              </a:defRPr>
            </a:pPr>
            <a:r>
              <a:rPr lang="en-US" dirty="0" smtClean="0"/>
              <a:t>Practical software development daily challenges</a:t>
            </a:r>
            <a:endParaRPr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251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" y="530542"/>
            <a:ext cx="10187940" cy="5935980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400" b="1">
                <a:solidFill>
                  <a:srgbClr val="F1F5F9"/>
                </a:solidFill>
                <a:latin typeface="Urbanist"/>
              </a:defRPr>
            </a:pPr>
            <a:r>
              <a:t>Understanding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005137" cy="4525963"/>
          </a:xfrm>
        </p:spPr>
        <p:txBody>
          <a:bodyPr/>
          <a:lstStyle/>
          <a:p>
            <a:pPr marL="0" indent="0">
              <a:spcAft>
                <a:spcPts val="1400"/>
              </a:spcAft>
              <a:buNone/>
              <a:defRPr sz="2200">
                <a:solidFill>
                  <a:srgbClr val="CBD5E1"/>
                </a:solidFill>
                <a:latin typeface="Urbanist"/>
              </a:defRPr>
            </a:pPr>
            <a:r>
              <a:rPr dirty="0"/>
              <a:t>Core Concepts</a:t>
            </a:r>
          </a:p>
          <a:p>
            <a:pPr marL="0" indent="0">
              <a:spcAft>
                <a:spcPts val="1400"/>
              </a:spcAft>
              <a:buNone/>
              <a:defRPr sz="2200">
                <a:solidFill>
                  <a:srgbClr val="CBD5E1"/>
                </a:solidFill>
                <a:latin typeface="Urbanist"/>
              </a:defRPr>
            </a:pPr>
            <a:r>
              <a:rPr dirty="0"/>
              <a:t>- Process vs. Application: One application can spawn multiple independent processes.</a:t>
            </a:r>
          </a:p>
          <a:p>
            <a:pPr marL="0" indent="0">
              <a:spcAft>
                <a:spcPts val="1400"/>
              </a:spcAft>
              <a:buNone/>
              <a:defRPr sz="2200">
                <a:solidFill>
                  <a:srgbClr val="CBD5E1"/>
                </a:solidFill>
                <a:latin typeface="Urbanist"/>
              </a:defRPr>
            </a:pPr>
            <a:r>
              <a:rPr dirty="0"/>
              <a:t>- Lifecycle States: Creation, Running, Waiting, Terminated.</a:t>
            </a:r>
          </a:p>
          <a:p>
            <a:pPr marL="0" indent="0">
              <a:spcAft>
                <a:spcPts val="1400"/>
              </a:spcAft>
              <a:buNone/>
              <a:defRPr sz="2200">
                <a:solidFill>
                  <a:srgbClr val="CBD5E1"/>
                </a:solidFill>
                <a:latin typeface="Urbanist"/>
              </a:defRPr>
            </a:pPr>
            <a:r>
              <a:rPr dirty="0"/>
              <a:t>- Memory Protection: Every process operates in isolated memory space.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455" y="1694364"/>
            <a:ext cx="6067425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723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400" b="1">
                <a:solidFill>
                  <a:srgbClr val="F1F5F9"/>
                </a:solidFill>
                <a:latin typeface="Urbanist"/>
              </a:defRPr>
            </a:pPr>
            <a:r>
              <a:t>Threads vs.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1255829" cy="4525963"/>
          </a:xfrm>
        </p:spPr>
        <p:txBody>
          <a:bodyPr/>
          <a:lstStyle/>
          <a:p>
            <a:pPr marL="0" indent="0">
              <a:spcAft>
                <a:spcPts val="1400"/>
              </a:spcAft>
              <a:buNone/>
              <a:defRPr sz="2200">
                <a:solidFill>
                  <a:srgbClr val="CBD5E1"/>
                </a:solidFill>
                <a:latin typeface="Urbanist"/>
              </a:defRPr>
            </a:pPr>
            <a:r>
              <a:rPr dirty="0"/>
              <a:t>Key Distinctions</a:t>
            </a:r>
          </a:p>
          <a:p>
            <a:pPr marL="0" indent="0">
              <a:spcAft>
                <a:spcPts val="1400"/>
              </a:spcAft>
              <a:buNone/>
              <a:defRPr sz="2200">
                <a:solidFill>
                  <a:srgbClr val="CBD5E1"/>
                </a:solidFill>
                <a:latin typeface="Urbanist"/>
              </a:defRPr>
            </a:pPr>
            <a:r>
              <a:rPr dirty="0"/>
              <a:t>- Threads share the same memory space within a process.</a:t>
            </a:r>
          </a:p>
          <a:p>
            <a:pPr marL="0" indent="0">
              <a:spcAft>
                <a:spcPts val="1400"/>
              </a:spcAft>
              <a:buNone/>
              <a:defRPr sz="2200">
                <a:solidFill>
                  <a:srgbClr val="CBD5E1"/>
                </a:solidFill>
                <a:latin typeface="Urbanist"/>
              </a:defRPr>
            </a:pPr>
            <a:r>
              <a:rPr dirty="0"/>
              <a:t>- Resource Sharing: Threads share code, data, and files.</a:t>
            </a:r>
          </a:p>
          <a:p>
            <a:pPr marL="0" indent="0">
              <a:spcAft>
                <a:spcPts val="1400"/>
              </a:spcAft>
              <a:buNone/>
              <a:defRPr sz="2200">
                <a:solidFill>
                  <a:srgbClr val="CBD5E1"/>
                </a:solidFill>
                <a:latin typeface="Urbanist"/>
              </a:defRPr>
            </a:pPr>
            <a:r>
              <a:rPr dirty="0"/>
              <a:t>- Overhead: Threads are 'lightweight'; faster creation than processes.</a:t>
            </a:r>
          </a:p>
          <a:p>
            <a:pPr marL="0" indent="0">
              <a:spcAft>
                <a:spcPts val="1400"/>
              </a:spcAft>
              <a:buNone/>
              <a:defRPr sz="2200">
                <a:solidFill>
                  <a:srgbClr val="CBD5E1"/>
                </a:solidFill>
                <a:latin typeface="Urbanist"/>
              </a:defRPr>
            </a:pPr>
            <a:r>
              <a:rPr dirty="0"/>
              <a:t>- Risk: A bug in one thread can crash the entire process.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400" b="1">
                <a:solidFill>
                  <a:srgbClr val="F1F5F9"/>
                </a:solidFill>
                <a:latin typeface="Urbanist"/>
              </a:defRPr>
            </a:pPr>
            <a:r>
              <a:t>Threads vs. Processes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10850880" cy="397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639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400" b="1">
                <a:solidFill>
                  <a:srgbClr val="F1F5F9"/>
                </a:solidFill>
                <a:latin typeface="Urbanist"/>
              </a:defRPr>
            </a:pPr>
            <a:r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400"/>
              </a:spcAft>
              <a:buNone/>
              <a:defRPr sz="2200">
                <a:solidFill>
                  <a:srgbClr val="CBD5E1"/>
                </a:solidFill>
                <a:latin typeface="Urbanist"/>
              </a:defRPr>
            </a:pPr>
            <a:r>
              <a:rPr dirty="0"/>
              <a:t>Process Isolation &amp; Safety</a:t>
            </a:r>
          </a:p>
          <a:p>
            <a:pPr marL="0" indent="0">
              <a:spcAft>
                <a:spcPts val="1400"/>
              </a:spcAft>
              <a:buNone/>
              <a:defRPr sz="2200">
                <a:solidFill>
                  <a:srgbClr val="CBD5E1"/>
                </a:solidFill>
                <a:latin typeface="Urbanist"/>
              </a:defRPr>
            </a:pPr>
            <a:r>
              <a:rPr dirty="0"/>
              <a:t>- Your server application runs as a distinct process.</a:t>
            </a:r>
          </a:p>
          <a:p>
            <a:pPr marL="0" indent="0">
              <a:spcAft>
                <a:spcPts val="1400"/>
              </a:spcAft>
              <a:buNone/>
              <a:defRPr sz="2200">
                <a:solidFill>
                  <a:srgbClr val="CBD5E1"/>
                </a:solidFill>
                <a:latin typeface="Urbanist"/>
              </a:defRPr>
            </a:pPr>
            <a:r>
              <a:rPr dirty="0"/>
              <a:t>- Isolation allows the OS to contain crashes.</a:t>
            </a:r>
          </a:p>
          <a:p>
            <a:pPr marL="0" indent="0">
              <a:spcAft>
                <a:spcPts val="1400"/>
              </a:spcAft>
              <a:buNone/>
              <a:defRPr sz="2200">
                <a:solidFill>
                  <a:srgbClr val="CBD5E1"/>
                </a:solidFill>
                <a:latin typeface="Urbanist"/>
              </a:defRPr>
            </a:pPr>
            <a:r>
              <a:rPr dirty="0"/>
              <a:t>- Critical for debugging memory leaks and segmentation faults.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400" b="1">
                <a:solidFill>
                  <a:srgbClr val="F1F5F9"/>
                </a:solidFill>
                <a:latin typeface="Urbanist"/>
              </a:defRPr>
            </a:pPr>
            <a:r>
              <a:t>Synchronization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600" cy="4525963"/>
          </a:xfrm>
        </p:spPr>
        <p:txBody>
          <a:bodyPr/>
          <a:lstStyle/>
          <a:p>
            <a:pPr marL="0" indent="0">
              <a:spcAft>
                <a:spcPts val="1400"/>
              </a:spcAft>
              <a:buNone/>
              <a:defRPr sz="2200">
                <a:solidFill>
                  <a:srgbClr val="CBD5E1"/>
                </a:solidFill>
                <a:latin typeface="Urbanist"/>
              </a:defRPr>
            </a:pPr>
            <a:r>
              <a:rPr dirty="0"/>
              <a:t>- Race Conditions: Simultaneous access leads to unpredictable outcomes.</a:t>
            </a:r>
          </a:p>
          <a:p>
            <a:pPr marL="0" indent="0">
              <a:spcAft>
                <a:spcPts val="1400"/>
              </a:spcAft>
              <a:buNone/>
              <a:defRPr sz="2200">
                <a:solidFill>
                  <a:srgbClr val="CBD5E1"/>
                </a:solidFill>
                <a:latin typeface="Urbanist"/>
              </a:defRPr>
            </a:pPr>
            <a:r>
              <a:rPr dirty="0"/>
              <a:t>- Deadlocks: Threads wait indefinitely for each other to release resources.</a:t>
            </a:r>
          </a:p>
          <a:p>
            <a:pPr marL="0" indent="0">
              <a:spcAft>
                <a:spcPts val="1400"/>
              </a:spcAft>
              <a:buNone/>
              <a:defRPr sz="2200">
                <a:solidFill>
                  <a:srgbClr val="CBD5E1"/>
                </a:solidFill>
                <a:latin typeface="Urbanist"/>
              </a:defRPr>
            </a:pPr>
            <a:r>
              <a:rPr dirty="0"/>
              <a:t>- Context Switching: CPU overhead when switching threads.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400" b="1">
                <a:solidFill>
                  <a:srgbClr val="F1F5F9"/>
                </a:solidFill>
                <a:latin typeface="Urbanist"/>
              </a:defRPr>
            </a:pPr>
            <a:r>
              <a:t>Synchronization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7600" cy="4525963"/>
          </a:xfrm>
        </p:spPr>
        <p:txBody>
          <a:bodyPr/>
          <a:lstStyle/>
          <a:p>
            <a:pPr marL="0" indent="0">
              <a:spcAft>
                <a:spcPts val="1400"/>
              </a:spcAft>
              <a:buNone/>
              <a:defRPr sz="2200">
                <a:solidFill>
                  <a:srgbClr val="CBD5E1"/>
                </a:solidFill>
                <a:latin typeface="Urbanist"/>
              </a:defRPr>
            </a:pPr>
            <a:r>
              <a:rPr dirty="0"/>
              <a:t>- Race Conditions: Simultaneous access leads to unpredictable outcomes.</a:t>
            </a:r>
          </a:p>
          <a:p>
            <a:pPr marL="0" indent="0">
              <a:spcAft>
                <a:spcPts val="1400"/>
              </a:spcAft>
              <a:buNone/>
              <a:defRPr sz="2200">
                <a:solidFill>
                  <a:srgbClr val="CBD5E1"/>
                </a:solidFill>
                <a:latin typeface="Urbanist"/>
              </a:defRPr>
            </a:pPr>
            <a:r>
              <a:rPr dirty="0"/>
              <a:t>- Deadlocks: Threads wait indefinitely for each other to release resources.</a:t>
            </a:r>
          </a:p>
          <a:p>
            <a:pPr marL="0" indent="0">
              <a:spcAft>
                <a:spcPts val="1400"/>
              </a:spcAft>
              <a:buNone/>
              <a:defRPr sz="2200">
                <a:solidFill>
                  <a:srgbClr val="CBD5E1"/>
                </a:solidFill>
                <a:latin typeface="Urbanist"/>
              </a:defRPr>
            </a:pPr>
            <a:r>
              <a:rPr dirty="0"/>
              <a:t>- Context Switching: CPU overhead when switching threads.</a:t>
            </a:r>
          </a:p>
        </p:txBody>
      </p:sp>
    </p:spTree>
    <p:extLst>
      <p:ext uri="{BB962C8B-B14F-4D97-AF65-F5344CB8AC3E}">
        <p14:creationId xmlns:p14="http://schemas.microsoft.com/office/powerpoint/2010/main" val="2540469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400" b="1">
                <a:solidFill>
                  <a:srgbClr val="F1F5F9"/>
                </a:solidFill>
                <a:latin typeface="Urbanist"/>
              </a:defRPr>
            </a:pPr>
            <a:r>
              <a:t>Language Specifics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125200" cy="4525963"/>
          </a:xfrm>
        </p:spPr>
        <p:txBody>
          <a:bodyPr/>
          <a:lstStyle/>
          <a:p>
            <a:pPr marL="0" indent="0">
              <a:spcAft>
                <a:spcPts val="1400"/>
              </a:spcAft>
              <a:buNone/>
              <a:defRPr sz="2200">
                <a:solidFill>
                  <a:srgbClr val="CBD5E1"/>
                </a:solidFill>
                <a:latin typeface="Urbanist"/>
              </a:defRPr>
            </a:pPr>
            <a:r>
              <a:rPr dirty="0"/>
              <a:t>Java: JVM threads map to OS threads (</a:t>
            </a:r>
            <a:r>
              <a:rPr dirty="0" err="1"/>
              <a:t>ExecutorService</a:t>
            </a:r>
            <a:r>
              <a:rPr dirty="0"/>
              <a:t>).</a:t>
            </a:r>
          </a:p>
          <a:p>
            <a:pPr marL="0" indent="0">
              <a:spcAft>
                <a:spcPts val="1400"/>
              </a:spcAft>
              <a:buNone/>
              <a:defRPr sz="2200">
                <a:solidFill>
                  <a:srgbClr val="CBD5E1"/>
                </a:solidFill>
                <a:latin typeface="Urbanist"/>
              </a:defRPr>
            </a:pPr>
            <a:r>
              <a:rPr dirty="0"/>
              <a:t>Python: Limited by GIL (Global Interpreter Lock). Use multiprocessing for CPU tasks.</a:t>
            </a:r>
          </a:p>
          <a:p>
            <a:pPr marL="0" indent="0">
              <a:spcAft>
                <a:spcPts val="1400"/>
              </a:spcAft>
              <a:buNone/>
              <a:defRPr sz="2200">
                <a:solidFill>
                  <a:srgbClr val="CBD5E1"/>
                </a:solidFill>
                <a:latin typeface="Urbanist"/>
              </a:defRPr>
            </a:pPr>
            <a:r>
              <a:rPr dirty="0"/>
              <a:t>Node.js: Single-threaded Event Loop. Use Worker Threads for CPU tasks.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400" b="1">
                <a:solidFill>
                  <a:srgbClr val="F1F5F9"/>
                </a:solidFill>
                <a:latin typeface="Urbanist"/>
              </a:defRPr>
            </a:pPr>
            <a:r>
              <a:t>Practical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1223171" cy="4525963"/>
          </a:xfrm>
        </p:spPr>
        <p:txBody>
          <a:bodyPr/>
          <a:lstStyle/>
          <a:p>
            <a:pPr marL="0" indent="0">
              <a:spcAft>
                <a:spcPts val="1400"/>
              </a:spcAft>
              <a:buNone/>
              <a:defRPr sz="2200">
                <a:solidFill>
                  <a:srgbClr val="CBD5E1"/>
                </a:solidFill>
                <a:latin typeface="Urbanist"/>
              </a:defRPr>
            </a:pPr>
            <a:r>
              <a:rPr dirty="0"/>
              <a:t>- Thread Pool Sizing: Balance pool size to match CPU cores.</a:t>
            </a:r>
          </a:p>
          <a:p>
            <a:pPr marL="0" indent="0">
              <a:spcAft>
                <a:spcPts val="1400"/>
              </a:spcAft>
              <a:buNone/>
              <a:defRPr sz="2200">
                <a:solidFill>
                  <a:srgbClr val="CBD5E1"/>
                </a:solidFill>
                <a:latin typeface="Urbanist"/>
              </a:defRPr>
            </a:pPr>
            <a:r>
              <a:rPr dirty="0"/>
              <a:t>- </a:t>
            </a:r>
            <a:r>
              <a:rPr dirty="0" err="1"/>
              <a:t>Async</a:t>
            </a:r>
            <a:r>
              <a:rPr dirty="0"/>
              <a:t> </a:t>
            </a:r>
            <a:r>
              <a:rPr dirty="0" err="1"/>
              <a:t>vs</a:t>
            </a:r>
            <a:r>
              <a:rPr dirty="0"/>
              <a:t> Threading: </a:t>
            </a:r>
            <a:r>
              <a:rPr dirty="0" err="1"/>
              <a:t>Async</a:t>
            </a:r>
            <a:r>
              <a:rPr dirty="0"/>
              <a:t> for I/O; Threading for CPU tasks.</a:t>
            </a:r>
          </a:p>
          <a:p>
            <a:pPr marL="0" indent="0">
              <a:spcAft>
                <a:spcPts val="1400"/>
              </a:spcAft>
              <a:buNone/>
              <a:defRPr sz="2200">
                <a:solidFill>
                  <a:srgbClr val="CBD5E1"/>
                </a:solidFill>
                <a:latin typeface="Urbanist"/>
              </a:defRPr>
            </a:pPr>
            <a:r>
              <a:rPr dirty="0"/>
              <a:t>- Monitoring: Track thread states and deadlock detection.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/>
          <a:p>
            <a:pPr>
              <a:defRPr sz="6000" b="1">
                <a:solidFill>
                  <a:srgbClr val="38BDF8"/>
                </a:solidFill>
                <a:latin typeface="Urbanist"/>
              </a:defRPr>
            </a:pPr>
            <a:r>
              <a:rPr lang="en-US" dirty="0" smtClean="0"/>
              <a:t>Operating System Fundamentals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752600"/>
          </a:xfrm>
        </p:spPr>
        <p:txBody>
          <a:bodyPr/>
          <a:lstStyle/>
          <a:p>
            <a:pPr>
              <a:defRPr sz="2800">
                <a:solidFill>
                  <a:srgbClr val="CBD5E1"/>
                </a:solidFill>
                <a:latin typeface="Urbanist"/>
              </a:defRPr>
            </a:pPr>
            <a:r>
              <a:rPr lang="en-US" dirty="0" smtClean="0"/>
              <a:t>Practical software development daily challenges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74" y="708498"/>
            <a:ext cx="11758569" cy="512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58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" y="735330"/>
            <a:ext cx="11803380" cy="542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484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81012"/>
            <a:ext cx="10515600" cy="58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615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59" y="1181100"/>
            <a:ext cx="11001375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09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466725"/>
            <a:ext cx="1061085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549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6" y="324802"/>
            <a:ext cx="11719560" cy="602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92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" y="469581"/>
            <a:ext cx="1167384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915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16" y="499110"/>
            <a:ext cx="9517380" cy="573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324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50" y="1076325"/>
            <a:ext cx="9105900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019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287" y="776287"/>
            <a:ext cx="911542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240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12" y="801103"/>
            <a:ext cx="10683240" cy="509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033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12" y="619125"/>
            <a:ext cx="1031557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5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800100"/>
            <a:ext cx="112014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107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75" y="600075"/>
            <a:ext cx="680085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335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75" y="623887"/>
            <a:ext cx="9315450" cy="561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478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02" y="1568366"/>
            <a:ext cx="5591175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708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62" y="1743075"/>
            <a:ext cx="11039475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78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1676400"/>
            <a:ext cx="1148715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14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2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333</Words>
  <Application>Microsoft Office PowerPoint</Application>
  <PresentationFormat>Widescreen</PresentationFormat>
  <Paragraphs>44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Urbanist</vt:lpstr>
      <vt:lpstr>Office Theme</vt:lpstr>
      <vt:lpstr>Operating System Fundamentals</vt:lpstr>
      <vt:lpstr>#1: Key Concepts</vt:lpstr>
      <vt:lpstr>Operating System Fundamentals</vt:lpstr>
      <vt:lpstr>PowerPoint Presentation</vt:lpstr>
      <vt:lpstr>Understanding Processes</vt:lpstr>
      <vt:lpstr>Threads vs. Processes</vt:lpstr>
      <vt:lpstr>Threads vs. Processes</vt:lpstr>
      <vt:lpstr>Why It Matters</vt:lpstr>
      <vt:lpstr>Synchronization Challenges</vt:lpstr>
      <vt:lpstr>Synchronization Challenges</vt:lpstr>
      <vt:lpstr>Language Specifics</vt:lpstr>
      <vt:lpstr>Practical Examples</vt:lpstr>
      <vt:lpstr>Operating System Fundamentals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 Fundamentals</dc:title>
  <dc:subject/>
  <dc:creator/>
  <cp:keywords/>
  <dc:description>generated using python-pptx</dc:description>
  <cp:lastModifiedBy>Elite</cp:lastModifiedBy>
  <cp:revision>10</cp:revision>
  <dcterms:created xsi:type="dcterms:W3CDTF">2013-01-27T09:14:16Z</dcterms:created>
  <dcterms:modified xsi:type="dcterms:W3CDTF">2025-12-01T23:02:30Z</dcterms:modified>
  <cp:category/>
</cp:coreProperties>
</file>