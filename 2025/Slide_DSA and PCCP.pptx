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256" r:id="rId5"/>
    <p:sldId id="3849" r:id="rId6"/>
    <p:sldId id="3850" r:id="rId7"/>
    <p:sldId id="3846" r:id="rId8"/>
    <p:sldId id="3852" r:id="rId9"/>
    <p:sldId id="3853" r:id="rId10"/>
    <p:sldId id="3854" r:id="rId11"/>
    <p:sldId id="3856" r:id="rId12"/>
    <p:sldId id="3855" r:id="rId13"/>
    <p:sldId id="3851" r:id="rId14"/>
    <p:sldId id="261" r:id="rId15"/>
    <p:sldId id="3865" r:id="rId16"/>
    <p:sldId id="3862" r:id="rId17"/>
    <p:sldId id="3860" r:id="rId18"/>
    <p:sldId id="3861" r:id="rId19"/>
    <p:sldId id="3863" r:id="rId20"/>
    <p:sldId id="3864" r:id="rId21"/>
    <p:sldId id="3866" r:id="rId22"/>
    <p:sldId id="3867" r:id="rId23"/>
    <p:sldId id="265" r:id="rId24"/>
    <p:sldId id="3868" r:id="rId25"/>
    <p:sldId id="3869" r:id="rId26"/>
    <p:sldId id="3870" r:id="rId27"/>
    <p:sldId id="3871" r:id="rId28"/>
    <p:sldId id="3872" r:id="rId29"/>
    <p:sldId id="3857" r:id="rId30"/>
    <p:sldId id="263" r:id="rId31"/>
    <p:sldId id="268" r:id="rId32"/>
    <p:sldId id="3848" r:id="rId33"/>
    <p:sldId id="3858" r:id="rId34"/>
    <p:sldId id="3859" r:id="rId35"/>
    <p:sldId id="384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92" autoAdjust="0"/>
    <p:restoredTop sz="94694" autoAdjust="0"/>
  </p:normalViewPr>
  <p:slideViewPr>
    <p:cSldViewPr snapToGrid="0">
      <p:cViewPr varScale="1">
        <p:scale>
          <a:sx n="103" d="100"/>
          <a:sy n="103" d="100"/>
        </p:scale>
        <p:origin x="114" y="744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4/11/2025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4/11/2025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538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709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729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368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228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434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097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49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000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083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02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6419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7894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8315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363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144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098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1643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8812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3942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9357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84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9967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281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0916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818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0313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2572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2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B8A6E1-44B2-54E1-6460-1C9B27EE7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698912" cy="6858001"/>
            <a:chOff x="0" y="-1"/>
            <a:chExt cx="5698912" cy="685800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22D7888-22FA-4AA1-9BA4-CC61D6643D47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BB6E464-8999-4773-A1F2-E6CAA990E572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A14BE8-FDD0-4434-9C3E-BFF78C22D9E3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494E364-7EA8-4D92-915D-75D1A3A67C07}"/>
                </a:ext>
              </a:extLst>
            </p:cNvPr>
            <p:cNvSpPr/>
            <p:nvPr userDrawn="1"/>
          </p:nvSpPr>
          <p:spPr>
            <a:xfrm flipH="1">
              <a:off x="4132972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4F9EBE3B-A856-C23C-4698-B764DF4BC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2118" y="262762"/>
            <a:ext cx="5507421" cy="3649718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C9CB37-5251-201C-ACE3-FD69A00C77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7393" y="847600"/>
            <a:ext cx="4619625" cy="4617720"/>
          </a:xfrm>
          <a:prstGeom prst="ellipse">
            <a:avLst/>
          </a:prstGeom>
          <a:noFill/>
        </p:spPr>
        <p:txBody>
          <a:bodyPr tIns="54864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F08299-9068-827D-783B-BFF5B95E957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2118" y="4058263"/>
            <a:ext cx="5507421" cy="214148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228600">
              <a:lnSpc>
                <a:spcPct val="90000"/>
              </a:lnSpc>
              <a:buClr>
                <a:schemeClr val="accent2"/>
              </a:buClr>
              <a:defRPr sz="2000"/>
            </a:lvl2pPr>
            <a:lvl3pPr marL="457200">
              <a:lnSpc>
                <a:spcPct val="90000"/>
              </a:lnSpc>
              <a:buClr>
                <a:schemeClr val="accent2"/>
              </a:buClr>
              <a:defRPr sz="1800"/>
            </a:lvl3pPr>
            <a:lvl4pPr marL="685800">
              <a:lnSpc>
                <a:spcPct val="90000"/>
              </a:lnSpc>
              <a:buClr>
                <a:schemeClr val="accent2"/>
              </a:buClr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6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67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inimum-number-of-operations-to-make-elements-in-array-distinct/description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ajority-element/description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hyperlink" Target="https://leetcode.com/problems/merge-sorted-array/description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search-in-rotated-sorted-array/description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pacific-atlantic-water-flow/description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climbing-stairs/description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hyperlink" Target="https://leetcode.com/problems/coin-change/description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4474" y="2949739"/>
            <a:ext cx="6261291" cy="2396686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Data Structure and Algorithm – PCCP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D&amp;A Team Tech Talk</a:t>
            </a:r>
            <a:br>
              <a:rPr lang="en-US" sz="2400" dirty="0"/>
            </a:br>
            <a:r>
              <a:rPr lang="en-US" sz="2400" dirty="0"/>
              <a:t>Speaker : Nguyen Thi Binh An </a:t>
            </a: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>
            <a:noAutofit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708" y="554942"/>
            <a:ext cx="5552091" cy="5768220"/>
          </a:xfrm>
          <a:noFill/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DSA Common Roadmap</a:t>
            </a:r>
          </a:p>
          <a:p>
            <a:r>
              <a:rPr lang="en-US" dirty="0"/>
              <a:t>PCCP Focused</a:t>
            </a:r>
          </a:p>
        </p:txBody>
      </p:sp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2001832"/>
            <a:ext cx="6560142" cy="3063149"/>
          </a:xfrm>
          <a:noFill/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63098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787" y="2186181"/>
            <a:ext cx="3802835" cy="1940557"/>
          </a:xfrm>
        </p:spPr>
        <p:txBody>
          <a:bodyPr anchor="b">
            <a:normAutofit/>
          </a:bodyPr>
          <a:lstStyle/>
          <a:p>
            <a:r>
              <a:rPr lang="en-US" dirty="0"/>
              <a:t>Who is </a:t>
            </a:r>
            <a:br>
              <a:rPr lang="en-US" dirty="0"/>
            </a:br>
            <a:r>
              <a:rPr lang="en-US" dirty="0"/>
              <a:t>involved 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C37F52-5C08-7C02-C9CA-E2AD930A9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4579" y="1940557"/>
            <a:ext cx="5507421" cy="214148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E3EB08-D81C-4C62-9210-6DA78D822F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A2995B-CC4A-45F4-BBB5-0B65662DE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034" y="1570838"/>
            <a:ext cx="2438400" cy="243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B54807-EA1C-4D57-A1F0-7B390557F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995" y="1643639"/>
            <a:ext cx="2438400" cy="2438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F4D416-87B1-4EE0-8541-D0ADBD539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563" y="4126738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2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787" y="2186181"/>
            <a:ext cx="3802835" cy="1940557"/>
          </a:xfrm>
        </p:spPr>
        <p:txBody>
          <a:bodyPr anchor="b">
            <a:normAutofit/>
          </a:bodyPr>
          <a:lstStyle/>
          <a:p>
            <a:r>
              <a:rPr lang="en-US" dirty="0"/>
              <a:t>What is it?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6D44F3-EF6F-4EFE-A423-172C764E9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885" y="3871624"/>
            <a:ext cx="2438400" cy="2438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928067-620F-4888-BC4F-692C456B2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204" y="1523337"/>
            <a:ext cx="1463040" cy="14630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261564-4FEA-45C0-B5ED-1FA670B9F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8449" y="1523337"/>
            <a:ext cx="1463040" cy="14630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6BD177-9166-43B9-BDCD-CD91F63034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7959" y="1634655"/>
            <a:ext cx="1463040" cy="14630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F5D756-B19F-4BCF-BD57-9DFBCE1C9D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4693" y="1634655"/>
            <a:ext cx="1463040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45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787" y="2186181"/>
            <a:ext cx="3802835" cy="1940557"/>
          </a:xfrm>
        </p:spPr>
        <p:txBody>
          <a:bodyPr anchor="b">
            <a:normAutofit/>
          </a:bodyPr>
          <a:lstStyle/>
          <a:p>
            <a:r>
              <a:rPr lang="en-US" dirty="0"/>
              <a:t>Where is </a:t>
            </a:r>
            <a:br>
              <a:rPr lang="en-US" dirty="0"/>
            </a:br>
            <a:r>
              <a:rPr lang="en-US" dirty="0"/>
              <a:t>applied 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C37F52-5C08-7C02-C9CA-E2AD930A9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4579" y="1940557"/>
            <a:ext cx="5507421" cy="214148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90C9F2-763B-458B-A8F9-DA52D83F7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455" y="1226154"/>
            <a:ext cx="1950720" cy="1950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ABC1D5-326F-45F5-95E4-59A3B26E7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660" y="1226154"/>
            <a:ext cx="1950720" cy="19507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F1AA21-BBB7-4195-AB6B-B064F60AC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455" y="3924966"/>
            <a:ext cx="1950720" cy="19507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C794AA-584B-45F8-9627-C6477C5BC4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8289" y="3924966"/>
            <a:ext cx="1950720" cy="19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13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008" y="2194132"/>
            <a:ext cx="3802835" cy="1940557"/>
          </a:xfrm>
        </p:spPr>
        <p:txBody>
          <a:bodyPr anchor="b">
            <a:normAutofit/>
          </a:bodyPr>
          <a:lstStyle/>
          <a:p>
            <a:r>
              <a:rPr lang="en-US" dirty="0"/>
              <a:t>When is used 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3A6F41-2C0D-43F6-AD3F-11CAAF0ED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48201"/>
            <a:ext cx="1950720" cy="19507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68EB12-24B2-4398-B91B-BAB142B50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451" y="1348201"/>
            <a:ext cx="1950720" cy="19507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B3C987-9EEB-472E-AF34-0C1C2033AE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94097"/>
            <a:ext cx="1950720" cy="19507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34C896-99B1-4BF4-88FF-0C2A5D0CD5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6013" y="3794097"/>
            <a:ext cx="1950720" cy="19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54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008" y="2194132"/>
            <a:ext cx="3802835" cy="1940557"/>
          </a:xfrm>
        </p:spPr>
        <p:txBody>
          <a:bodyPr anchor="b">
            <a:normAutofit/>
          </a:bodyPr>
          <a:lstStyle/>
          <a:p>
            <a:r>
              <a:rPr lang="en-US" dirty="0"/>
              <a:t>Why it needed?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6FF6E2-5C56-42FB-B550-12D5622D6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799" y="1218772"/>
            <a:ext cx="1950720" cy="1950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1D04A0-35E6-4D5F-B2DC-EFC92E9E7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1364311"/>
            <a:ext cx="1950720" cy="19507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304B98-6315-4335-B1AB-2E61E48F2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799" y="3933908"/>
            <a:ext cx="1950720" cy="1950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F3151E-36CF-444E-B363-76009B4972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4086553"/>
            <a:ext cx="1950720" cy="19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39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2001832"/>
            <a:ext cx="6560142" cy="3063149"/>
          </a:xfrm>
          <a:noFill/>
        </p:spPr>
        <p:txBody>
          <a:bodyPr/>
          <a:lstStyle/>
          <a:p>
            <a:r>
              <a:rPr lang="en-US" dirty="0"/>
              <a:t>DSA Common Roadmap</a:t>
            </a:r>
          </a:p>
        </p:txBody>
      </p:sp>
    </p:spTree>
    <p:extLst>
      <p:ext uri="{BB962C8B-B14F-4D97-AF65-F5344CB8AC3E}">
        <p14:creationId xmlns:p14="http://schemas.microsoft.com/office/powerpoint/2010/main" val="1997145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Core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15163" cy="429768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Data Structures</a:t>
            </a:r>
          </a:p>
          <a:p>
            <a:pPr lvl="1"/>
            <a:r>
              <a:rPr lang="en-US" dirty="0"/>
              <a:t>Array</a:t>
            </a:r>
          </a:p>
          <a:p>
            <a:pPr lvl="1"/>
            <a:r>
              <a:rPr lang="en-US" dirty="0"/>
              <a:t>Stack / Queue</a:t>
            </a:r>
          </a:p>
          <a:p>
            <a:pPr lvl="1"/>
            <a:r>
              <a:rPr lang="en-US" dirty="0"/>
              <a:t>Hash Map </a:t>
            </a:r>
          </a:p>
          <a:p>
            <a:pPr lvl="1"/>
            <a:r>
              <a:rPr lang="en-US" dirty="0"/>
              <a:t>Graph</a:t>
            </a:r>
          </a:p>
          <a:p>
            <a:pPr lvl="1"/>
            <a:r>
              <a:rPr lang="en-US" dirty="0"/>
              <a:t>Tree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47896" y="1816916"/>
            <a:ext cx="5212080" cy="429768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Programing Skills</a:t>
            </a:r>
          </a:p>
          <a:p>
            <a:pPr lvl="1"/>
            <a:r>
              <a:rPr lang="en-US" dirty="0"/>
              <a:t>Logic Operations</a:t>
            </a:r>
          </a:p>
          <a:p>
            <a:pPr lvl="1"/>
            <a:r>
              <a:rPr lang="en-US" dirty="0"/>
              <a:t>Loop</a:t>
            </a:r>
          </a:p>
          <a:p>
            <a:pPr lvl="1"/>
            <a:r>
              <a:rPr lang="en-US" dirty="0"/>
              <a:t>Conditional</a:t>
            </a:r>
          </a:p>
          <a:p>
            <a:pPr lvl="1"/>
            <a:r>
              <a:rPr lang="en-US" dirty="0"/>
              <a:t>Function</a:t>
            </a:r>
          </a:p>
          <a:p>
            <a:pPr lvl="1"/>
            <a:r>
              <a:rPr lang="en-US" dirty="0"/>
              <a:t>Pointer</a:t>
            </a:r>
          </a:p>
          <a:p>
            <a:pPr marL="0" lvl="1" indent="0">
              <a:buNone/>
            </a:pP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27649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 Structures and Algorithms: Big O Notation">
            <a:extLst>
              <a:ext uri="{FF2B5EF4-FFF2-40B4-BE49-F238E27FC236}">
                <a16:creationId xmlns:a16="http://schemas.microsoft.com/office/drawing/2014/main" id="{0F669DCD-89A8-434E-9A33-4E28DCCD983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667" y="1838325"/>
            <a:ext cx="7617178" cy="428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E7E1133-4D57-4ED4-A9B0-09597D24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dirty="0"/>
              <a:t>Core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65EA1-F5E2-411D-8C66-3D7E5028A7C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DE158F-21F9-4671-A59C-C21A8857E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F1DE2C-31CE-4166-842E-A07678091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72"/>
            <a:ext cx="12192000" cy="677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920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7E1133-4D57-4ED4-A9B0-09597D24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dirty="0"/>
              <a:t>Simple Demo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F0F476-CD9F-4685-8FF7-55158A8CBB1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33313220"/>
              </p:ext>
            </p:extLst>
          </p:nvPr>
        </p:nvGraphicFramePr>
        <p:xfrm>
          <a:off x="1030526" y="1838325"/>
          <a:ext cx="4006060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3982659661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2940456290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2079405263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622413185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1121459005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2094420737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3282511805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3145376549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3376359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15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16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18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A6E0E638-04A2-45DA-8165-79DC676B26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2787588"/>
              </p:ext>
            </p:extLst>
          </p:nvPr>
        </p:nvGraphicFramePr>
        <p:xfrm>
          <a:off x="2337891" y="2571357"/>
          <a:ext cx="400606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C0352191-1A64-43AC-96E4-E8186C387076}"/>
              </a:ext>
            </a:extLst>
          </p:cNvPr>
          <p:cNvSpPr txBox="1">
            <a:spLocks/>
          </p:cNvSpPr>
          <p:nvPr/>
        </p:nvSpPr>
        <p:spPr>
          <a:xfrm>
            <a:off x="2256569" y="3304389"/>
            <a:ext cx="345419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Linear Search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CFADF13-16F5-43E6-AECA-FDD2CDB094DE}"/>
              </a:ext>
            </a:extLst>
          </p:cNvPr>
          <p:cNvSpPr txBox="1">
            <a:spLocks/>
          </p:cNvSpPr>
          <p:nvPr/>
        </p:nvSpPr>
        <p:spPr>
          <a:xfrm>
            <a:off x="2256569" y="4550855"/>
            <a:ext cx="345419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/>
              <a:t>Binary Search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DFA3AE09-0336-46F2-BFD3-CB26CA7A64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0827313"/>
              </p:ext>
            </p:extLst>
          </p:nvPr>
        </p:nvGraphicFramePr>
        <p:xfrm>
          <a:off x="3335418" y="2571357"/>
          <a:ext cx="400606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15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A304EC7F-292E-41C1-8165-E834D22743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9583163"/>
              </p:ext>
            </p:extLst>
          </p:nvPr>
        </p:nvGraphicFramePr>
        <p:xfrm>
          <a:off x="4332945" y="2566314"/>
          <a:ext cx="400606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BC5013EA-D376-4910-9A9C-1B6008092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021" y="2682235"/>
            <a:ext cx="1463040" cy="14630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CA3CA2-F123-4E33-9F23-F2C8462BB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826" y="746125"/>
            <a:ext cx="1463040" cy="14630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97B165-677A-4AF1-87EC-F23710B32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3306" y="4793878"/>
            <a:ext cx="1706880" cy="1706880"/>
          </a:xfrm>
          <a:prstGeom prst="rect">
            <a:avLst/>
          </a:prstGeom>
        </p:spPr>
      </p:pic>
      <p:graphicFrame>
        <p:nvGraphicFramePr>
          <p:cNvPr id="19" name="Content Placeholder 3">
            <a:extLst>
              <a:ext uri="{FF2B5EF4-FFF2-40B4-BE49-F238E27FC236}">
                <a16:creationId xmlns:a16="http://schemas.microsoft.com/office/drawing/2014/main" id="{C434A647-6ABE-43E1-8D0C-E4464616FF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2325674"/>
              </p:ext>
            </p:extLst>
          </p:nvPr>
        </p:nvGraphicFramePr>
        <p:xfrm>
          <a:off x="1340364" y="2564511"/>
          <a:ext cx="400606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sp>
        <p:nvSpPr>
          <p:cNvPr id="22" name="Title 1">
            <a:extLst>
              <a:ext uri="{FF2B5EF4-FFF2-40B4-BE49-F238E27FC236}">
                <a16:creationId xmlns:a16="http://schemas.microsoft.com/office/drawing/2014/main" id="{A291C713-18AD-4B77-862D-3396EBC66840}"/>
              </a:ext>
            </a:extLst>
          </p:cNvPr>
          <p:cNvSpPr txBox="1">
            <a:spLocks/>
          </p:cNvSpPr>
          <p:nvPr/>
        </p:nvSpPr>
        <p:spPr>
          <a:xfrm>
            <a:off x="8924857" y="2111001"/>
            <a:ext cx="1203317" cy="479164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Best Case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CD7A440-B917-4888-AA1D-B70D56F64C0D}"/>
              </a:ext>
            </a:extLst>
          </p:cNvPr>
          <p:cNvSpPr txBox="1">
            <a:spLocks/>
          </p:cNvSpPr>
          <p:nvPr/>
        </p:nvSpPr>
        <p:spPr>
          <a:xfrm>
            <a:off x="8942744" y="4151649"/>
            <a:ext cx="1203317" cy="479164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Worst Case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7D79CBA-D8EE-4878-9CE8-1EC3542315E2}"/>
              </a:ext>
            </a:extLst>
          </p:cNvPr>
          <p:cNvSpPr txBox="1">
            <a:spLocks/>
          </p:cNvSpPr>
          <p:nvPr/>
        </p:nvSpPr>
        <p:spPr>
          <a:xfrm>
            <a:off x="8885087" y="6348011"/>
            <a:ext cx="1203317" cy="479164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    Average</a:t>
            </a:r>
          </a:p>
        </p:txBody>
      </p:sp>
    </p:spTree>
    <p:extLst>
      <p:ext uri="{BB962C8B-B14F-4D97-AF65-F5344CB8AC3E}">
        <p14:creationId xmlns:p14="http://schemas.microsoft.com/office/powerpoint/2010/main" val="2515178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Core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8507" y="1690688"/>
            <a:ext cx="3504243" cy="429768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Data Structures</a:t>
            </a:r>
          </a:p>
          <a:p>
            <a:pPr lvl="1"/>
            <a:r>
              <a:rPr lang="en-US" dirty="0"/>
              <a:t>Array </a:t>
            </a:r>
          </a:p>
          <a:p>
            <a:pPr lvl="1"/>
            <a:r>
              <a:rPr lang="en-US" dirty="0"/>
              <a:t>Linked List</a:t>
            </a:r>
          </a:p>
          <a:p>
            <a:pPr lvl="1"/>
            <a:r>
              <a:rPr lang="en-US" dirty="0"/>
              <a:t>Stack / Queue</a:t>
            </a:r>
          </a:p>
          <a:p>
            <a:pPr lvl="1"/>
            <a:r>
              <a:rPr lang="en-US" dirty="0"/>
              <a:t>Hash Map </a:t>
            </a:r>
          </a:p>
          <a:p>
            <a:pPr lvl="1"/>
            <a:r>
              <a:rPr lang="en-US" dirty="0"/>
              <a:t>Graph</a:t>
            </a:r>
          </a:p>
          <a:p>
            <a:pPr lvl="1"/>
            <a:r>
              <a:rPr lang="en-US" dirty="0"/>
              <a:t>Tree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681694" y="1707917"/>
            <a:ext cx="3715929" cy="4297680"/>
          </a:xfrm>
          <a:noFill/>
        </p:spPr>
        <p:txBody>
          <a:bodyPr>
            <a:normAutofit lnSpcReduction="10000"/>
          </a:bodyPr>
          <a:lstStyle/>
          <a:p>
            <a:r>
              <a:rPr lang="en-US" b="1" dirty="0"/>
              <a:t>Programing Skills</a:t>
            </a:r>
          </a:p>
          <a:p>
            <a:pPr lvl="1"/>
            <a:r>
              <a:rPr lang="en-US" dirty="0"/>
              <a:t>Data Types</a:t>
            </a:r>
          </a:p>
          <a:p>
            <a:pPr lvl="1"/>
            <a:r>
              <a:rPr lang="en-US" dirty="0"/>
              <a:t>Logic Operations</a:t>
            </a:r>
          </a:p>
          <a:p>
            <a:pPr lvl="1"/>
            <a:r>
              <a:rPr lang="en-US" dirty="0"/>
              <a:t>Loop</a:t>
            </a:r>
          </a:p>
          <a:p>
            <a:pPr lvl="1"/>
            <a:r>
              <a:rPr lang="en-US" dirty="0"/>
              <a:t>Conditional</a:t>
            </a:r>
          </a:p>
          <a:p>
            <a:pPr lvl="1"/>
            <a:r>
              <a:rPr lang="en-US" dirty="0"/>
              <a:t>Function</a:t>
            </a:r>
          </a:p>
          <a:p>
            <a:pPr lvl="1"/>
            <a:r>
              <a:rPr lang="en-US" dirty="0"/>
              <a:t>Pointer</a:t>
            </a:r>
          </a:p>
          <a:p>
            <a:pPr lvl="1"/>
            <a:r>
              <a:rPr lang="en-US" dirty="0"/>
              <a:t>Recursion</a:t>
            </a:r>
          </a:p>
          <a:p>
            <a:pPr marL="0" lvl="1" indent="0">
              <a:buNone/>
            </a:pP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82103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Array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Linked List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E6BA148-164B-4846-81FF-214095C38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835" y="1690688"/>
            <a:ext cx="1800225" cy="619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37307C4-57BB-4342-9A47-F2ADF5C24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653" y="3562054"/>
            <a:ext cx="1781175" cy="5238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D1FB8D-ADC0-46FA-A46A-1344BAC31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6624" y="4260958"/>
            <a:ext cx="1733550" cy="4667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4992662-2508-47F3-BA48-9CE20A6AF3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8049" y="5169531"/>
            <a:ext cx="179070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3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Stack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Queue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87D710-DB79-4ECC-9D08-0C8764F92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543" y="1788171"/>
            <a:ext cx="581025" cy="838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C398FD-CA2A-49C6-A2CA-E5C971308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256" y="1788171"/>
            <a:ext cx="876300" cy="971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2B260D-D8A2-461E-B82E-A518A7DA3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129" y="3797359"/>
            <a:ext cx="1752600" cy="561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EE3327-5E02-4BCE-825C-DE7239CACC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4615" y="3778309"/>
            <a:ext cx="1743075" cy="58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101E04-E18A-4CE1-8C43-DD6ECCF8EC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7129" y="5511824"/>
            <a:ext cx="1781175" cy="657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B80BF3-C32F-455F-81B5-F3CAE26092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4615" y="5511824"/>
            <a:ext cx="17335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57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altLang="ko-KR" dirty="0"/>
              <a:t>Hash Map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AE2783-DC22-4537-9F38-19DDA32D1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208" y="2379307"/>
            <a:ext cx="1257300" cy="37195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BD9B5E-703C-47B6-B599-C0DD6CA69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169" y="2379307"/>
            <a:ext cx="3676650" cy="37671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16ADC-92F8-4FF7-BD57-88BA6D395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356" y="640703"/>
            <a:ext cx="1463040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56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altLang="ko-KR" dirty="0"/>
              <a:t>Hash Map – Linear Probing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18371-ADEF-4EFD-B05F-8DD8FFA50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168" y="2273618"/>
            <a:ext cx="1262063" cy="371475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3F04EC-8B7D-49A0-82FC-B03080A001BC}"/>
              </a:ext>
            </a:extLst>
          </p:cNvPr>
          <p:cNvSpPr txBox="1">
            <a:spLocks/>
          </p:cNvSpPr>
          <p:nvPr/>
        </p:nvSpPr>
        <p:spPr>
          <a:xfrm>
            <a:off x="6577473" y="1690688"/>
            <a:ext cx="4915163" cy="429768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ko-KR" dirty="0"/>
              <a:t>Hash Map – Separate chaining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946078-1D9E-4A3B-AB02-BCEF7A0E2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382" y="2231611"/>
            <a:ext cx="1252538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94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0837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altLang="ko-KR" dirty="0"/>
              <a:t>Graph</a:t>
            </a:r>
          </a:p>
          <a:p>
            <a:pPr lvl="1"/>
            <a:endParaRPr lang="en-US" altLang="ko-KR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3F04EC-8B7D-49A0-82FC-B03080A001BC}"/>
              </a:ext>
            </a:extLst>
          </p:cNvPr>
          <p:cNvSpPr txBox="1">
            <a:spLocks/>
          </p:cNvSpPr>
          <p:nvPr/>
        </p:nvSpPr>
        <p:spPr>
          <a:xfrm>
            <a:off x="6577473" y="1690688"/>
            <a:ext cx="4915163" cy="429768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ko-KR" dirty="0"/>
              <a:t>Tree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EE176-4D90-4EA4-A4D5-F16C999B3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295" y="2083254"/>
            <a:ext cx="3314700" cy="20383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77F272-651B-4404-911C-5A5CF9A91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295" y="4121604"/>
            <a:ext cx="3324225" cy="2076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ACCA5A-9D86-4AB3-AEA5-04E84E7F6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313" y="2083255"/>
            <a:ext cx="2386965" cy="22536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14790A-7AE6-44FC-A85C-A2972C7223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504" y="4435793"/>
            <a:ext cx="2520315" cy="217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17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Core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3108958" cy="4297680"/>
          </a:xfrm>
          <a:noFill/>
        </p:spPr>
        <p:txBody>
          <a:bodyPr>
            <a:normAutofit/>
          </a:bodyPr>
          <a:lstStyle/>
          <a:p>
            <a:r>
              <a:rPr lang="en-US" dirty="0"/>
              <a:t>Greedy</a:t>
            </a:r>
          </a:p>
          <a:p>
            <a:r>
              <a:rPr lang="en-US" dirty="0"/>
              <a:t>Sorting techniques</a:t>
            </a:r>
          </a:p>
          <a:p>
            <a:r>
              <a:rPr lang="en-US" dirty="0"/>
              <a:t>Searching</a:t>
            </a:r>
          </a:p>
          <a:p>
            <a:r>
              <a:rPr lang="en-US" dirty="0"/>
              <a:t>Graph Traversal</a:t>
            </a:r>
          </a:p>
          <a:p>
            <a:r>
              <a:rPr lang="en-US" dirty="0"/>
              <a:t>Dynamic Programming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Greedy</a:t>
            </a:r>
          </a:p>
          <a:p>
            <a:pPr marL="0" lvl="1" indent="0">
              <a:buNone/>
            </a:pPr>
            <a:r>
              <a:rPr lang="en-US" altLang="ko-KR" dirty="0">
                <a:hlinkClick r:id="rId3"/>
              </a:rPr>
              <a:t>Minimum Number of Operations to Make Elements in Array Distinct – </a:t>
            </a:r>
            <a:r>
              <a:rPr lang="en-US" altLang="ko-KR" dirty="0" err="1">
                <a:hlinkClick r:id="rId3"/>
              </a:rPr>
              <a:t>LeetCode</a:t>
            </a:r>
            <a:endParaRPr lang="en-US" altLang="ko-KR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4C278E-0756-4B74-8631-1298968D6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5379" y="1027906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32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Sorting</a:t>
            </a:r>
          </a:p>
          <a:p>
            <a:pPr marL="0" lvl="1" indent="0">
              <a:buNone/>
            </a:pPr>
            <a:r>
              <a:rPr lang="en-US" altLang="ko-KR" dirty="0">
                <a:hlinkClick r:id="rId3"/>
              </a:rPr>
              <a:t>Majority Element – </a:t>
            </a:r>
            <a:r>
              <a:rPr lang="en-US" altLang="ko-KR" dirty="0" err="1">
                <a:hlinkClick r:id="rId3"/>
              </a:rPr>
              <a:t>LeetCode</a:t>
            </a:r>
            <a:endParaRPr lang="en-US" altLang="ko-KR" dirty="0"/>
          </a:p>
          <a:p>
            <a:pPr marL="0" lvl="1" indent="0">
              <a:buNone/>
            </a:pPr>
            <a:r>
              <a:rPr lang="en-US" altLang="ko-KR" dirty="0">
                <a:hlinkClick r:id="rId4"/>
              </a:rPr>
              <a:t>Merge Sorted Array - </a:t>
            </a:r>
            <a:r>
              <a:rPr lang="en-US" altLang="ko-KR" dirty="0" err="1">
                <a:hlinkClick r:id="rId4"/>
              </a:rPr>
              <a:t>LeetCode</a:t>
            </a:r>
            <a:endParaRPr lang="en-US" dirty="0"/>
          </a:p>
          <a:p>
            <a:pPr lvl="1"/>
            <a:endParaRPr lang="en-US" dirty="0"/>
          </a:p>
          <a:p>
            <a:pPr marL="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42AEC-D80A-49A5-B68F-BA77E4A4D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3290" y="9906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61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Searching</a:t>
            </a:r>
          </a:p>
          <a:p>
            <a:pPr marL="0" lvl="1" indent="0">
              <a:buNone/>
            </a:pPr>
            <a:r>
              <a:rPr lang="en-US" altLang="ko-KR" dirty="0">
                <a:hlinkClick r:id="rId3"/>
              </a:rPr>
              <a:t>Search in Rotated Sorted Array - </a:t>
            </a:r>
            <a:r>
              <a:rPr lang="en-US" altLang="ko-KR" dirty="0" err="1">
                <a:hlinkClick r:id="rId3"/>
              </a:rPr>
              <a:t>LeetCode</a:t>
            </a:r>
            <a:endParaRPr lang="en-US" dirty="0"/>
          </a:p>
          <a:p>
            <a:pPr lvl="1"/>
            <a:endParaRPr lang="en-US" dirty="0"/>
          </a:p>
          <a:p>
            <a:pPr marL="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FD375E-AE29-40AB-A129-67C9FDCF9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373" y="1027906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5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Graph Traversal</a:t>
            </a:r>
          </a:p>
          <a:p>
            <a:pPr marL="0" lvl="1" indent="0">
              <a:buNone/>
            </a:pPr>
            <a:r>
              <a:rPr lang="en-US" altLang="ko-KR" dirty="0">
                <a:hlinkClick r:id="rId3"/>
              </a:rPr>
              <a:t>Pacific Atlantic Water Flow – </a:t>
            </a:r>
            <a:r>
              <a:rPr lang="en-US" altLang="ko-KR" dirty="0" err="1">
                <a:hlinkClick r:id="rId3"/>
              </a:rPr>
              <a:t>LeetCode</a:t>
            </a:r>
            <a:endParaRPr lang="en-US" altLang="ko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BC52E-2BAD-47FE-8692-16294A133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373" y="1027906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473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Dynamic Programing</a:t>
            </a:r>
          </a:p>
          <a:p>
            <a:pPr marL="0" lvl="1" indent="0">
              <a:buNone/>
            </a:pPr>
            <a:r>
              <a:rPr lang="en-US" altLang="ko-KR" dirty="0">
                <a:hlinkClick r:id="rId3"/>
              </a:rPr>
              <a:t>Climbing Stairs – </a:t>
            </a:r>
            <a:r>
              <a:rPr lang="en-US" altLang="ko-KR" dirty="0" err="1">
                <a:hlinkClick r:id="rId3"/>
              </a:rPr>
              <a:t>LeetCode</a:t>
            </a:r>
            <a:endParaRPr lang="en-US" altLang="ko-KR" dirty="0"/>
          </a:p>
          <a:p>
            <a:pPr marL="0" lvl="1" indent="0">
              <a:buNone/>
            </a:pPr>
            <a:r>
              <a:rPr lang="en-US" altLang="ko-KR" dirty="0">
                <a:hlinkClick r:id="rId4"/>
              </a:rPr>
              <a:t>Coin Change - </a:t>
            </a:r>
            <a:r>
              <a:rPr lang="en-US" altLang="ko-KR" dirty="0" err="1">
                <a:hlinkClick r:id="rId4"/>
              </a:rPr>
              <a:t>LeetCode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3F873E-89FC-46B6-B07D-3E8E9F6A7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4355" y="84305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37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2001832"/>
            <a:ext cx="6560142" cy="3063149"/>
          </a:xfrm>
          <a:noFill/>
        </p:spPr>
        <p:txBody>
          <a:bodyPr/>
          <a:lstStyle/>
          <a:p>
            <a:r>
              <a:rPr lang="en-US" altLang="ko-KR" dirty="0"/>
              <a:t>PCCP Focused</a:t>
            </a:r>
          </a:p>
        </p:txBody>
      </p:sp>
    </p:spTree>
    <p:extLst>
      <p:ext uri="{BB962C8B-B14F-4D97-AF65-F5344CB8AC3E}">
        <p14:creationId xmlns:p14="http://schemas.microsoft.com/office/powerpoint/2010/main" val="1599036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103C39C-4BAC-4FDE-81AE-2CD3FF5092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AA967D-A62A-4B7E-8A7D-BD6190A7F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220" y="1136132"/>
            <a:ext cx="4876800" cy="48768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CED9542-E80C-4BEB-8AF2-96515C5E8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3724" y="1197472"/>
            <a:ext cx="4915163" cy="2094368"/>
          </a:xfrm>
          <a:noFill/>
        </p:spPr>
        <p:txBody>
          <a:bodyPr>
            <a:normAutofit lnSpcReduction="10000"/>
          </a:bodyPr>
          <a:lstStyle/>
          <a:p>
            <a:r>
              <a:rPr lang="en-US" b="1" dirty="0"/>
              <a:t>Overview</a:t>
            </a:r>
          </a:p>
          <a:p>
            <a:pPr lvl="1"/>
            <a:r>
              <a:rPr lang="en-US" dirty="0"/>
              <a:t>Programmer Coding Competency Certification</a:t>
            </a:r>
          </a:p>
          <a:p>
            <a:pPr lvl="1"/>
            <a:r>
              <a:rPr lang="en-US" dirty="0"/>
              <a:t>Way for LG CNS validating coding competence</a:t>
            </a:r>
          </a:p>
          <a:p>
            <a:pPr lvl="1"/>
            <a:r>
              <a:rPr lang="en-US" dirty="0"/>
              <a:t>Focus on problem solving (DSA)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76E4F11-9C99-45D1-9FB3-4DDF3111628C}"/>
              </a:ext>
            </a:extLst>
          </p:cNvPr>
          <p:cNvSpPr txBox="1">
            <a:spLocks/>
          </p:cNvSpPr>
          <p:nvPr/>
        </p:nvSpPr>
        <p:spPr>
          <a:xfrm>
            <a:off x="838199" y="3566161"/>
            <a:ext cx="4915163" cy="247269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Paint points</a:t>
            </a:r>
          </a:p>
          <a:p>
            <a:pPr lvl="1"/>
            <a:r>
              <a:rPr lang="en-US" b="1" dirty="0"/>
              <a:t>Code on web browser without IDE</a:t>
            </a:r>
          </a:p>
          <a:p>
            <a:pPr lvl="1"/>
            <a:r>
              <a:rPr lang="en-US" dirty="0"/>
              <a:t>Just provide sample cases</a:t>
            </a:r>
          </a:p>
          <a:p>
            <a:pPr lvl="1"/>
            <a:r>
              <a:rPr lang="en-US" dirty="0"/>
              <a:t>Require </a:t>
            </a:r>
            <a:r>
              <a:rPr lang="en-US" altLang="ko-KR" dirty="0"/>
              <a:t>requirements analysis, coding, testing, debug skills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Contest Scope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A37412-4453-4F8D-BB52-5F575FCE5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617" y="1027906"/>
            <a:ext cx="4876800" cy="48768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CAC8AB7-ACAA-469C-920D-AFAE13627DE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934200" cy="429768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chemeClr val="accent2"/>
              </a:buClr>
            </a:pPr>
            <a:r>
              <a:rPr lang="en-US" sz="1800" dirty="0"/>
              <a:t>4 problems in 2 hours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1</a:t>
            </a:r>
            <a:r>
              <a:rPr lang="en-US" sz="1400" baseline="30000" dirty="0"/>
              <a:t>st</a:t>
            </a:r>
            <a:r>
              <a:rPr lang="en-US" sz="1400" dirty="0"/>
              <a:t> and 2</a:t>
            </a:r>
            <a:r>
              <a:rPr lang="en-US" sz="1400" baseline="30000" dirty="0"/>
              <a:t>nd</a:t>
            </a:r>
            <a:r>
              <a:rPr lang="en-US" sz="1400" dirty="0"/>
              <a:t> : Just ad-hoc or Brute Force is enough, but </a:t>
            </a:r>
            <a:r>
              <a:rPr lang="en-US" altLang="ko-KR" sz="1400" dirty="0"/>
              <a:t>requirements analysis is mandatory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3</a:t>
            </a:r>
            <a:r>
              <a:rPr lang="en-US" sz="1400" baseline="30000" dirty="0"/>
              <a:t>rd</a:t>
            </a:r>
            <a:r>
              <a:rPr lang="en-US" sz="1400" dirty="0"/>
              <a:t> : 1 algorithm </a:t>
            </a:r>
            <a:r>
              <a:rPr lang="en-US" altLang="ko-KR" sz="1400" dirty="0"/>
              <a:t>also debugging </a:t>
            </a:r>
            <a:r>
              <a:rPr lang="en-US" sz="1400" dirty="0"/>
              <a:t>required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4</a:t>
            </a:r>
            <a:r>
              <a:rPr lang="en-US" sz="1400" baseline="30000" dirty="0"/>
              <a:t>th</a:t>
            </a:r>
            <a:r>
              <a:rPr lang="en-US" sz="1400" dirty="0"/>
              <a:t>: The most </a:t>
            </a:r>
            <a:r>
              <a:rPr lang="en-US" altLang="ko-KR" sz="1400" dirty="0"/>
              <a:t>difficult, might need 2 algorithms</a:t>
            </a:r>
            <a:endParaRPr lang="en-US" sz="1400" dirty="0"/>
          </a:p>
          <a:p>
            <a:pPr lvl="1">
              <a:buClr>
                <a:schemeClr val="accent2"/>
              </a:buClr>
            </a:pPr>
            <a:endParaRPr lang="en-US" altLang="ko-KR" sz="1800" dirty="0"/>
          </a:p>
          <a:p>
            <a:pPr lvl="1">
              <a:buClr>
                <a:schemeClr val="accent2"/>
              </a:buClr>
            </a:pPr>
            <a:r>
              <a:rPr lang="en-US" altLang="ko-KR" sz="1800" dirty="0"/>
              <a:t>English/Korean reading skill needed</a:t>
            </a:r>
            <a:endParaRPr lang="en-US" sz="1800" dirty="0"/>
          </a:p>
          <a:p>
            <a:pPr lvl="1">
              <a:buClr>
                <a:schemeClr val="accent2"/>
              </a:buClr>
            </a:pPr>
            <a:endParaRPr lang="en-US" sz="1800" dirty="0"/>
          </a:p>
          <a:p>
            <a:pPr lvl="1">
              <a:buClr>
                <a:schemeClr val="accent2"/>
              </a:buClr>
            </a:pPr>
            <a:r>
              <a:rPr lang="en-US" sz="1800" dirty="0"/>
              <a:t>Data Structures and Algorithms: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Array / String / Greedy / Sorting 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Stack / Queue / Deque / Hash / Binary Search / DFS – BFS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Graph / Tree / Heap / 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Personal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1436011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/>
              <a:t>Screen Recorder and Camera have to turn on</a:t>
            </a:r>
          </a:p>
          <a:p>
            <a:pPr lvl="1"/>
            <a:r>
              <a:rPr lang="en-US" dirty="0"/>
              <a:t>Double check network condition </a:t>
            </a:r>
          </a:p>
          <a:p>
            <a:pPr lvl="1"/>
            <a:r>
              <a:rPr lang="en-US" dirty="0"/>
              <a:t>You have 1 white paper for drafting</a:t>
            </a:r>
          </a:p>
          <a:p>
            <a:pPr lvl="1"/>
            <a:r>
              <a:rPr lang="en-US" dirty="0"/>
              <a:t>Console Log for debugging</a:t>
            </a:r>
          </a:p>
          <a:p>
            <a:pPr lvl="1"/>
            <a:r>
              <a:rPr lang="en-US" altLang="ko-KR" dirty="0"/>
              <a:t>Brute Force if possible (accept all cases is not required)</a:t>
            </a:r>
          </a:p>
          <a:p>
            <a:pPr lvl="1"/>
            <a:r>
              <a:rPr lang="en-US" altLang="ko-KR" dirty="0"/>
              <a:t>Figure out the way to handle problem base on required input</a:t>
            </a:r>
          </a:p>
          <a:p>
            <a:pPr lvl="1"/>
            <a:r>
              <a:rPr lang="en-US" altLang="ko-KR" dirty="0"/>
              <a:t>Start with small cases for thinking</a:t>
            </a:r>
          </a:p>
          <a:p>
            <a:pPr lvl="1"/>
            <a:r>
              <a:rPr lang="en-US" dirty="0"/>
              <a:t>Limit line of codes (you can not debug over 100 LoCs)</a:t>
            </a:r>
          </a:p>
          <a:p>
            <a:pPr lvl="1"/>
            <a:r>
              <a:rPr lang="en-US" dirty="0"/>
              <a:t>Used algorithm: Graph Traversal, Dynamic Programming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F51FD-3AE4-4387-B763-63C8A0911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574" y="1160255"/>
            <a:ext cx="3413760" cy="341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37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103C39C-4BAC-4FDE-81AE-2CD3FF5092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CED9542-E80C-4BEB-8AF2-96515C5E8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3724" y="1197472"/>
            <a:ext cx="4915163" cy="2094368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Learning Resources</a:t>
            </a:r>
          </a:p>
          <a:p>
            <a:pPr lvl="1"/>
            <a:r>
              <a:rPr lang="en-US" dirty="0"/>
              <a:t>DSA courses on Udemy …</a:t>
            </a:r>
          </a:p>
          <a:p>
            <a:pPr lvl="1"/>
            <a:r>
              <a:rPr lang="en-US" dirty="0" err="1"/>
              <a:t>LeetCode</a:t>
            </a:r>
            <a:r>
              <a:rPr lang="en-US" dirty="0"/>
              <a:t> / </a:t>
            </a:r>
            <a:r>
              <a:rPr lang="en-US" dirty="0" err="1"/>
              <a:t>NeetCode</a:t>
            </a:r>
            <a:r>
              <a:rPr lang="en-US" dirty="0"/>
              <a:t> / Hacker Rank …</a:t>
            </a:r>
          </a:p>
          <a:p>
            <a:pPr lvl="1"/>
            <a:r>
              <a:rPr lang="en-US" dirty="0"/>
              <a:t>PCCP Guide / PCCP Training on Wire-Wiki …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76E4F11-9C99-45D1-9FB3-4DDF3111628C}"/>
              </a:ext>
            </a:extLst>
          </p:cNvPr>
          <p:cNvSpPr txBox="1">
            <a:spLocks/>
          </p:cNvSpPr>
          <p:nvPr/>
        </p:nvSpPr>
        <p:spPr>
          <a:xfrm>
            <a:off x="838199" y="3566161"/>
            <a:ext cx="5574915" cy="267594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Practicing Strategy</a:t>
            </a:r>
          </a:p>
          <a:p>
            <a:pPr lvl="1"/>
            <a:r>
              <a:rPr lang="en-US" b="1" dirty="0"/>
              <a:t>Block Time Scope  for each problem</a:t>
            </a:r>
          </a:p>
          <a:p>
            <a:pPr lvl="1"/>
            <a:r>
              <a:rPr lang="en-US" b="1" dirty="0"/>
              <a:t>Join </a:t>
            </a:r>
            <a:r>
              <a:rPr lang="en-US" altLang="ko-KR" b="1" dirty="0"/>
              <a:t>PCCP mock test / </a:t>
            </a:r>
            <a:r>
              <a:rPr lang="en-US" b="1" dirty="0" err="1"/>
              <a:t>LeetCode</a:t>
            </a:r>
            <a:r>
              <a:rPr lang="en-US" b="1" dirty="0"/>
              <a:t> contest .. about 2 hours </a:t>
            </a:r>
          </a:p>
          <a:p>
            <a:pPr lvl="1"/>
            <a:r>
              <a:rPr lang="en-US" dirty="0"/>
              <a:t>Follow road map. Try with Easy Problem first</a:t>
            </a:r>
          </a:p>
          <a:p>
            <a:pPr lvl="1"/>
            <a:r>
              <a:rPr lang="en-US" dirty="0"/>
              <a:t>At least 1 problem a day. Consistency is needed</a:t>
            </a:r>
          </a:p>
          <a:p>
            <a:pPr lvl="1"/>
            <a:r>
              <a:rPr lang="en-US" dirty="0"/>
              <a:t>It’s OK to use AI as long as you get the solution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C26B2E-6204-498C-886E-E58436C56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172" y="81914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706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79F76-7918-4293-8322-E849B2545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299" y="2168866"/>
            <a:ext cx="3413760" cy="3413760"/>
          </a:xfrm>
          <a:prstGeom prst="rect">
            <a:avLst/>
          </a:prstGeom>
        </p:spPr>
      </p:pic>
      <p:graphicFrame>
        <p:nvGraphicFramePr>
          <p:cNvPr id="7" name="Table Placeholder 3">
            <a:extLst>
              <a:ext uri="{FF2B5EF4-FFF2-40B4-BE49-F238E27FC236}">
                <a16:creationId xmlns:a16="http://schemas.microsoft.com/office/drawing/2014/main" id="{5448BE2C-90C3-41AC-9D1E-C6154BF3E7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0578445"/>
              </p:ext>
            </p:extLst>
          </p:nvPr>
        </p:nvGraphicFramePr>
        <p:xfrm>
          <a:off x="1080653" y="1806127"/>
          <a:ext cx="7046513" cy="438594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387203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65931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</a:tblGrid>
              <a:tr h="730991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+mj-lt"/>
                        </a:rPr>
                        <a:t>In house Wire-Wiki Resource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+mj-lt"/>
                        </a:rPr>
                        <a:t>Hours (at least) to complete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730991">
                <a:tc>
                  <a:txBody>
                    <a:bodyPr/>
                    <a:lstStyle/>
                    <a:p>
                      <a:pPr algn="l"/>
                      <a:r>
                        <a:rPr lang="en-US" b="1" i="0" dirty="0">
                          <a:latin typeface="+mn-lt"/>
                        </a:rPr>
                        <a:t>PCCP Guide</a:t>
                      </a:r>
                      <a:r>
                        <a:rPr lang="en-US" altLang="ko-KR" b="1" i="0" dirty="0">
                          <a:latin typeface="+mn-lt"/>
                        </a:rPr>
                        <a:t> – </a:t>
                      </a:r>
                      <a:r>
                        <a:rPr lang="en-US" b="1" i="0" dirty="0">
                          <a:latin typeface="+mn-lt"/>
                        </a:rPr>
                        <a:t>Mr. Dao Van </a:t>
                      </a:r>
                      <a:r>
                        <a:rPr lang="en-US" b="1" i="0" dirty="0" err="1">
                          <a:latin typeface="+mn-lt"/>
                        </a:rPr>
                        <a:t>Trong</a:t>
                      </a:r>
                      <a:endParaRPr lang="en-US" b="1" i="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0.5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730991">
                <a:tc>
                  <a:txBody>
                    <a:bodyPr/>
                    <a:lstStyle/>
                    <a:p>
                      <a:pPr algn="l"/>
                      <a:r>
                        <a:rPr lang="en-US" b="1" i="0" dirty="0">
                          <a:latin typeface="+mn-lt"/>
                        </a:rPr>
                        <a:t>PCCP Training – Mr. Nguyen Thanh Tung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730991"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latin typeface="+mn-lt"/>
                        </a:rPr>
                        <a:t>DSA 2025 – CX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730991"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latin typeface="+mn-lt"/>
                        </a:rPr>
                        <a:t>PCCP Training </a:t>
                      </a:r>
                      <a:r>
                        <a:rPr lang="en-US" sz="1600" b="0" i="0" dirty="0">
                          <a:latin typeface="+mn-lt"/>
                        </a:rPr>
                        <a:t>– Mr. Nguyen </a:t>
                      </a:r>
                      <a:r>
                        <a:rPr lang="en-US" sz="1600" b="0" i="0" dirty="0" err="1">
                          <a:latin typeface="+mn-lt"/>
                        </a:rPr>
                        <a:t>Dinh</a:t>
                      </a:r>
                      <a:r>
                        <a:rPr lang="en-US" sz="1600" b="0" i="0" dirty="0">
                          <a:latin typeface="+mn-lt"/>
                        </a:rPr>
                        <a:t> Anh Tung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730991"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latin typeface="+mn-lt"/>
                        </a:rPr>
                        <a:t>PCCP 2024 Experience </a:t>
                      </a:r>
                      <a:r>
                        <a:rPr lang="en-US" sz="1400" b="0" i="1" dirty="0">
                          <a:latin typeface="+mn-lt"/>
                        </a:rPr>
                        <a:t>– me, </a:t>
                      </a:r>
                      <a:r>
                        <a:rPr lang="en-US" sz="1400" b="0" i="1" dirty="0" err="1">
                          <a:latin typeface="+mn-lt"/>
                        </a:rPr>
                        <a:t>haha</a:t>
                      </a:r>
                      <a:endParaRPr lang="en-US" sz="1400" b="0" i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680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  <a:noFill/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455" y="755171"/>
            <a:ext cx="4619937" cy="5315035"/>
          </a:xfrm>
          <a:noFill/>
        </p:spPr>
        <p:txBody>
          <a:bodyPr>
            <a:normAutofit/>
          </a:bodyPr>
          <a:lstStyle/>
          <a:p>
            <a:r>
              <a:rPr lang="en-US" dirty="0"/>
              <a:t>Nguyen Thi Binh An</a:t>
            </a:r>
          </a:p>
          <a:p>
            <a:r>
              <a:rPr lang="en-US" sz="1600" dirty="0"/>
              <a:t>D&amp;A Development Team</a:t>
            </a:r>
          </a:p>
          <a:p>
            <a:r>
              <a:rPr lang="en-US" sz="1600" dirty="0"/>
              <a:t>Data Service &amp; Business Part</a:t>
            </a:r>
          </a:p>
          <a:p>
            <a:r>
              <a:rPr lang="en-US" sz="1600" dirty="0"/>
              <a:t>an.ntb@lgcns.com</a:t>
            </a:r>
          </a:p>
        </p:txBody>
      </p:sp>
    </p:spTree>
    <p:extLst>
      <p:ext uri="{BB962C8B-B14F-4D97-AF65-F5344CB8AC3E}">
        <p14:creationId xmlns:p14="http://schemas.microsoft.com/office/powerpoint/2010/main" val="15624848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FD73E-D96B-4428-99CD-717A4897D3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165DE6-2DCE-44FC-94B7-A499559DBF88}">
  <ds:schemaRefs>
    <ds:schemaRef ds:uri="http://schemas.microsoft.com/office/infopath/2007/PartnerControls"/>
    <ds:schemaRef ds:uri="http://purl.org/dc/elements/1.1/"/>
    <ds:schemaRef ds:uri="230e9df3-be65-4c73-a93b-d1236ebd677e"/>
    <ds:schemaRef ds:uri="http://schemas.openxmlformats.org/package/2006/metadata/core-properties"/>
    <ds:schemaRef ds:uri="71af3243-3dd4-4a8d-8c0d-dd76da1f02a5"/>
    <ds:schemaRef ds:uri="http://schemas.microsoft.com/office/2006/documentManagement/types"/>
    <ds:schemaRef ds:uri="16c05727-aa75-4e4a-9b5f-8a80a1165891"/>
    <ds:schemaRef ds:uri="http://schemas.microsoft.com/sharepoint/v3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285E733-8340-4FDD-A6FC-B22F1B75E4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1530</TotalTime>
  <Words>611</Words>
  <Application>Microsoft Office PowerPoint</Application>
  <PresentationFormat>Widescreen</PresentationFormat>
  <Paragraphs>203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Avenir Next LT Pro</vt:lpstr>
      <vt:lpstr>Avenir Next LT Pro Light</vt:lpstr>
      <vt:lpstr>Calibri</vt:lpstr>
      <vt:lpstr>Tw Cen MT</vt:lpstr>
      <vt:lpstr>Custom</vt:lpstr>
      <vt:lpstr>Data Structure and Algorithm – PCCP  D&amp;A Team Tech Talk Speaker : Nguyen Thi Binh An </vt:lpstr>
      <vt:lpstr>Outline</vt:lpstr>
      <vt:lpstr>Introduction</vt:lpstr>
      <vt:lpstr>Who is  involved ?</vt:lpstr>
      <vt:lpstr>What is it?</vt:lpstr>
      <vt:lpstr>Where is  applied ?</vt:lpstr>
      <vt:lpstr>When is used ?</vt:lpstr>
      <vt:lpstr>Why it needed?</vt:lpstr>
      <vt:lpstr>DSA Common Roadmap</vt:lpstr>
      <vt:lpstr>Core Concepts</vt:lpstr>
      <vt:lpstr>Core Concepts</vt:lpstr>
      <vt:lpstr>PowerPoint Presentation</vt:lpstr>
      <vt:lpstr>Simple Demo</vt:lpstr>
      <vt:lpstr>Core Concepts</vt:lpstr>
      <vt:lpstr>Simple Demo</vt:lpstr>
      <vt:lpstr>Simple Demo</vt:lpstr>
      <vt:lpstr>Simple Demo</vt:lpstr>
      <vt:lpstr>Simple Demo</vt:lpstr>
      <vt:lpstr>Simple Demo</vt:lpstr>
      <vt:lpstr>Core Algorithms</vt:lpstr>
      <vt:lpstr>Simple Demo</vt:lpstr>
      <vt:lpstr>Simple Demo</vt:lpstr>
      <vt:lpstr>Simple Demo</vt:lpstr>
      <vt:lpstr>Simple Demo</vt:lpstr>
      <vt:lpstr>Simple Demo</vt:lpstr>
      <vt:lpstr>PCCP Focused</vt:lpstr>
      <vt:lpstr>PowerPoint Presentation</vt:lpstr>
      <vt:lpstr>Contest Scope</vt:lpstr>
      <vt:lpstr>Personal Experience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cp:lastModifiedBy>NGUYEN THI BINH AN</cp:lastModifiedBy>
  <cp:revision>41</cp:revision>
  <dcterms:created xsi:type="dcterms:W3CDTF">2024-01-11T14:50:00Z</dcterms:created>
  <dcterms:modified xsi:type="dcterms:W3CDTF">2025-04-11T09:08:22Z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